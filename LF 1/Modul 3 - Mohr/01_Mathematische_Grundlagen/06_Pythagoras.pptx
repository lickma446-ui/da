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2" r:id="rId9"/>
    <p:sldId id="266" r:id="rId10"/>
    <p:sldId id="267" r:id="rId11"/>
    <p:sldId id="265" r:id="rId12"/>
    <p:sldId id="268" r:id="rId13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6FB423-BDDF-48B8-A8B8-7E54F6683F71}" v="1" dt="2023-09-21T07:33:20.9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86" autoAdjust="0"/>
    <p:restoredTop sz="94660"/>
  </p:normalViewPr>
  <p:slideViewPr>
    <p:cSldViewPr snapToGrid="0">
      <p:cViewPr varScale="1">
        <p:scale>
          <a:sx n="83" d="100"/>
          <a:sy n="83" d="100"/>
        </p:scale>
        <p:origin x="77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Kükenshöner" userId="140c73bece00f46c" providerId="Windows Live" clId="Web-{886FB423-BDDF-48B8-A8B8-7E54F6683F71}"/>
    <pc:docChg chg="modSld">
      <pc:chgData name="Jan Kükenshöner" userId="140c73bece00f46c" providerId="Windows Live" clId="Web-{886FB423-BDDF-48B8-A8B8-7E54F6683F71}" dt="2023-09-21T07:33:20.951" v="0" actId="1076"/>
      <pc:docMkLst>
        <pc:docMk/>
      </pc:docMkLst>
      <pc:sldChg chg="modSp">
        <pc:chgData name="Jan Kükenshöner" userId="140c73bece00f46c" providerId="Windows Live" clId="Web-{886FB423-BDDF-48B8-A8B8-7E54F6683F71}" dt="2023-09-21T07:33:20.951" v="0" actId="1076"/>
        <pc:sldMkLst>
          <pc:docMk/>
          <pc:sldMk cId="3089490182" sldId="259"/>
        </pc:sldMkLst>
        <pc:spChg chg="mod">
          <ac:chgData name="Jan Kükenshöner" userId="140c73bece00f46c" providerId="Windows Live" clId="Web-{886FB423-BDDF-48B8-A8B8-7E54F6683F71}" dt="2023-09-21T07:33:20.951" v="0" actId="1076"/>
          <ac:spMkLst>
            <pc:docMk/>
            <pc:sldMk cId="3089490182" sldId="259"/>
            <ac:spMk id="13" creationId="{08FB2002-FD23-B0FC-E3A8-79A95E2B97A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913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6200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4097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8607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8154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5446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7447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0172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4012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4961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6390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999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B7683AF-AAEA-FD9A-AD36-0501F897BC47}"/>
              </a:ext>
            </a:extLst>
          </p:cNvPr>
          <p:cNvSpPr txBox="1"/>
          <p:nvPr/>
        </p:nvSpPr>
        <p:spPr>
          <a:xfrm>
            <a:off x="4846132" y="487955"/>
            <a:ext cx="3248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Lehrsatz des Pythagoras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C6363EC-E2A3-5219-3D00-D5B6D95A4205}"/>
              </a:ext>
            </a:extLst>
          </p:cNvPr>
          <p:cNvSpPr txBox="1"/>
          <p:nvPr/>
        </p:nvSpPr>
        <p:spPr>
          <a:xfrm>
            <a:off x="6709167" y="2560855"/>
            <a:ext cx="42394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Im rechtwinkligen Dreieck ist das Quadrat über der Hypotenuse gleich der Summe der Quadrate über den Katheten. </a:t>
            </a:r>
          </a:p>
        </p:txBody>
      </p:sp>
      <p:pic>
        <p:nvPicPr>
          <p:cNvPr id="7" name="Picture 2" descr="Satz des Pythagoras – Wikipedia">
            <a:extLst>
              <a:ext uri="{FF2B5EF4-FFF2-40B4-BE49-F238E27FC236}">
                <a16:creationId xmlns:a16="http://schemas.microsoft.com/office/drawing/2014/main" id="{35DA6C9F-33AD-67E7-DC4F-D74D1C4B9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103" y="1344592"/>
            <a:ext cx="4074127" cy="4403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3733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000818C-9BEB-5E4E-36A0-485AB445BCE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215"/>
          <a:stretch/>
        </p:blipFill>
        <p:spPr>
          <a:xfrm>
            <a:off x="3240833" y="1856509"/>
            <a:ext cx="5710333" cy="250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67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graphicFrame>
        <p:nvGraphicFramePr>
          <p:cNvPr id="3" name="Tabelle 3">
            <a:extLst>
              <a:ext uri="{FF2B5EF4-FFF2-40B4-BE49-F238E27FC236}">
                <a16:creationId xmlns:a16="http://schemas.microsoft.com/office/drawing/2014/main" id="{13505CDE-C465-138B-9EB2-031AA389C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558794"/>
              </p:ext>
            </p:extLst>
          </p:nvPr>
        </p:nvGraphicFramePr>
        <p:xfrm>
          <a:off x="2539999" y="1661775"/>
          <a:ext cx="8399540" cy="44065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77691">
                  <a:extLst>
                    <a:ext uri="{9D8B030D-6E8A-4147-A177-3AD203B41FA5}">
                      <a16:colId xmlns:a16="http://schemas.microsoft.com/office/drawing/2014/main" val="1354019400"/>
                    </a:ext>
                  </a:extLst>
                </a:gridCol>
                <a:gridCol w="2586676">
                  <a:extLst>
                    <a:ext uri="{9D8B030D-6E8A-4147-A177-3AD203B41FA5}">
                      <a16:colId xmlns:a16="http://schemas.microsoft.com/office/drawing/2014/main" val="3763021975"/>
                    </a:ext>
                  </a:extLst>
                </a:gridCol>
                <a:gridCol w="2586677">
                  <a:extLst>
                    <a:ext uri="{9D8B030D-6E8A-4147-A177-3AD203B41FA5}">
                      <a16:colId xmlns:a16="http://schemas.microsoft.com/office/drawing/2014/main" val="2963720726"/>
                    </a:ext>
                  </a:extLst>
                </a:gridCol>
                <a:gridCol w="2548496">
                  <a:extLst>
                    <a:ext uri="{9D8B030D-6E8A-4147-A177-3AD203B41FA5}">
                      <a16:colId xmlns:a16="http://schemas.microsoft.com/office/drawing/2014/main" val="3981261914"/>
                    </a:ext>
                  </a:extLst>
                </a:gridCol>
              </a:tblGrid>
              <a:tr h="440652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Hypotenuse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Kathete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Kathete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563260"/>
                  </a:ext>
                </a:extLst>
              </a:tr>
              <a:tr h="440652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5,0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4,0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3,00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818936"/>
                  </a:ext>
                </a:extLst>
              </a:tr>
              <a:tr h="440652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15,54 </a:t>
                      </a:r>
                      <a:r>
                        <a:rPr lang="de-DE" dirty="0" err="1"/>
                        <a:t>dm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15,4 </a:t>
                      </a:r>
                      <a:r>
                        <a:rPr lang="de-DE" dirty="0" err="1"/>
                        <a:t>dm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20,67 cm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476631"/>
                  </a:ext>
                </a:extLst>
              </a:tr>
              <a:tr h="440652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82498,8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180,5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8050,0 </a:t>
                      </a:r>
                      <a:r>
                        <a:rPr lang="de-DE" dirty="0" err="1"/>
                        <a:t>dm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551643"/>
                  </a:ext>
                </a:extLst>
              </a:tr>
              <a:tr h="440652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50,0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40,0 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30,0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926650"/>
                  </a:ext>
                </a:extLst>
              </a:tr>
              <a:tr h="440652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27,5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23,05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150,0 </a:t>
                      </a:r>
                      <a:r>
                        <a:rPr lang="de-DE" dirty="0" err="1"/>
                        <a:t>dm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22346"/>
                  </a:ext>
                </a:extLst>
              </a:tr>
              <a:tr h="440652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15000,0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148,66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20,0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079835"/>
                  </a:ext>
                </a:extLst>
              </a:tr>
              <a:tr h="440652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100,0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80,0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60,0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90458"/>
                  </a:ext>
                </a:extLst>
              </a:tr>
              <a:tr h="440652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840,0 </a:t>
                      </a:r>
                      <a:r>
                        <a:rPr lang="de-DE" dirty="0" err="1"/>
                        <a:t>dm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50,2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67,35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012864"/>
                  </a:ext>
                </a:extLst>
              </a:tr>
              <a:tr h="440652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14520,0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989,8 </a:t>
                      </a:r>
                      <a:r>
                        <a:rPr lang="de-DE" dirty="0" err="1"/>
                        <a:t>dm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106,24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634401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034A78FC-499C-4631-4483-C7FD284CA21B}"/>
              </a:ext>
            </a:extLst>
          </p:cNvPr>
          <p:cNvSpPr txBox="1"/>
          <p:nvPr/>
        </p:nvSpPr>
        <p:spPr>
          <a:xfrm>
            <a:off x="3558309" y="2559245"/>
            <a:ext cx="1066799" cy="40011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?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8FB2002-FD23-B0FC-E3A8-79A95E2B97A7}"/>
              </a:ext>
            </a:extLst>
          </p:cNvPr>
          <p:cNvSpPr txBox="1"/>
          <p:nvPr/>
        </p:nvSpPr>
        <p:spPr>
          <a:xfrm>
            <a:off x="3624493" y="2110401"/>
            <a:ext cx="1066799" cy="40011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?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7A1B9BB5-143F-521E-9F45-859714609708}"/>
              </a:ext>
            </a:extLst>
          </p:cNvPr>
          <p:cNvSpPr txBox="1"/>
          <p:nvPr/>
        </p:nvSpPr>
        <p:spPr>
          <a:xfrm>
            <a:off x="3682476" y="3005535"/>
            <a:ext cx="1066799" cy="40011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?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EBDB4A2-6361-BAEF-0C5D-7A911ECBAF7F}"/>
              </a:ext>
            </a:extLst>
          </p:cNvPr>
          <p:cNvSpPr txBox="1"/>
          <p:nvPr/>
        </p:nvSpPr>
        <p:spPr>
          <a:xfrm>
            <a:off x="6169425" y="3414881"/>
            <a:ext cx="1066799" cy="40011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?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7577062-CF7C-4E7C-C0B5-5C78A1CC5F34}"/>
              </a:ext>
            </a:extLst>
          </p:cNvPr>
          <p:cNvSpPr txBox="1"/>
          <p:nvPr/>
        </p:nvSpPr>
        <p:spPr>
          <a:xfrm>
            <a:off x="6197132" y="3874271"/>
            <a:ext cx="1066799" cy="40011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?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F9EEC08-BD13-1482-A0E0-976CB55B58A9}"/>
              </a:ext>
            </a:extLst>
          </p:cNvPr>
          <p:cNvSpPr txBox="1"/>
          <p:nvPr/>
        </p:nvSpPr>
        <p:spPr>
          <a:xfrm>
            <a:off x="6275644" y="4311838"/>
            <a:ext cx="1066799" cy="40011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?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D459636F-BB57-E134-ED6F-8A7D4DC90E4B}"/>
              </a:ext>
            </a:extLst>
          </p:cNvPr>
          <p:cNvSpPr txBox="1"/>
          <p:nvPr/>
        </p:nvSpPr>
        <p:spPr>
          <a:xfrm>
            <a:off x="8723279" y="4777643"/>
            <a:ext cx="1066799" cy="40011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?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68DA1CD-DDDE-3EA8-829F-CA049A20EAE9}"/>
              </a:ext>
            </a:extLst>
          </p:cNvPr>
          <p:cNvSpPr txBox="1"/>
          <p:nvPr/>
        </p:nvSpPr>
        <p:spPr>
          <a:xfrm>
            <a:off x="8750989" y="5210850"/>
            <a:ext cx="1066799" cy="40011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?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A0686C2-1B9C-7F95-8358-E15A1D7757F4}"/>
              </a:ext>
            </a:extLst>
          </p:cNvPr>
          <p:cNvSpPr txBox="1"/>
          <p:nvPr/>
        </p:nvSpPr>
        <p:spPr>
          <a:xfrm>
            <a:off x="8838736" y="5648808"/>
            <a:ext cx="1066799" cy="40011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8949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8B04041-9DEC-7A43-0F6B-B34D9EFBB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2296" y="1524432"/>
            <a:ext cx="9080221" cy="299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75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97FF2EC-C821-47FB-A659-2B8F19490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1861" y="1868744"/>
            <a:ext cx="8992539" cy="280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940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DC00279-8A3E-0A4A-2FDB-9CE6CF4F14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4"/>
          <a:stretch/>
        </p:blipFill>
        <p:spPr>
          <a:xfrm>
            <a:off x="1970855" y="1751733"/>
            <a:ext cx="9311405" cy="296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201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2D593C4-1ABB-FDEC-53BB-5A05DE609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9163" y="1824953"/>
            <a:ext cx="9083175" cy="289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395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EB91F63-1C01-010D-D610-92D7B5601565}"/>
              </a:ext>
            </a:extLst>
          </p:cNvPr>
          <p:cNvSpPr txBox="1"/>
          <p:nvPr/>
        </p:nvSpPr>
        <p:spPr>
          <a:xfrm>
            <a:off x="3925340" y="1877364"/>
            <a:ext cx="54623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2400" dirty="0"/>
              <a:t>Ein rechteckiger Schornsteinquerschnitt hat ein Seitenverhältnis von a : b = 3 : 4. Die Diagonale des Schornsteins ist 25 cm lang. Welchen Querschnitt hat der Schornstein?</a:t>
            </a:r>
          </a:p>
        </p:txBody>
      </p:sp>
    </p:spTree>
    <p:extLst>
      <p:ext uri="{BB962C8B-B14F-4D97-AF65-F5344CB8AC3E}">
        <p14:creationId xmlns:p14="http://schemas.microsoft.com/office/powerpoint/2010/main" val="2838758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EB91F63-1C01-010D-D610-92D7B5601565}"/>
              </a:ext>
            </a:extLst>
          </p:cNvPr>
          <p:cNvSpPr txBox="1"/>
          <p:nvPr/>
        </p:nvSpPr>
        <p:spPr>
          <a:xfrm>
            <a:off x="3925340" y="1877364"/>
            <a:ext cx="54623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2400" dirty="0"/>
              <a:t>Von einem quadratischen Schornstein ist die Länge der Diagonalen von 35,355 cm bekannt. Berechnen Sie den lichten Querschnitt des Schornsteins.</a:t>
            </a:r>
          </a:p>
        </p:txBody>
      </p:sp>
    </p:spTree>
    <p:extLst>
      <p:ext uri="{BB962C8B-B14F-4D97-AF65-F5344CB8AC3E}">
        <p14:creationId xmlns:p14="http://schemas.microsoft.com/office/powerpoint/2010/main" val="3615775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EB91F63-1C01-010D-D610-92D7B5601565}"/>
              </a:ext>
            </a:extLst>
          </p:cNvPr>
          <p:cNvSpPr txBox="1"/>
          <p:nvPr/>
        </p:nvSpPr>
        <p:spPr>
          <a:xfrm>
            <a:off x="3925340" y="1877364"/>
            <a:ext cx="54623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2400" dirty="0"/>
              <a:t>Ein Gebäude hat bis zur Dachrinne eine Höhe von 5,20 m. Wie lange muss die Leitung sein, wenn sie 1,00 m horizontalen Abstand von der Dachrinne haben muss und aus Sicherheitsgründen 50 cm länger gewählt werden soll?</a:t>
            </a:r>
          </a:p>
        </p:txBody>
      </p:sp>
    </p:spTree>
    <p:extLst>
      <p:ext uri="{BB962C8B-B14F-4D97-AF65-F5344CB8AC3E}">
        <p14:creationId xmlns:p14="http://schemas.microsoft.com/office/powerpoint/2010/main" val="1361447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3F7731B-71B0-D5BE-BBA3-41F7E2579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084" y="1524000"/>
            <a:ext cx="7700661" cy="360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135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06C02D0-97BA-D0D9-76EA-70723A1EB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5607" y="2272722"/>
            <a:ext cx="7953968" cy="20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90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Microsoft Office PowerPoint</Application>
  <PresentationFormat>Breitbild</PresentationFormat>
  <Paragraphs>65</Paragraphs>
  <Slides>12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3" baseType="lpstr"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administratives Konto</dc:creator>
  <cp:lastModifiedBy>Julian Klüber</cp:lastModifiedBy>
  <cp:revision>43</cp:revision>
  <cp:lastPrinted>2019-04-29T07:45:53Z</cp:lastPrinted>
  <dcterms:created xsi:type="dcterms:W3CDTF">2019-03-28T10:53:29Z</dcterms:created>
  <dcterms:modified xsi:type="dcterms:W3CDTF">2023-09-21T07:33:21Z</dcterms:modified>
</cp:coreProperties>
</file>
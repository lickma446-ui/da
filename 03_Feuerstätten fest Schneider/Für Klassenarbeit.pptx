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8" r:id="rId3"/>
    <p:sldId id="259" r:id="rId4"/>
    <p:sldId id="273" r:id="rId5"/>
    <p:sldId id="274" r:id="rId6"/>
    <p:sldId id="267" r:id="rId7"/>
    <p:sldId id="260" r:id="rId8"/>
    <p:sldId id="268" r:id="rId9"/>
    <p:sldId id="269" r:id="rId10"/>
    <p:sldId id="270" r:id="rId11"/>
    <p:sldId id="271" r:id="rId12"/>
    <p:sldId id="272" r:id="rId13"/>
    <p:sldId id="276" r:id="rId14"/>
    <p:sldId id="275" r:id="rId15"/>
    <p:sldId id="277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79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380" r:id="rId35"/>
    <p:sldId id="383" r:id="rId36"/>
    <p:sldId id="381" r:id="rId37"/>
    <p:sldId id="384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5907E-0E80-8B48-BBAE-5F3B3943CE4A}" v="266" dt="2025-11-04T12:11:25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80224"/>
  </p:normalViewPr>
  <p:slideViewPr>
    <p:cSldViewPr snapToGrid="0">
      <p:cViewPr varScale="1">
        <p:scale>
          <a:sx n="98" d="100"/>
          <a:sy n="98" d="100"/>
        </p:scale>
        <p:origin x="1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8080B1-D541-4B53-A152-254A7A559516}" type="doc">
      <dgm:prSet loTypeId="urn:microsoft.com/office/officeart/2005/8/layout/vList2" loCatId="list" qsTypeId="urn:microsoft.com/office/officeart/2005/8/quickstyle/simple1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2B722B0C-5924-4D34-9E20-9A6E9FBF9F54}">
      <dgm:prSet/>
      <dgm:spPr/>
      <dgm:t>
        <a:bodyPr/>
        <a:lstStyle/>
        <a:p>
          <a:r>
            <a:rPr lang="de-DE" dirty="0"/>
            <a:t>Strahlung  </a:t>
          </a:r>
          <a:endParaRPr lang="en-US" dirty="0"/>
        </a:p>
      </dgm:t>
    </dgm:pt>
    <dgm:pt modelId="{FB03024E-20FE-4695-B0DE-57D2A6812189}" type="parTrans" cxnId="{79707981-1678-4B03-BEDA-58EA370746E7}">
      <dgm:prSet/>
      <dgm:spPr/>
      <dgm:t>
        <a:bodyPr/>
        <a:lstStyle/>
        <a:p>
          <a:endParaRPr lang="en-US"/>
        </a:p>
      </dgm:t>
    </dgm:pt>
    <dgm:pt modelId="{8943E3B1-D3ED-42A0-A195-B0955839F459}" type="sibTrans" cxnId="{79707981-1678-4B03-BEDA-58EA370746E7}">
      <dgm:prSet/>
      <dgm:spPr/>
      <dgm:t>
        <a:bodyPr/>
        <a:lstStyle/>
        <a:p>
          <a:endParaRPr lang="en-US"/>
        </a:p>
      </dgm:t>
    </dgm:pt>
    <dgm:pt modelId="{A4C9FC29-3E3D-4937-8893-6B416D1DA33C}">
      <dgm:prSet/>
      <dgm:spPr/>
      <dgm:t>
        <a:bodyPr/>
        <a:lstStyle/>
        <a:p>
          <a:r>
            <a:rPr lang="de-DE"/>
            <a:t>Konvektion </a:t>
          </a:r>
          <a:endParaRPr lang="en-US"/>
        </a:p>
      </dgm:t>
    </dgm:pt>
    <dgm:pt modelId="{18ABF8AB-D277-4D53-A147-D8BC544AD405}" type="parTrans" cxnId="{9295DA34-F0A4-448D-A056-64144250D52D}">
      <dgm:prSet/>
      <dgm:spPr/>
      <dgm:t>
        <a:bodyPr/>
        <a:lstStyle/>
        <a:p>
          <a:endParaRPr lang="en-US"/>
        </a:p>
      </dgm:t>
    </dgm:pt>
    <dgm:pt modelId="{E312BC92-39E6-4DB5-90D8-DA040CEE8E44}" type="sibTrans" cxnId="{9295DA34-F0A4-448D-A056-64144250D52D}">
      <dgm:prSet/>
      <dgm:spPr/>
      <dgm:t>
        <a:bodyPr/>
        <a:lstStyle/>
        <a:p>
          <a:endParaRPr lang="en-US"/>
        </a:p>
      </dgm:t>
    </dgm:pt>
    <dgm:pt modelId="{4F030B53-065F-42B2-997F-B8A6EF5F0424}">
      <dgm:prSet/>
      <dgm:spPr/>
      <dgm:t>
        <a:bodyPr/>
        <a:lstStyle/>
        <a:p>
          <a:r>
            <a:rPr lang="de-DE"/>
            <a:t>Wärmeleitung </a:t>
          </a:r>
          <a:endParaRPr lang="en-US"/>
        </a:p>
      </dgm:t>
    </dgm:pt>
    <dgm:pt modelId="{D7C60BAB-AE70-49DD-94A0-6704628FF965}" type="parTrans" cxnId="{E7656D68-80C8-4F6C-BEF4-D4494C8FCE37}">
      <dgm:prSet/>
      <dgm:spPr/>
      <dgm:t>
        <a:bodyPr/>
        <a:lstStyle/>
        <a:p>
          <a:endParaRPr lang="en-US"/>
        </a:p>
      </dgm:t>
    </dgm:pt>
    <dgm:pt modelId="{565A423A-7EE5-4530-A35A-AA1941608234}" type="sibTrans" cxnId="{E7656D68-80C8-4F6C-BEF4-D4494C8FCE37}">
      <dgm:prSet/>
      <dgm:spPr/>
      <dgm:t>
        <a:bodyPr/>
        <a:lstStyle/>
        <a:p>
          <a:endParaRPr lang="en-US"/>
        </a:p>
      </dgm:t>
    </dgm:pt>
    <dgm:pt modelId="{367380CB-3A4A-4F45-9967-5062523DD217}" type="pres">
      <dgm:prSet presAssocID="{1F8080B1-D541-4B53-A152-254A7A559516}" presName="linear" presStyleCnt="0">
        <dgm:presLayoutVars>
          <dgm:animLvl val="lvl"/>
          <dgm:resizeHandles val="exact"/>
        </dgm:presLayoutVars>
      </dgm:prSet>
      <dgm:spPr/>
    </dgm:pt>
    <dgm:pt modelId="{B8F9C10A-2BFF-CA43-92C4-F2255F1D053A}" type="pres">
      <dgm:prSet presAssocID="{2B722B0C-5924-4D34-9E20-9A6E9FBF9F5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DDBC67-96CF-8542-BF50-FC19D2413FF6}" type="pres">
      <dgm:prSet presAssocID="{8943E3B1-D3ED-42A0-A195-B0955839F459}" presName="spacer" presStyleCnt="0"/>
      <dgm:spPr/>
    </dgm:pt>
    <dgm:pt modelId="{7ABB60D4-A86F-7D4E-A94E-42C96EC38097}" type="pres">
      <dgm:prSet presAssocID="{A4C9FC29-3E3D-4937-8893-6B416D1DA33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6DE248F-F4D3-1A47-A12C-9E3FC1EC14CC}" type="pres">
      <dgm:prSet presAssocID="{E312BC92-39E6-4DB5-90D8-DA040CEE8E44}" presName="spacer" presStyleCnt="0"/>
      <dgm:spPr/>
    </dgm:pt>
    <dgm:pt modelId="{9E922344-F5B7-A847-A574-44663102AE3D}" type="pres">
      <dgm:prSet presAssocID="{4F030B53-065F-42B2-997F-B8A6EF5F042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C57E21A-A94A-0049-AB8C-F82437D909A6}" type="presOf" srcId="{A4C9FC29-3E3D-4937-8893-6B416D1DA33C}" destId="{7ABB60D4-A86F-7D4E-A94E-42C96EC38097}" srcOrd="0" destOrd="0" presId="urn:microsoft.com/office/officeart/2005/8/layout/vList2"/>
    <dgm:cxn modelId="{5E0EF92D-1BC4-5F44-BB63-9624D999E0CD}" type="presOf" srcId="{1F8080B1-D541-4B53-A152-254A7A559516}" destId="{367380CB-3A4A-4F45-9967-5062523DD217}" srcOrd="0" destOrd="0" presId="urn:microsoft.com/office/officeart/2005/8/layout/vList2"/>
    <dgm:cxn modelId="{9295DA34-F0A4-448D-A056-64144250D52D}" srcId="{1F8080B1-D541-4B53-A152-254A7A559516}" destId="{A4C9FC29-3E3D-4937-8893-6B416D1DA33C}" srcOrd="1" destOrd="0" parTransId="{18ABF8AB-D277-4D53-A147-D8BC544AD405}" sibTransId="{E312BC92-39E6-4DB5-90D8-DA040CEE8E44}"/>
    <dgm:cxn modelId="{E7656D68-80C8-4F6C-BEF4-D4494C8FCE37}" srcId="{1F8080B1-D541-4B53-A152-254A7A559516}" destId="{4F030B53-065F-42B2-997F-B8A6EF5F0424}" srcOrd="2" destOrd="0" parTransId="{D7C60BAB-AE70-49DD-94A0-6704628FF965}" sibTransId="{565A423A-7EE5-4530-A35A-AA1941608234}"/>
    <dgm:cxn modelId="{79707981-1678-4B03-BEDA-58EA370746E7}" srcId="{1F8080B1-D541-4B53-A152-254A7A559516}" destId="{2B722B0C-5924-4D34-9E20-9A6E9FBF9F54}" srcOrd="0" destOrd="0" parTransId="{FB03024E-20FE-4695-B0DE-57D2A6812189}" sibTransId="{8943E3B1-D3ED-42A0-A195-B0955839F459}"/>
    <dgm:cxn modelId="{C4CE8FB5-BAE6-FA4E-A35E-B1221163C73F}" type="presOf" srcId="{2B722B0C-5924-4D34-9E20-9A6E9FBF9F54}" destId="{B8F9C10A-2BFF-CA43-92C4-F2255F1D053A}" srcOrd="0" destOrd="0" presId="urn:microsoft.com/office/officeart/2005/8/layout/vList2"/>
    <dgm:cxn modelId="{44721CDC-F860-0C45-BBA5-EE36AC50CF44}" type="presOf" srcId="{4F030B53-065F-42B2-997F-B8A6EF5F0424}" destId="{9E922344-F5B7-A847-A574-44663102AE3D}" srcOrd="0" destOrd="0" presId="urn:microsoft.com/office/officeart/2005/8/layout/vList2"/>
    <dgm:cxn modelId="{74FDE5BC-23C0-DE43-8439-0911E56DA422}" type="presParOf" srcId="{367380CB-3A4A-4F45-9967-5062523DD217}" destId="{B8F9C10A-2BFF-CA43-92C4-F2255F1D053A}" srcOrd="0" destOrd="0" presId="urn:microsoft.com/office/officeart/2005/8/layout/vList2"/>
    <dgm:cxn modelId="{259D08EE-89CB-9A4F-9BDB-45F0F961E48F}" type="presParOf" srcId="{367380CB-3A4A-4F45-9967-5062523DD217}" destId="{5ADDBC67-96CF-8542-BF50-FC19D2413FF6}" srcOrd="1" destOrd="0" presId="urn:microsoft.com/office/officeart/2005/8/layout/vList2"/>
    <dgm:cxn modelId="{49C82F71-6FE2-824D-A35A-C558EB48305B}" type="presParOf" srcId="{367380CB-3A4A-4F45-9967-5062523DD217}" destId="{7ABB60D4-A86F-7D4E-A94E-42C96EC38097}" srcOrd="2" destOrd="0" presId="urn:microsoft.com/office/officeart/2005/8/layout/vList2"/>
    <dgm:cxn modelId="{CF82989C-16CD-734A-ADD2-2173F7455A7D}" type="presParOf" srcId="{367380CB-3A4A-4F45-9967-5062523DD217}" destId="{F6DE248F-F4D3-1A47-A12C-9E3FC1EC14CC}" srcOrd="3" destOrd="0" presId="urn:microsoft.com/office/officeart/2005/8/layout/vList2"/>
    <dgm:cxn modelId="{6D7EF3A5-0638-3D4B-A6EE-40C56AA5EAAE}" type="presParOf" srcId="{367380CB-3A4A-4F45-9967-5062523DD217}" destId="{9E922344-F5B7-A847-A574-44663102AE3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9C10A-2BFF-CA43-92C4-F2255F1D053A}">
      <dsp:nvSpPr>
        <dsp:cNvPr id="0" name=""/>
        <dsp:cNvSpPr/>
      </dsp:nvSpPr>
      <dsp:spPr>
        <a:xfrm>
          <a:off x="0" y="416975"/>
          <a:ext cx="6513603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500" kern="1200" dirty="0"/>
            <a:t>Strahlung  </a:t>
          </a:r>
          <a:endParaRPr lang="en-US" sz="6500" kern="1200" dirty="0"/>
        </a:p>
      </dsp:txBody>
      <dsp:txXfrm>
        <a:off x="76105" y="493080"/>
        <a:ext cx="6361393" cy="1406815"/>
      </dsp:txXfrm>
    </dsp:sp>
    <dsp:sp modelId="{7ABB60D4-A86F-7D4E-A94E-42C96EC38097}">
      <dsp:nvSpPr>
        <dsp:cNvPr id="0" name=""/>
        <dsp:cNvSpPr/>
      </dsp:nvSpPr>
      <dsp:spPr>
        <a:xfrm>
          <a:off x="0" y="2163200"/>
          <a:ext cx="6513603" cy="15590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500" kern="1200"/>
            <a:t>Konvektion </a:t>
          </a:r>
          <a:endParaRPr lang="en-US" sz="6500" kern="1200"/>
        </a:p>
      </dsp:txBody>
      <dsp:txXfrm>
        <a:off x="76105" y="2239305"/>
        <a:ext cx="6361393" cy="1406815"/>
      </dsp:txXfrm>
    </dsp:sp>
    <dsp:sp modelId="{9E922344-F5B7-A847-A574-44663102AE3D}">
      <dsp:nvSpPr>
        <dsp:cNvPr id="0" name=""/>
        <dsp:cNvSpPr/>
      </dsp:nvSpPr>
      <dsp:spPr>
        <a:xfrm>
          <a:off x="0" y="3909425"/>
          <a:ext cx="6513603" cy="155902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500" kern="1200"/>
            <a:t>Wärmeleitung </a:t>
          </a:r>
          <a:endParaRPr lang="en-US" sz="6500" kern="1200"/>
        </a:p>
      </dsp:txBody>
      <dsp:txXfrm>
        <a:off x="76105" y="3985530"/>
        <a:ext cx="6361393" cy="1406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7D1B2B7-D580-53D0-2FB6-DDC4FF187E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Thema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6882A8-EC36-29EA-12FD-6D76F2A7E2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/>
              <a:t>07.04.2023 / LIV-Hessen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676B97-3BEE-78B1-8E77-0D65F03C60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Anlass / Referent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556428-90EA-5750-E459-2825BD2F30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43D65E-FE1E-4DB3-A5CF-A4ED16A6B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255375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Thema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/>
              <a:t>07.04.2023 / LIV-Hessen</a:t>
            </a:r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1F30-56F3-47C0-99C3-5AA11894AB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9026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FEC8E-1C83-354D-805F-88FB9C040F6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9027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251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Kaminkassette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Bauteil des offenen Kamins, das mindestens den Feuerraum, gegebenenfalls mit Heizgasumlenkung/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Heizgaszüge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die </a:t>
            </a:r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Feuerraumtür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gegebenenfalls den Abgasstutzen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enthält. Sie hat außerdem zwischen dem Feuerraum bzw. Aschefallraum und dem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Kassettenmantel Konvektionsluftleitungen.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177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Links Bauart A rechts Bauart B 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729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922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Unter dem Heizwert Hi (Hu unterer Heizwert) wird die Wärmemenge verstanden, die bei der vollkommenen/ vollständigen Verbrennung von 1kg eines festen oder flüssigen oder von 1m</a:t>
            </a:r>
            <a:r>
              <a:rPr lang="de-DE" baseline="30000" dirty="0"/>
              <a:t>3</a:t>
            </a:r>
            <a:r>
              <a:rPr lang="de-DE" baseline="-25000" dirty="0"/>
              <a:t>n</a:t>
            </a:r>
            <a:r>
              <a:rPr lang="de-DE" dirty="0"/>
              <a:t> eines gasförmigen Brennstoffes frei wird. </a:t>
            </a:r>
          </a:p>
          <a:p>
            <a:pPr>
              <a:buFontTx/>
              <a:buChar char="-"/>
            </a:pPr>
            <a:r>
              <a:rPr lang="de-DE" dirty="0"/>
              <a:t>Der Heizwert berücksichtigt nur die fühlbare Wärme</a:t>
            </a:r>
          </a:p>
          <a:p>
            <a:pPr>
              <a:buFontTx/>
              <a:buChar char="-"/>
            </a:pPr>
            <a:endParaRPr lang="de-DE" dirty="0"/>
          </a:p>
          <a:p>
            <a:pPr>
              <a:buFontTx/>
              <a:buChar char="-"/>
            </a:pPr>
            <a:r>
              <a:rPr lang="de-DE" dirty="0"/>
              <a:t>Unter dem Brennwert </a:t>
            </a:r>
            <a:r>
              <a:rPr lang="de-DE" dirty="0" err="1"/>
              <a:t>Hs</a:t>
            </a:r>
            <a:r>
              <a:rPr lang="de-DE" dirty="0"/>
              <a:t>(Ho oberer Heizwert) wird die Wärmemenge verstanden, die bei der vollkommenen/ vollständigen Verbrennung von 1kg eines festen oder flüssigen oder von 1m</a:t>
            </a:r>
            <a:r>
              <a:rPr lang="de-DE" baseline="30000" dirty="0"/>
              <a:t>3</a:t>
            </a:r>
            <a:r>
              <a:rPr lang="de-DE" baseline="-25000" dirty="0"/>
              <a:t>n</a:t>
            </a:r>
            <a:r>
              <a:rPr lang="de-DE" dirty="0"/>
              <a:t> eines gasförmigen Brennstoffes frei wird und das entstehende Wasser vollkommen kondensiert ist.</a:t>
            </a:r>
          </a:p>
          <a:p>
            <a:pPr>
              <a:buFontTx/>
              <a:buChar char="-"/>
            </a:pPr>
            <a:r>
              <a:rPr lang="de-DE" dirty="0"/>
              <a:t>Der Brennwert berücksichtigt fühlbare und latente Wärme</a:t>
            </a:r>
          </a:p>
          <a:p>
            <a:pPr>
              <a:buFontTx/>
              <a:buChar char="-"/>
            </a:pPr>
            <a:endParaRPr lang="de-DE" dirty="0"/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7584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Grundsätzlich gelten die kommunalen Richtlinien.</a:t>
            </a:r>
            <a:br>
              <a:rPr lang="de-DE" dirty="0"/>
            </a:br>
            <a:r>
              <a:rPr lang="de-DE" dirty="0"/>
              <a:t> -&gt; diese sind vorrangig zu beachten</a:t>
            </a:r>
            <a:br>
              <a:rPr lang="de-DE" dirty="0"/>
            </a:br>
            <a:r>
              <a:rPr lang="de-DE" dirty="0"/>
              <a:t> -&gt; ATV 251 beachten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86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Gasgeräte Art B3 sind Gasgeräte, die zum Anschluss an eine einfach oder mehrfach belegte bauseits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vorhandene senkrechte Abgasanlage (Unterdruckbetrieb) vorgesehen sind. Alle unter Überdruck stehenden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Teile des Abgasweges sind </a:t>
            </a:r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verbrennungsluftumspült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Verbrennungsluft wird, als eine unter Überdruck stehende Abgasleitung im Aufstellraum </a:t>
            </a:r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umspülende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Gegenströmung, dem Gasgerät </a:t>
            </a:r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zugeführt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Sie wird durch Öffnungen in der Verbrennungsluftleitung, die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 vor dem Schacht der Abgasleitung angeordnet sind, dem Raum entnommen. Der senkrechte Teil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Abgasanlage besteht aus einer bauseits vorhandenen Abgasleitung, die im Unterdruck betrieben wird.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Dimensionierung des senkrechten Teiles der Abgasanlage sowie die Art und Anzahl der anzuschließenden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Gasgeräte ist im DVGW Arbeitsblatt G 637-1 (dort als D3.1 bezeichnet) festgelegt.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4192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Brennstoff Öl / gas </a:t>
            </a:r>
            <a:br>
              <a:rPr lang="de-DE" dirty="0"/>
            </a:br>
            <a:r>
              <a:rPr lang="de-DE" dirty="0"/>
              <a:t>RLA, RLU </a:t>
            </a:r>
            <a:br>
              <a:rPr lang="de-DE" dirty="0"/>
            </a:br>
            <a:r>
              <a:rPr lang="de-DE" dirty="0"/>
              <a:t>Heizwert / Brennwert </a:t>
            </a:r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7634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1E407-E16C-FA97-0EE5-170FA5CD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1A26B9B-E198-9218-0EE9-4573413B5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11A4662-6A4C-BC19-FB06-6AF53187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Brennstoff Öl / gas </a:t>
            </a:r>
            <a:br>
              <a:rPr lang="de-DE" dirty="0"/>
            </a:br>
            <a:r>
              <a:rPr lang="de-DE" dirty="0"/>
              <a:t>RLA, RLU </a:t>
            </a:r>
            <a:br>
              <a:rPr lang="de-DE" dirty="0"/>
            </a:br>
            <a:r>
              <a:rPr lang="de-DE" dirty="0"/>
              <a:t>Heizwert / Brennwert </a:t>
            </a:r>
          </a:p>
          <a:p>
            <a:endParaRPr lang="de-DE" dirty="0"/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8B323CF5-DD06-619D-8CBF-B421A1280AD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EEE23B-E3E1-C1B1-03CA-4221535BF43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87B430-E9F2-F971-CF33-5E1BE180AD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357688-287D-CBAC-4611-547C33C65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628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0BD8C-A9FF-225C-305A-9EBF6DCC4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CD581D4-597F-B0CA-A13E-819ABDBD9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72214E-4007-2DCC-30EE-7613B523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Berufliche Schulen Bebra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FA41FE-EADB-5DCD-F005-DDBD8880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2DA4D8-1325-0350-9F27-C3EA8CD6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075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3799EB-6ACF-71B3-64FD-3BEDB5DA9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A8E0CA-7F6B-A0AD-2DCA-38B20B48F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F4305C-0A07-32A2-DBA9-A3F19304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Berufliche Schulen Bebra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0DB489-1092-6A03-E02F-2D5AF34F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64A39D-FA79-AC01-54D1-13B5EC02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3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8ED8E6E-DA66-99C5-D56A-0D7CD785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056702-CDF5-E0E2-0016-0F708AAA8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9186E7-F322-BCBB-2A27-6A5A2223F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12666" y="6356350"/>
            <a:ext cx="17795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Berufliche Schulen Bebra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2B7713-2CF8-279F-F228-FC3E1CC56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7631" y="6356350"/>
            <a:ext cx="6789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2937C8-BD07-D962-C999-C1E57CB53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2632" y="6356350"/>
            <a:ext cx="9011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59103-C7F7-4BD0-A3ED-461D710A1134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Logo enthält.&#10;&#10;Automatisch generierte Beschreibung">
            <a:extLst>
              <a:ext uri="{FF2B5EF4-FFF2-40B4-BE49-F238E27FC236}">
                <a16:creationId xmlns:a16="http://schemas.microsoft.com/office/drawing/2014/main" id="{3D79B3AD-7E71-2C72-1F20-8F8B02DD9D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75" y="5927928"/>
            <a:ext cx="793547" cy="793547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4E81CB8F-EE06-8623-455E-453BF1161BDB}"/>
              </a:ext>
            </a:extLst>
          </p:cNvPr>
          <p:cNvGrpSpPr/>
          <p:nvPr userDrawn="1"/>
        </p:nvGrpSpPr>
        <p:grpSpPr>
          <a:xfrm>
            <a:off x="278848" y="366267"/>
            <a:ext cx="118189" cy="3935251"/>
            <a:chOff x="265486" y="365125"/>
            <a:chExt cx="118189" cy="3935251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3C78AA9-43A2-3D6A-7554-800D594F39C7}"/>
                </a:ext>
              </a:extLst>
            </p:cNvPr>
            <p:cNvSpPr/>
            <p:nvPr userDrawn="1"/>
          </p:nvSpPr>
          <p:spPr>
            <a:xfrm>
              <a:off x="265486" y="2393627"/>
              <a:ext cx="109903" cy="89249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2C79BA5-69BC-0392-8B97-7C3A8F171A96}"/>
                </a:ext>
              </a:extLst>
            </p:cNvPr>
            <p:cNvSpPr/>
            <p:nvPr userDrawn="1"/>
          </p:nvSpPr>
          <p:spPr>
            <a:xfrm>
              <a:off x="273772" y="3407878"/>
              <a:ext cx="109903" cy="89249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CC7EEB2A-02E8-3394-EC96-D7D829815263}"/>
                </a:ext>
              </a:extLst>
            </p:cNvPr>
            <p:cNvSpPr/>
            <p:nvPr userDrawn="1"/>
          </p:nvSpPr>
          <p:spPr>
            <a:xfrm>
              <a:off x="265488" y="365125"/>
              <a:ext cx="109903" cy="8924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E4CAC264-CEDD-4F01-4BD7-335441F72678}"/>
                </a:ext>
              </a:extLst>
            </p:cNvPr>
            <p:cNvSpPr/>
            <p:nvPr userDrawn="1"/>
          </p:nvSpPr>
          <p:spPr>
            <a:xfrm>
              <a:off x="265487" y="1379376"/>
              <a:ext cx="109903" cy="89249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9" name="Bild 1" descr="BSB">
            <a:extLst>
              <a:ext uri="{FF2B5EF4-FFF2-40B4-BE49-F238E27FC236}">
                <a16:creationId xmlns:a16="http://schemas.microsoft.com/office/drawing/2014/main" id="{91D65864-75C3-F5AE-556B-FE47B2E57BE1}"/>
              </a:ext>
            </a:extLst>
          </p:cNvPr>
          <p:cNvPicPr/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206480" y="9936"/>
            <a:ext cx="985520" cy="59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382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91F40-6D47-9E94-B4DB-84BA0909B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Feuerstätten fest, flüssig, gasförmig</a:t>
            </a:r>
            <a:br>
              <a:rPr lang="de-DE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043AB0D-6CB7-73C7-52F0-60891E424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LF 2 Tag 1 Schneider</a:t>
            </a:r>
          </a:p>
        </p:txBody>
      </p:sp>
    </p:spTree>
    <p:extLst>
      <p:ext uri="{BB962C8B-B14F-4D97-AF65-F5344CB8AC3E}">
        <p14:creationId xmlns:p14="http://schemas.microsoft.com/office/powerpoint/2010/main" val="1249099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4BC27-68F8-D535-7AE9-054106FB8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Einzelraumfeuerungsanlagen für feste </a:t>
            </a:r>
            <a:r>
              <a:rPr lang="de-DE" dirty="0" err="1"/>
              <a:t>Brst</a:t>
            </a:r>
            <a:r>
              <a:rPr lang="de-DE" dirty="0"/>
              <a:t>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63C5D2-3083-208F-B560-4BDE12D2A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 ist definitionsgemäß eine ERFA für </a:t>
            </a:r>
            <a:r>
              <a:rPr lang="de-DE"/>
              <a:t>feste Brennstoffe?</a:t>
            </a:r>
            <a:endParaRPr lang="de-DE" dirty="0"/>
          </a:p>
          <a:p>
            <a:r>
              <a:rPr lang="de-DE" dirty="0"/>
              <a:t>Wo könnten wir dazu Infos bekommen?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3225F2-C544-36A9-945B-967DC7DF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C7869D-BDBC-E965-2AE9-6BB1C013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8AAB01-0CD9-0E8B-F02C-E0BA8F3A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1079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018B9-32C8-60DF-336A-6FB19F99C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Definition: 1. BImSchV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253F9A-B548-8F4C-9EAE-BE3FBE4B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82CFBE-9477-F2C8-8311-B389BCC6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B4805F-961F-8A1B-0E40-D182B37F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</a:t>
            </a:fld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DE6E6C0B-A469-DA9D-E01B-EC98C480E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98192"/>
            <a:ext cx="10324381" cy="767556"/>
          </a:xfrm>
          <a:prstGeom prst="rect">
            <a:avLst/>
          </a:prstGeom>
        </p:spPr>
      </p:pic>
      <p:pic>
        <p:nvPicPr>
          <p:cNvPr id="8" name="Inhaltsplatzhalter 7" descr="Ein Bild, das Text, Quittung, Zahl enthält.&#10;&#10;KI-generierte Inhalte können fehlerhaft sein.">
            <a:extLst>
              <a:ext uri="{FF2B5EF4-FFF2-40B4-BE49-F238E27FC236}">
                <a16:creationId xmlns:a16="http://schemas.microsoft.com/office/drawing/2014/main" id="{E677D783-C241-5B3B-8133-86F3733AE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9" r="50439"/>
          <a:stretch>
            <a:fillRect/>
          </a:stretch>
        </p:blipFill>
        <p:spPr>
          <a:xfrm>
            <a:off x="1149709" y="2315564"/>
            <a:ext cx="4850681" cy="4353323"/>
          </a:xfrm>
          <a:prstGeom prst="rect">
            <a:avLst/>
          </a:prstGeom>
        </p:spPr>
      </p:pic>
      <p:pic>
        <p:nvPicPr>
          <p:cNvPr id="9" name="Inhaltsplatzhalter 7" descr="Ein Bild, das Text, Quittung, Zahl enthält.&#10;&#10;KI-generierte Inhalte können fehlerhaft sein.">
            <a:extLst>
              <a:ext uri="{FF2B5EF4-FFF2-40B4-BE49-F238E27FC236}">
                <a16:creationId xmlns:a16="http://schemas.microsoft.com/office/drawing/2014/main" id="{A709F2BD-E70F-E046-8E66-AB636BB86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4" t="7673" r="1779" b="-4"/>
          <a:stretch>
            <a:fillRect/>
          </a:stretch>
        </p:blipFill>
        <p:spPr>
          <a:xfrm>
            <a:off x="7185670" y="2315565"/>
            <a:ext cx="3149240" cy="4353323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46A82D6A-8771-1F36-34C4-0867C7C611B5}"/>
              </a:ext>
            </a:extLst>
          </p:cNvPr>
          <p:cNvSpPr/>
          <p:nvPr/>
        </p:nvSpPr>
        <p:spPr>
          <a:xfrm>
            <a:off x="1549400" y="3175000"/>
            <a:ext cx="4445000" cy="685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544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B58F5C-D4A5-EDD6-19C0-426D2EB5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i="1" dirty="0"/>
              <a:t>Dauerbrand/ Zeitbrand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96D914-06DB-36C4-4729-6FE682B5D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3200" b="1" dirty="0" err="1"/>
              <a:t>Abbrandzeit</a:t>
            </a:r>
            <a:r>
              <a:rPr lang="de-DE" sz="3200" b="1" dirty="0"/>
              <a:t> </a:t>
            </a:r>
            <a:r>
              <a:rPr lang="de-DE" sz="3200" dirty="0"/>
              <a:t>(Zeitbrand/Dauerbrand)</a:t>
            </a:r>
          </a:p>
          <a:p>
            <a:pPr marL="0" indent="0">
              <a:buNone/>
            </a:pPr>
            <a:r>
              <a:rPr lang="de-DE" i="1" dirty="0"/>
              <a:t>Eigenschaft einer </a:t>
            </a:r>
            <a:r>
              <a:rPr lang="de-DE" i="1" dirty="0" err="1"/>
              <a:t>Feuerstätte</a:t>
            </a:r>
            <a:r>
              <a:rPr lang="de-DE" i="1" dirty="0"/>
              <a:t>, eine bestimmte Mindestdauer ohne zwischenzeitliche Brennstoffaufgabe und ohne Eingriff in den Verbrennungsablauf so weiter zu brennen, dass am Schluss mindestens Grundglut vorhanden ist. </a:t>
            </a:r>
          </a:p>
          <a:p>
            <a:endParaRPr lang="de-DE" b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B7D9B-1CD9-89EF-AD93-CB51FD6F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1EFF18-DBDA-4A82-8BAD-C7DA1E1E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8F237B-271F-DB2B-B4DD-19C4EC6D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4</a:t>
            </a:fld>
            <a:endParaRPr lang="de-DE"/>
          </a:p>
        </p:txBody>
      </p:sp>
      <p:pic>
        <p:nvPicPr>
          <p:cNvPr id="8" name="Grafik 7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54F347E-560F-8BF5-6C5E-A0BEA36FA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0494"/>
            <a:ext cx="10515600" cy="246134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20D190B-BA4A-EAA7-9479-0ED7EAB5F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31531"/>
            <a:ext cx="10515600" cy="246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5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F506CA-AE3A-D0EB-0899-6F9AAAC0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und </a:t>
            </a:r>
            <a:r>
              <a:rPr lang="de-DE" dirty="0" err="1"/>
              <a:t>Abbrandtechniken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BB055B-7087-1E5C-6C4B-1420CDF6D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819C69-FA3B-B797-FA4F-818CBFAE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A0A395-EC97-425E-250A-02433F91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4B3F65-83A0-2339-DEF1-ABFC2454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5</a:t>
            </a:fld>
            <a:endParaRPr lang="de-DE"/>
          </a:p>
        </p:txBody>
      </p:sp>
      <p:pic>
        <p:nvPicPr>
          <p:cNvPr id="7" name="Inhaltsplatzhalter 4" descr="Ein Bild, das Screenshot, Zeichnung enthält.&#10;&#10;Automatisch generierte Beschreibung">
            <a:extLst>
              <a:ext uri="{FF2B5EF4-FFF2-40B4-BE49-F238E27FC236}">
                <a16:creationId xmlns:a16="http://schemas.microsoft.com/office/drawing/2014/main" id="{3A0B4ECC-47D9-9B08-CFD4-AFD1A045C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447097"/>
            <a:ext cx="10515600" cy="3482215"/>
          </a:xfrm>
          <a:prstGeom prst="rect">
            <a:avLst/>
          </a:prstGeom>
        </p:spPr>
      </p:pic>
      <p:pic>
        <p:nvPicPr>
          <p:cNvPr id="8" name="Inhaltsplatzhalter 4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F50D6D66-D0A1-BDD2-6881-E27264AFD4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038" t="16284" r="27749" b="22174"/>
          <a:stretch/>
        </p:blipFill>
        <p:spPr>
          <a:xfrm>
            <a:off x="736600" y="1612013"/>
            <a:ext cx="6596743" cy="477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4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877BB4-67AB-8F49-A1B2-8516C65EA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429" y="1015933"/>
            <a:ext cx="3578342" cy="4795408"/>
          </a:xfrm>
        </p:spPr>
        <p:txBody>
          <a:bodyPr>
            <a:normAutofit/>
          </a:bodyPr>
          <a:lstStyle/>
          <a:p>
            <a:r>
              <a:rPr lang="de-DE" sz="4100" dirty="0">
                <a:latin typeface="+mn-lt"/>
              </a:rPr>
              <a:t>Wärmeleitung / Wärmeabgabe über ? </a:t>
            </a:r>
          </a:p>
        </p:txBody>
      </p:sp>
      <p:graphicFrame>
        <p:nvGraphicFramePr>
          <p:cNvPr id="13" name="Inhaltsplatzhalter 2">
            <a:extLst>
              <a:ext uri="{FF2B5EF4-FFF2-40B4-BE49-F238E27FC236}">
                <a16:creationId xmlns:a16="http://schemas.microsoft.com/office/drawing/2014/main" id="{CA5B3D6F-52FD-4D59-86BC-1E06E9D9D3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el 1">
            <a:extLst>
              <a:ext uri="{FF2B5EF4-FFF2-40B4-BE49-F238E27FC236}">
                <a16:creationId xmlns:a16="http://schemas.microsoft.com/office/drawing/2014/main" id="{6CC0C318-83D4-0643-A8BD-E43DD8CA6EAE}"/>
              </a:ext>
            </a:extLst>
          </p:cNvPr>
          <p:cNvSpPr txBox="1">
            <a:spLocks/>
          </p:cNvSpPr>
          <p:nvPr/>
        </p:nvSpPr>
        <p:spPr>
          <a:xfrm>
            <a:off x="885429" y="1257233"/>
            <a:ext cx="3578342" cy="4795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4100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2293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0AC0A-CAE9-81AC-8B4B-2785A31F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5D1D4F-0F6B-1CCB-C604-ABFC9ABFC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60F1F-6E91-7CA8-1EC5-969547DAB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51D434-6183-B7BB-DDD2-EFAB9F8D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FC20B7-4011-8256-EF0C-629302D9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7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4A7BB87-B7AB-8F3D-71F9-B12847F79C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786" r="55257" b="22143"/>
          <a:stretch/>
        </p:blipFill>
        <p:spPr>
          <a:xfrm>
            <a:off x="862831" y="1936414"/>
            <a:ext cx="3140273" cy="27432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5C3E47F-5DAC-5435-E341-A215B0C0E4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11" t="10296" r="4629" b="22142"/>
          <a:stretch/>
        </p:blipFill>
        <p:spPr>
          <a:xfrm>
            <a:off x="4176017" y="1952539"/>
            <a:ext cx="3239333" cy="2743200"/>
          </a:xfrm>
          <a:prstGeom prst="rect">
            <a:avLst/>
          </a:prstGeom>
        </p:spPr>
      </p:pic>
      <p:pic>
        <p:nvPicPr>
          <p:cNvPr id="9" name="Grafik 8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241D19D2-5BE1-2F81-D038-FB21D26857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87" t="22109" r="13086" b="13265"/>
          <a:stretch/>
        </p:blipFill>
        <p:spPr>
          <a:xfrm>
            <a:off x="7865879" y="2547230"/>
            <a:ext cx="3292790" cy="152156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A176BCD-3934-ABE9-3933-2EC83742B8ED}"/>
              </a:ext>
            </a:extLst>
          </p:cNvPr>
          <p:cNvSpPr txBox="1"/>
          <p:nvPr/>
        </p:nvSpPr>
        <p:spPr>
          <a:xfrm>
            <a:off x="4469605" y="4822653"/>
            <a:ext cx="2652156" cy="380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dirty="0"/>
              <a:t>Konvektion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9B68E84-05CB-1823-88C2-F11DEBACC3C2}"/>
              </a:ext>
            </a:extLst>
          </p:cNvPr>
          <p:cNvSpPr txBox="1"/>
          <p:nvPr/>
        </p:nvSpPr>
        <p:spPr>
          <a:xfrm>
            <a:off x="1082403" y="4773889"/>
            <a:ext cx="197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dirty="0"/>
              <a:t>    Wärmestrahlung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FFF4DE9-D5DE-50C8-E334-1574AAAA4977}"/>
              </a:ext>
            </a:extLst>
          </p:cNvPr>
          <p:cNvSpPr txBox="1"/>
          <p:nvPr/>
        </p:nvSpPr>
        <p:spPr>
          <a:xfrm>
            <a:off x="7910635" y="4694787"/>
            <a:ext cx="2992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dirty="0"/>
              <a:t>Wärmeleitung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C52417AB-A8E7-62B8-AB04-CE3C5A170CC9}"/>
              </a:ext>
            </a:extLst>
          </p:cNvPr>
          <p:cNvSpPr txBox="1">
            <a:spLocks/>
          </p:cNvSpPr>
          <p:nvPr/>
        </p:nvSpPr>
        <p:spPr>
          <a:xfrm>
            <a:off x="973776" y="307746"/>
            <a:ext cx="10071536" cy="9297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200" b="1" i="1">
                <a:latin typeface="+mn-lt"/>
              </a:rPr>
              <a:t>Die drei Arten der Wärmeabgabe </a:t>
            </a:r>
            <a:endParaRPr lang="en-US" sz="5200" b="1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701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04DA9-96CE-E995-E856-657A0A9D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i="1" dirty="0"/>
              <a:t>Grundofen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A15B73-CA34-07AC-0E52-107B31EA9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de-DE" sz="2000" b="1" i="1" dirty="0"/>
              <a:t>Der Grundofen ist eine Speicherfeuerstätte, bestehen aus</a:t>
            </a:r>
          </a:p>
          <a:p>
            <a:pPr lvl="1">
              <a:buNone/>
            </a:pPr>
            <a:endParaRPr lang="de-DE" sz="1600" dirty="0"/>
          </a:p>
          <a:p>
            <a:pPr lvl="1"/>
            <a:r>
              <a:rPr lang="de-DE" sz="2000" dirty="0"/>
              <a:t>Feuerraum</a:t>
            </a:r>
          </a:p>
          <a:p>
            <a:pPr lvl="1"/>
            <a:r>
              <a:rPr lang="de-DE" sz="2000" dirty="0" err="1"/>
              <a:t>Feuergeschränk</a:t>
            </a:r>
            <a:r>
              <a:rPr lang="de-DE" sz="2000" dirty="0"/>
              <a:t>/ </a:t>
            </a:r>
            <a:r>
              <a:rPr lang="de-DE" sz="2000" dirty="0" err="1"/>
              <a:t>Heiztür</a:t>
            </a:r>
            <a:endParaRPr lang="de-DE" sz="2000" dirty="0"/>
          </a:p>
          <a:p>
            <a:pPr lvl="1"/>
            <a:r>
              <a:rPr lang="de-DE" sz="2000" dirty="0"/>
              <a:t>keramischen </a:t>
            </a:r>
            <a:r>
              <a:rPr lang="de-DE" sz="2000" dirty="0" err="1"/>
              <a:t>Heizgaszügen</a:t>
            </a:r>
            <a:r>
              <a:rPr lang="de-DE" sz="2000" dirty="0"/>
              <a:t> </a:t>
            </a:r>
          </a:p>
          <a:p>
            <a:pPr marL="457200" lvl="1" indent="0">
              <a:buNone/>
            </a:pPr>
            <a:endParaRPr lang="de-DE" sz="1600" dirty="0"/>
          </a:p>
          <a:p>
            <a:pPr lvl="0"/>
            <a:r>
              <a:rPr lang="de-DE" sz="2000" b="1" i="1" dirty="0"/>
              <a:t>Verkleidung aus:</a:t>
            </a:r>
          </a:p>
          <a:p>
            <a:pPr lvl="1"/>
            <a:r>
              <a:rPr lang="de-DE" sz="2000" dirty="0"/>
              <a:t>Ofenkacheln </a:t>
            </a:r>
          </a:p>
          <a:p>
            <a:pPr lvl="1"/>
            <a:r>
              <a:rPr lang="de-DE" sz="2000" dirty="0"/>
              <a:t>Kachelsteinen</a:t>
            </a:r>
          </a:p>
          <a:p>
            <a:pPr lvl="1"/>
            <a:r>
              <a:rPr lang="de-DE" sz="2000" dirty="0"/>
              <a:t>anderen mineralischen wärmespeichernden Baustoffen, </a:t>
            </a:r>
            <a:r>
              <a:rPr lang="de-DE" sz="2000" dirty="0" err="1"/>
              <a:t>zugehörigen</a:t>
            </a:r>
            <a:r>
              <a:rPr lang="de-DE" sz="2000" dirty="0"/>
              <a:t> </a:t>
            </a:r>
            <a:r>
              <a:rPr lang="de-DE" sz="2000" dirty="0" err="1"/>
              <a:t>Dämmschichten</a:t>
            </a:r>
            <a:r>
              <a:rPr lang="de-DE" sz="2000" dirty="0"/>
              <a:t> / </a:t>
            </a:r>
            <a:r>
              <a:rPr lang="de-DE" sz="2000" dirty="0" err="1"/>
              <a:t>Hinterlüftung</a:t>
            </a:r>
            <a:r>
              <a:rPr lang="de-DE" sz="2000" dirty="0"/>
              <a:t>, gegebenenfalls Vormauerung</a:t>
            </a:r>
          </a:p>
          <a:p>
            <a:pPr marL="457200" lvl="1" indent="0">
              <a:buNone/>
            </a:pPr>
            <a:endParaRPr lang="de-DE" sz="2000" dirty="0"/>
          </a:p>
          <a:p>
            <a:pPr lvl="0"/>
            <a:r>
              <a:rPr lang="de-DE" sz="2000" b="1" i="1" dirty="0"/>
              <a:t>Wärmeabgabe:</a:t>
            </a:r>
          </a:p>
          <a:p>
            <a:pPr lvl="1"/>
            <a:r>
              <a:rPr lang="de-DE" sz="2000" dirty="0"/>
              <a:t>erfolgt über die äußere Oberfläche.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1B0C06-5933-D2EC-33D4-488E64B5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044DB4-D483-D798-21FA-993D912A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D7B0BF-7408-DF95-E60B-489BC91F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95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7684C1-0D72-6946-B168-EFC5347A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eines Grundkachelofens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C91572-11A0-CAED-563F-A70963F7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875EB7-3ADE-4875-939A-36BCFF38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B4C8B2-6097-B6F0-84CB-F843E5D4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9</a:t>
            </a:fld>
            <a:endParaRPr lang="de-DE"/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15793F12-6A9F-4046-9F0E-85BF3E4D5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465" r="3731" b="-1"/>
          <a:stretch/>
        </p:blipFill>
        <p:spPr>
          <a:xfrm>
            <a:off x="838200" y="1820863"/>
            <a:ext cx="5331529" cy="440531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4A36FB3-4AFE-FB82-5BAA-1962612ECF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581" b="5"/>
          <a:stretch/>
        </p:blipFill>
        <p:spPr>
          <a:xfrm rot="5400000">
            <a:off x="5889592" y="2411776"/>
            <a:ext cx="3383280" cy="297046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41C41CB-09DB-98D0-A660-8E496B3E11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219" r="13934" b="4"/>
          <a:stretch/>
        </p:blipFill>
        <p:spPr>
          <a:xfrm>
            <a:off x="9155897" y="2205368"/>
            <a:ext cx="2970466" cy="353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5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C70CC2-EE44-ADCA-2688-0F8F3B83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Warmluftkachelofen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558797-B1CA-EAB5-004F-5ACC7F8CA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de-DE" sz="1800" b="1" i="1" dirty="0"/>
              <a:t>Der Warmluftofen ist eine </a:t>
            </a:r>
            <a:r>
              <a:rPr lang="de-DE" sz="1800" b="1" i="1" dirty="0" err="1"/>
              <a:t>Feuerstätte</a:t>
            </a:r>
            <a:r>
              <a:rPr lang="de-DE" sz="1800" b="1" i="1" dirty="0"/>
              <a:t>, bestehend aus:</a:t>
            </a:r>
            <a:endParaRPr lang="en-US" sz="1800" b="1" i="1" dirty="0"/>
          </a:p>
          <a:p>
            <a:pPr lvl="1"/>
            <a:r>
              <a:rPr lang="de-DE" sz="1600" dirty="0"/>
              <a:t>Heizeinsatz oder Kamineinsatz</a:t>
            </a:r>
            <a:endParaRPr lang="en-US" sz="1600" dirty="0"/>
          </a:p>
          <a:p>
            <a:pPr lvl="0"/>
            <a:r>
              <a:rPr lang="de-DE" sz="1800" b="1" i="1" dirty="0" err="1"/>
              <a:t>Heizgaszügen</a:t>
            </a:r>
            <a:r>
              <a:rPr lang="de-DE" sz="1800" b="1" i="1" dirty="0"/>
              <a:t> aus: </a:t>
            </a:r>
            <a:endParaRPr lang="en-US" sz="1800" b="1" i="1" dirty="0"/>
          </a:p>
          <a:p>
            <a:pPr lvl="1"/>
            <a:r>
              <a:rPr lang="de-DE" sz="1600" dirty="0"/>
              <a:t>metallischen Werkstoffen </a:t>
            </a:r>
            <a:endParaRPr lang="en-US" sz="1600" dirty="0"/>
          </a:p>
          <a:p>
            <a:pPr lvl="1"/>
            <a:r>
              <a:rPr lang="de-DE" sz="1600" dirty="0"/>
              <a:t>keramischen Werkstoffen </a:t>
            </a:r>
            <a:endParaRPr lang="en-US" sz="1600" dirty="0"/>
          </a:p>
          <a:p>
            <a:pPr lvl="1"/>
            <a:r>
              <a:rPr lang="de-DE" sz="1600" dirty="0"/>
              <a:t>anderen mineralischen, </a:t>
            </a:r>
            <a:r>
              <a:rPr lang="de-DE" sz="1600" dirty="0" err="1"/>
              <a:t>wärmespeichernden</a:t>
            </a:r>
            <a:r>
              <a:rPr lang="de-DE" sz="1600" dirty="0"/>
              <a:t> Baustoffen </a:t>
            </a:r>
            <a:endParaRPr lang="en-US" sz="1600" dirty="0"/>
          </a:p>
          <a:p>
            <a:pPr lvl="0"/>
            <a:r>
              <a:rPr lang="de-DE" sz="1800" b="1" i="1" dirty="0"/>
              <a:t>Heizkammer/Verkleidung aus: </a:t>
            </a:r>
            <a:endParaRPr lang="en-US" sz="1800" b="1" i="1" dirty="0"/>
          </a:p>
          <a:p>
            <a:pPr lvl="1"/>
            <a:r>
              <a:rPr lang="de-DE" sz="1600" dirty="0"/>
              <a:t>Ofenkacheln </a:t>
            </a:r>
            <a:endParaRPr lang="en-US" sz="1600" dirty="0"/>
          </a:p>
          <a:p>
            <a:pPr lvl="1"/>
            <a:r>
              <a:rPr lang="de-DE" sz="1600" dirty="0"/>
              <a:t>Kachelsteinen </a:t>
            </a:r>
            <a:endParaRPr lang="en-US" sz="1600" dirty="0"/>
          </a:p>
          <a:p>
            <a:pPr lvl="1"/>
            <a:r>
              <a:rPr lang="de-DE" sz="1600" dirty="0"/>
              <a:t>anderen mineralischen </a:t>
            </a:r>
            <a:r>
              <a:rPr lang="de-DE" sz="1600" dirty="0" err="1"/>
              <a:t>wärmespeichernden</a:t>
            </a:r>
            <a:r>
              <a:rPr lang="de-DE" sz="1600" dirty="0"/>
              <a:t> Baustoffen, </a:t>
            </a:r>
            <a:endParaRPr lang="en-US" sz="1600" dirty="0"/>
          </a:p>
          <a:p>
            <a:pPr lvl="1"/>
            <a:r>
              <a:rPr lang="de-DE" sz="1600" dirty="0" err="1"/>
              <a:t>zugehörigen</a:t>
            </a:r>
            <a:r>
              <a:rPr lang="de-DE" sz="1600" dirty="0"/>
              <a:t> </a:t>
            </a:r>
            <a:r>
              <a:rPr lang="de-DE" sz="1600" dirty="0" err="1"/>
              <a:t>Dämmschichten</a:t>
            </a:r>
            <a:r>
              <a:rPr lang="de-DE" sz="1600" dirty="0"/>
              <a:t>/</a:t>
            </a:r>
            <a:r>
              <a:rPr lang="de-DE" sz="1600" dirty="0" err="1"/>
              <a:t>Hinterlüftung</a:t>
            </a:r>
            <a:r>
              <a:rPr lang="de-DE" sz="1600" dirty="0"/>
              <a:t>, </a:t>
            </a:r>
            <a:endParaRPr lang="en-US" sz="1600" dirty="0"/>
          </a:p>
          <a:p>
            <a:pPr lvl="1"/>
            <a:r>
              <a:rPr lang="de-DE" sz="1600" dirty="0"/>
              <a:t>gegebenenfalls Vormauerung. </a:t>
            </a:r>
            <a:endParaRPr lang="en-US" sz="1600" dirty="0"/>
          </a:p>
          <a:p>
            <a:pPr lvl="1">
              <a:buNone/>
            </a:pPr>
            <a:endParaRPr lang="en-US" sz="1600" dirty="0"/>
          </a:p>
          <a:p>
            <a:pPr lvl="1">
              <a:buNone/>
            </a:pPr>
            <a:r>
              <a:rPr lang="de-DE" sz="1600" b="1" i="1" dirty="0"/>
              <a:t>Die </a:t>
            </a:r>
            <a:r>
              <a:rPr lang="de-DE" sz="1600" b="1" i="1" dirty="0" err="1"/>
              <a:t>Wärmeabgabe</a:t>
            </a:r>
            <a:r>
              <a:rPr lang="de-DE" sz="1600" b="1" i="1" dirty="0"/>
              <a:t> erfolgt </a:t>
            </a:r>
            <a:r>
              <a:rPr lang="de-DE" sz="1600" b="1" i="1" dirty="0" err="1"/>
              <a:t>überwiegend</a:t>
            </a:r>
            <a:r>
              <a:rPr lang="de-DE" sz="1600" b="1" i="1" dirty="0"/>
              <a:t> konvektiv </a:t>
            </a:r>
            <a:r>
              <a:rPr lang="de-DE" sz="1600" b="1" i="1" dirty="0" err="1"/>
              <a:t>über</a:t>
            </a:r>
            <a:r>
              <a:rPr lang="de-DE" sz="1600" b="1" i="1" dirty="0"/>
              <a:t> die Heizkammer und zum Teil </a:t>
            </a:r>
            <a:r>
              <a:rPr lang="de-DE" sz="1600" b="1" i="1" dirty="0" err="1"/>
              <a:t>über</a:t>
            </a:r>
            <a:r>
              <a:rPr lang="de-DE" sz="1600" b="1" i="1" dirty="0"/>
              <a:t> die </a:t>
            </a:r>
            <a:r>
              <a:rPr lang="de-DE" sz="1600" b="1" i="1" dirty="0" err="1"/>
              <a:t>äußeren</a:t>
            </a:r>
            <a:r>
              <a:rPr lang="de-DE" sz="1600" b="1" i="1" dirty="0"/>
              <a:t> </a:t>
            </a:r>
            <a:r>
              <a:rPr lang="de-DE" sz="1600" b="1" i="1" dirty="0" err="1"/>
              <a:t>Oberflächen</a:t>
            </a:r>
            <a:r>
              <a:rPr lang="de-DE" sz="1600" b="1" i="1" dirty="0"/>
              <a:t>. </a:t>
            </a:r>
            <a:endParaRPr lang="en-US" sz="1600" b="1" i="1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276D32-2730-3DA1-7361-B2D17716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B6258F-2969-CB2B-9B55-DDF44119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44D42-27F3-026A-5EF9-095795F3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568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6098DF-0C6B-4AC5-B0DA-F2727315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B99AAC-F258-B427-A013-95F7AFE1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6877F0-DBE7-25C0-6B00-F44E198D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795510-E663-0B23-4E38-D4B0E052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11</a:t>
            </a:fld>
            <a:endParaRPr lang="de-DE"/>
          </a:p>
        </p:txBody>
      </p:sp>
      <p:pic>
        <p:nvPicPr>
          <p:cNvPr id="7" name="Inhaltsplatzhalter 16" descr="Ein Bild, das Text enthält.&#10;&#10;Automatisch generierte Beschreibung">
            <a:extLst>
              <a:ext uri="{FF2B5EF4-FFF2-40B4-BE49-F238E27FC236}">
                <a16:creationId xmlns:a16="http://schemas.microsoft.com/office/drawing/2014/main" id="{2D67BC64-0D6C-D429-86E6-2ADC064C1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9939" y="232082"/>
            <a:ext cx="5109839" cy="6124268"/>
          </a:xfr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20ABABE-F055-2476-CA83-9695DC2BD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778" y="501650"/>
            <a:ext cx="5702112" cy="306200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9A4A20C-71C4-A2AC-5724-48793DF01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778" y="4148288"/>
            <a:ext cx="5702113" cy="142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6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AC8679-7E7A-48DC-CB36-D564BC1C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Offener Kamin, Bauart A</a:t>
            </a:r>
          </a:p>
        </p:txBody>
      </p:sp>
      <p:pic>
        <p:nvPicPr>
          <p:cNvPr id="8" name="Inhaltsplatzhalter 7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F3EB5D68-7A42-89C7-2D51-01CA5208F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790510" cy="4351338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07CFC0-3E0B-DB4B-A53A-9D209FA0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83DB5-C22C-BFD6-0FE7-08371AB8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ED91E0-E8CA-9470-6725-71B0DBE8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59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6F047D-2192-F770-F215-B1B006A3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Offener Kamin, Bauart B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9673690B-2720-E331-5FD6-B5016A3E0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318" y="1825625"/>
            <a:ext cx="8909364" cy="4351338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93AF89-5781-7CBC-A13C-485EF0E2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58D58C-7AC4-CFE1-CED6-6A8BC735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A7359B-2C7D-5B76-4D99-76D60DFA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027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7E1E4-1185-43A4-1FF8-75769BCB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b="1" i="1" dirty="0" err="1"/>
              <a:t>Grundsätzlicher</a:t>
            </a:r>
            <a:r>
              <a:rPr lang="de-DE" b="1" i="1" dirty="0"/>
              <a:t> Aufbau eines offenen Kamins</a:t>
            </a:r>
            <a:br>
              <a:rPr lang="de-DE" b="1" i="1" dirty="0"/>
            </a:br>
            <a:r>
              <a:rPr lang="de-DE" b="1" i="1" dirty="0"/>
              <a:t>Bauart A und B 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ECDC71-F3BF-9A59-B865-68416661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9E0944-08E4-E595-7E19-815AD1C4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91AE99-4A6C-FC0F-F4F1-70414EBB3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14</a:t>
            </a:fld>
            <a:endParaRPr lang="de-DE"/>
          </a:p>
        </p:txBody>
      </p:sp>
      <p:pic>
        <p:nvPicPr>
          <p:cNvPr id="7" name="Inhaltsplatzhalter 4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69415676-EB08-FAE6-149D-18B510E56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2393" r="16723"/>
          <a:stretch/>
        </p:blipFill>
        <p:spPr>
          <a:xfrm>
            <a:off x="1301608" y="1642608"/>
            <a:ext cx="5099191" cy="4896304"/>
          </a:xfrm>
        </p:spPr>
      </p:pic>
      <p:pic>
        <p:nvPicPr>
          <p:cNvPr id="8" name="Inhaltsplatzhalter 4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5148911B-54C8-BC78-E4B2-125C4887BA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572" t="2984" b="2648"/>
          <a:stretch/>
        </p:blipFill>
        <p:spPr>
          <a:xfrm>
            <a:off x="6096000" y="1690689"/>
            <a:ext cx="5328144" cy="484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62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4AE00-DA90-C045-8ACD-C52770A4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2F24B6-EEC1-598F-CA1D-9BE05D073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7E7DC3-012F-A0C0-B1A6-3BF792BCC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8A75E1-9827-C862-0E37-B73C12AF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E11221-5685-2E10-AAAB-D6A00152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15</a:t>
            </a:fld>
            <a:endParaRPr lang="de-DE"/>
          </a:p>
        </p:txBody>
      </p:sp>
      <p:pic>
        <p:nvPicPr>
          <p:cNvPr id="7" name="Inhaltsplatzhalter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1345FE66-7167-757A-6075-D2D5A3F3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12" y="136525"/>
            <a:ext cx="7140414" cy="673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99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B1BCE2-E46A-79AA-0EA4-E5AF1E1C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Unterscheidung der Feuerstätten in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F70D1F-1FA5-D6D0-0DC4-68F220849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Heizwert </a:t>
            </a:r>
          </a:p>
          <a:p>
            <a:pPr lvl="1"/>
            <a:r>
              <a:rPr lang="de-DE" dirty="0"/>
              <a:t>Niedertemperaturkessel und Standardheizkessel</a:t>
            </a:r>
          </a:p>
          <a:p>
            <a:pPr lvl="1"/>
            <a:r>
              <a:rPr lang="de-DE" dirty="0"/>
              <a:t>Raumluftabhängig, raumluftunabhängig</a:t>
            </a:r>
          </a:p>
          <a:p>
            <a:pPr marL="457200" lvl="1" indent="0">
              <a:buNone/>
            </a:pPr>
            <a:endParaRPr lang="de-DE" dirty="0"/>
          </a:p>
          <a:p>
            <a:r>
              <a:rPr lang="de-DE" dirty="0"/>
              <a:t>Brennwert </a:t>
            </a:r>
          </a:p>
          <a:p>
            <a:pPr lvl="1"/>
            <a:r>
              <a:rPr lang="de-DE" dirty="0"/>
              <a:t>Raumluftabhängig, raumluftunabhängig</a:t>
            </a:r>
          </a:p>
          <a:p>
            <a:pPr lvl="1"/>
            <a:r>
              <a:rPr lang="de-DE" dirty="0"/>
              <a:t>Selbstkalibrierend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66361E-C952-71A4-1600-43B12EAC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FDD0DE-7627-15B2-4874-9948D1E2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D37523-8442-C44C-0AB4-2E0EB8FE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900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E22665-A708-7D9B-5461-74390FDB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Brennwertfeuerstätten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1C6B91-18EB-2EC1-7E56-69EE80A5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8565A-2253-AB2F-F803-71F87091E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9A8ECB-41D7-6001-3074-21B803B3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17</a:t>
            </a:fld>
            <a:endParaRPr lang="de-D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8EB7193-FA12-2198-935A-812C6605A0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8470" y="1825625"/>
            <a:ext cx="7435059" cy="43513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8135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2CA830-5C8D-2EBA-2156-BC86C2B7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17896B-D29B-4E8D-1763-AC7BC74B7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C99B0-20D4-40D4-DA68-1BE4AE34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29B1E0-3690-9E0E-E721-F98D2C0FE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3FB053-914F-5973-6BE1-717AC545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18</a:t>
            </a:fld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C65D2F44-A6F3-E43F-2513-8F458ACE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3" y="1364599"/>
            <a:ext cx="3006682" cy="435133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0088458-F805-C5D4-8B90-87F000759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65125"/>
            <a:ext cx="4648200" cy="6477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17C602B-A7AB-F675-0095-AFD4736D2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388662"/>
            <a:ext cx="5442284" cy="534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8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C292E-5C91-43B0-E5D3-2093E0D9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Brennwertfeuerstätte mit nachgeschaltetem zweitem Wärmetauscher </a:t>
            </a: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AAECEF-41F9-FD25-86B8-1AFC3E683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DB922F-A6F3-F483-FE5F-15188530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E46531-338D-4EC1-0902-8075F4AB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C219D9-D53F-A418-3CFA-70EF4AF8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19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255F135-C00C-A6B6-206E-51FB82B0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0" y="1778794"/>
            <a:ext cx="60325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50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6F6746-D5A3-D280-4C4B-14D0B50E0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Erhöhte Anforderungen an Brennwertfeuerstätten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A04877-7039-1726-5A0D-1AF5CC96C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u="sng" dirty="0"/>
              <a:t>Korrosionsbeständige Materialien:</a:t>
            </a:r>
            <a:br>
              <a:rPr lang="de-DE" dirty="0"/>
            </a:br>
            <a:r>
              <a:rPr lang="de-DE" dirty="0"/>
              <a:t>Alle Teile des Kessels und des Heizgas und Abgasweges, die mit Kondensat beaufschlagt werden, müssen aus korrosionsbeständigem Material bestehen </a:t>
            </a:r>
          </a:p>
          <a:p>
            <a:endParaRPr lang="de-DE" dirty="0"/>
          </a:p>
          <a:p>
            <a:r>
              <a:rPr lang="de-DE" b="1" u="sng" dirty="0"/>
              <a:t>Unterstützung des Abgastransportes</a:t>
            </a:r>
            <a:br>
              <a:rPr lang="de-DE" dirty="0"/>
            </a:br>
            <a:r>
              <a:rPr lang="de-DE" dirty="0"/>
              <a:t>Da die Abgase soweit abgekühlt werden ist ihr Abtransport durch den natürlichen Auftrieb nicht möglich </a:t>
            </a:r>
            <a:br>
              <a:rPr lang="de-DE" dirty="0"/>
            </a:br>
            <a:r>
              <a:rPr lang="de-DE" dirty="0"/>
              <a:t>-&gt; Verbrennungsluftgebläse oder Abgasventilator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48C9A5-F34B-770F-2FAB-4137AF18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A5B9E3-B9FC-43E4-F361-A3CEC9BE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057775-E56C-57B5-B19D-87A95207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872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E8179D-0703-69D9-2827-D992106D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Erhöhte Anforderungen an Brennwertfeuerstätten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B0D66D-D966-225C-E820-3AD219909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u="sng" dirty="0"/>
              <a:t>Feuchtigkeitsunempfindliche Abgaswege:</a:t>
            </a:r>
          </a:p>
          <a:p>
            <a:pPr marL="0" indent="0">
              <a:buNone/>
            </a:pPr>
            <a:r>
              <a:rPr lang="de-DE" dirty="0"/>
              <a:t>Da die Verdampfungswärme in der Brennwertfeuerstätte genutzt      werden kann, enthalten die Abgase noch Wasserdampf, der in der Abgasleitung weiter auskondensiert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u="sng" dirty="0"/>
              <a:t>Entsorgung des Kondensats:</a:t>
            </a:r>
          </a:p>
          <a:p>
            <a:pPr marL="0" indent="0">
              <a:buNone/>
            </a:pPr>
            <a:r>
              <a:rPr lang="de-DE" dirty="0"/>
              <a:t>Das bei der Brennwertnutzung in Kessel anfallende Kondensat muss auf möglichst umweltverträgliche Weise entsorgt werden 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EA140E-0156-52BD-67C3-5B4DC618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68E679-D1E8-6866-2172-EA967EA6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A859D0-BB79-D9C7-5694-811473EF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774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23DF5-3C2C-1950-D407-1B830AED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Kondensatableitung</a:t>
            </a:r>
            <a:r>
              <a:rPr lang="de-DE" dirty="0"/>
              <a:t>: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A18BE1-D3ED-6339-6E89-30BED991A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Kondensat sind hier kondensierte Abgasbestandteile, die durch die Abkühlung der Verbrennungsgase unter den Taupunkt des Wasserdampfs entstehen.</a:t>
            </a:r>
          </a:p>
          <a:p>
            <a:pPr>
              <a:buFontTx/>
              <a:buChar char="-"/>
            </a:pPr>
            <a:r>
              <a:rPr lang="de-DE" dirty="0"/>
              <a:t>Taupunkt: Die Temperatur bei der der Wasserdampf im Abgas kondensiert wird Taupunkt (</a:t>
            </a:r>
            <a:r>
              <a:rPr lang="de-DE" dirty="0" err="1"/>
              <a:t>t</a:t>
            </a:r>
            <a:r>
              <a:rPr lang="de-DE" baseline="-25000" dirty="0" err="1"/>
              <a:t>P</a:t>
            </a:r>
            <a:r>
              <a:rPr lang="de-DE" dirty="0"/>
              <a:t>)genannt </a:t>
            </a:r>
            <a:br>
              <a:rPr lang="de-DE" dirty="0"/>
            </a:br>
            <a:r>
              <a:rPr lang="de-DE" dirty="0"/>
              <a:t>-&gt; Erdgas     ca. 56 Grad C</a:t>
            </a:r>
            <a:br>
              <a:rPr lang="de-DE" dirty="0"/>
            </a:br>
            <a:r>
              <a:rPr lang="de-DE" dirty="0"/>
              <a:t>-&gt; Heizöl EL ca. 47 Grad C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AC0F22-99DB-BDDC-C42F-1DB1E3D2D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111849-B72F-D384-4B94-8414604E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A06DDB-6930-7D0B-57C4-0E000F9A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324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3CDF0-64E9-0D57-E70A-D7A0D372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Kondensatableitung</a:t>
            </a:r>
            <a:r>
              <a:rPr lang="de-DE" dirty="0"/>
              <a:t>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7E5656-4A59-7ADF-5F39-E7F3B5C7F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Das anfallende Kondensat von Brennwertfeuerstätten ist also leicht sauer und muss ordnungsgemäß abgeleitet werden</a:t>
            </a:r>
          </a:p>
          <a:p>
            <a:pPr>
              <a:buFontTx/>
              <a:buChar char="-"/>
            </a:pPr>
            <a:r>
              <a:rPr lang="de-DE" dirty="0"/>
              <a:t>Dabei ist zu beachten, dass das Kondensat von Ölfeuerstätten einen niedrigeren PH-Wert hat, als das von Gas- Brennwertfeuerstätten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16DBEA-8F08-D691-7BBE-BE6346E1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698222-5845-9970-EC91-D6053E4A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0FA02A-FCAB-4E58-A119-A1802A78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23</a:t>
            </a:fld>
            <a:endParaRPr lang="de-DE"/>
          </a:p>
        </p:txBody>
      </p:sp>
      <p:pic>
        <p:nvPicPr>
          <p:cNvPr id="7" name="Picture 4" descr="http://www.brennwert.info/images/ph-skala.jpg">
            <a:extLst>
              <a:ext uri="{FF2B5EF4-FFF2-40B4-BE49-F238E27FC236}">
                <a16:creationId xmlns:a16="http://schemas.microsoft.com/office/drawing/2014/main" id="{E3E3623E-0042-D8D1-7E66-58CBCD674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618705"/>
            <a:ext cx="6112041" cy="2647951"/>
          </a:xfrm>
          <a:prstGeom prst="rect">
            <a:avLst/>
          </a:prstGeom>
          <a:noFill/>
        </p:spPr>
      </p:pic>
      <p:pic>
        <p:nvPicPr>
          <p:cNvPr id="8" name="Picture 6" descr="http://www.bosy-online.de/brennwert-heizwert/Neutralisierung-IWO.JPG">
            <a:extLst>
              <a:ext uri="{FF2B5EF4-FFF2-40B4-BE49-F238E27FC236}">
                <a16:creationId xmlns:a16="http://schemas.microsoft.com/office/drawing/2014/main" id="{5E463A29-FD18-77E3-7DB3-F270AC8A5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42315" y="3664743"/>
            <a:ext cx="57150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112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210311-03DE-8107-E9F9-D3C70187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Geräteklassifizierung A,B,C </a:t>
            </a:r>
          </a:p>
        </p:txBody>
      </p:sp>
      <p:pic>
        <p:nvPicPr>
          <p:cNvPr id="8" name="Inhaltsplatzhalter 7" descr="Ein Bild, das Entwurf, Darstellung, Design enthält.&#10;&#10;KI-generierte Inhalte können fehlerhaft sein.">
            <a:extLst>
              <a:ext uri="{FF2B5EF4-FFF2-40B4-BE49-F238E27FC236}">
                <a16:creationId xmlns:a16="http://schemas.microsoft.com/office/drawing/2014/main" id="{4519FC20-DDA1-DAFD-EC0F-E7DDE65B2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12" y="2847975"/>
            <a:ext cx="8801100" cy="3873500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1C3D69-06CD-0FDB-EAAB-29113644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C6801F-2AD7-1E91-E0FC-D5C3E06B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4E96BC-C1D4-6D30-A02F-CBD288EA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24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EF4443F-F544-1372-876E-2AE69292697C}"/>
              </a:ext>
            </a:extLst>
          </p:cNvPr>
          <p:cNvSpPr txBox="1"/>
          <p:nvPr/>
        </p:nvSpPr>
        <p:spPr>
          <a:xfrm>
            <a:off x="971039" y="1739179"/>
            <a:ext cx="1024992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Gasgeräte Art A sind Gasgeräte ohne Abgasanlage (z. B. Gasherd, Gaskocher, Gaskochmulde, Gasbackofen).</a:t>
            </a:r>
            <a:endParaRPr lang="de-DE" dirty="0"/>
          </a:p>
          <a:p>
            <a:r>
              <a:rPr lang="de-DE" i="1" dirty="0"/>
              <a:t>Sie entnehmen den Sauerstoff zur Verbrennung des Gases der Raumluft des Aufstellraumes und</a:t>
            </a:r>
            <a:endParaRPr lang="de-DE" dirty="0"/>
          </a:p>
          <a:p>
            <a:r>
              <a:rPr lang="de-DE" i="1" dirty="0"/>
              <a:t>geben </a:t>
            </a:r>
            <a:r>
              <a:rPr lang="de-DE" i="1" dirty="0" err="1"/>
              <a:t>dafür</a:t>
            </a:r>
            <a:r>
              <a:rPr lang="de-DE" i="1" dirty="0"/>
              <a:t> das Abgas in die Raumluft ab. Durch die Verbrennung wird der Sauerstoffgehalt der Raumluft</a:t>
            </a:r>
            <a:endParaRPr lang="de-DE" dirty="0"/>
          </a:p>
          <a:p>
            <a:r>
              <a:rPr lang="de-DE" i="1" dirty="0"/>
              <a:t>vermindert, aber kein Luftvolumen entnommen. Das Abgas wird durch den Luftwechsel des Raumes ins</a:t>
            </a:r>
            <a:endParaRPr lang="de-DE" dirty="0"/>
          </a:p>
          <a:p>
            <a:r>
              <a:rPr lang="de-DE" i="1" dirty="0"/>
              <a:t>Freie </a:t>
            </a:r>
            <a:r>
              <a:rPr lang="de-DE" i="1" dirty="0" err="1"/>
              <a:t>abgeführt</a:t>
            </a:r>
            <a:r>
              <a:rPr lang="de-DE" i="1" dirty="0"/>
              <a:t>.</a:t>
            </a:r>
            <a:endParaRPr lang="de-DE" dirty="0"/>
          </a:p>
          <a:p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3E53C45-F5AB-95DD-7D24-8437D7FC91A1}"/>
              </a:ext>
            </a:extLst>
          </p:cNvPr>
          <p:cNvSpPr/>
          <p:nvPr/>
        </p:nvSpPr>
        <p:spPr>
          <a:xfrm>
            <a:off x="3006436" y="1739179"/>
            <a:ext cx="2770909" cy="311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436D8CC-5F58-9E1D-2113-96FDA696C1D5}"/>
              </a:ext>
            </a:extLst>
          </p:cNvPr>
          <p:cNvSpPr/>
          <p:nvPr/>
        </p:nvSpPr>
        <p:spPr>
          <a:xfrm>
            <a:off x="2840182" y="2050473"/>
            <a:ext cx="6580909" cy="311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709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68AA17-8E87-6410-E534-452872EF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Geräteklassifizierung A,B,C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9F5D0B-1A24-10C6-7672-3A892E34C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i="1" dirty="0"/>
              <a:t>Gasgeräte Art B haben eine Abgasanlage bzw. sind für den Anschluss an eine Abgasanlage vorgesehen.</a:t>
            </a:r>
            <a:r>
              <a:rPr lang="de-DE" dirty="0"/>
              <a:t> </a:t>
            </a:r>
            <a:r>
              <a:rPr lang="de-DE" i="1" dirty="0"/>
              <a:t>Sie entnehmen dem Aufstellraum Raumluft zur Verbrennung. Diese wird nach der Verbrennung mit dem</a:t>
            </a:r>
            <a:r>
              <a:rPr lang="de-DE" dirty="0"/>
              <a:t> </a:t>
            </a:r>
            <a:r>
              <a:rPr lang="de-DE" i="1" dirty="0"/>
              <a:t>Abgas über die Abgasanlage ins Freie abgeführt.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05DEFE-C299-D809-FDF9-2906A314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2D9981-3B28-2E83-E57C-A061D80CC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490BC5-F0E3-8714-ED28-BEF2337D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25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64E5778-0214-59F8-C012-DE304114D8B2}"/>
              </a:ext>
            </a:extLst>
          </p:cNvPr>
          <p:cNvSpPr/>
          <p:nvPr/>
        </p:nvSpPr>
        <p:spPr>
          <a:xfrm>
            <a:off x="4502727" y="1870075"/>
            <a:ext cx="2604654" cy="311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ACA635A-0049-7410-E1C8-BE95A4B15FF9}"/>
              </a:ext>
            </a:extLst>
          </p:cNvPr>
          <p:cNvSpPr/>
          <p:nvPr/>
        </p:nvSpPr>
        <p:spPr>
          <a:xfrm>
            <a:off x="983674" y="2646218"/>
            <a:ext cx="4073236" cy="311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F4BB91D-1F0B-70AF-558E-59C302993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108" y="3347523"/>
            <a:ext cx="7772400" cy="351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3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4D27B6-10D7-D648-BD80-45DF80DE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Strömungssicherung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78FE92-D444-4463-AD01-78D13312B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3427" cy="4351338"/>
          </a:xfrm>
        </p:spPr>
        <p:txBody>
          <a:bodyPr/>
          <a:lstStyle/>
          <a:p>
            <a:r>
              <a:rPr lang="de-DE" altLang="de-DE" dirty="0">
                <a:solidFill>
                  <a:srgbClr val="FF0000"/>
                </a:solidFill>
              </a:rPr>
              <a:t>Die Strömungssicherung verhindert bei atmosphärischen Brennern den Einfluss von Zugschwankungen, Stau oder Rückstrom auf die Verbrennung!!!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77976E-5473-A2D1-3F2F-5B7529B5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CB45E0-11F1-F037-2994-C383563C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EDD965-D7F6-4D03-76B9-747F64AB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26</a:t>
            </a:fld>
            <a:endParaRPr lang="de-DE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DD8122E-0725-A012-536D-F4F409EB8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7" t="9146" r="30579" b="8000"/>
          <a:stretch>
            <a:fillRect/>
          </a:stretch>
        </p:blipFill>
        <p:spPr bwMode="auto">
          <a:xfrm>
            <a:off x="8760357" y="1310843"/>
            <a:ext cx="3384550" cy="300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408B13D4-515C-7D76-7B2E-B99616C3D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" t="14722" r="2222" b="20593"/>
          <a:stretch>
            <a:fillRect/>
          </a:stretch>
        </p:blipFill>
        <p:spPr bwMode="auto">
          <a:xfrm>
            <a:off x="5928002" y="984250"/>
            <a:ext cx="6143625" cy="259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5">
            <a:extLst>
              <a:ext uri="{FF2B5EF4-FFF2-40B4-BE49-F238E27FC236}">
                <a16:creationId xmlns:a16="http://schemas.microsoft.com/office/drawing/2014/main" id="{7118CC13-B0AA-99A8-81AA-072F73294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1627" y="3459163"/>
            <a:ext cx="2592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itchFamily="2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de-DE" altLang="de-DE" sz="1800">
                <a:latin typeface="Arial" panose="020B0604020202020204" pitchFamily="34" charset="0"/>
              </a:rPr>
              <a:t>1. Normaler Betrieb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24A26581-C36F-D7B5-4167-5DEF3D8BE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1252" y="3462338"/>
            <a:ext cx="26654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itchFamily="2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de-DE" altLang="de-DE" sz="1800">
                <a:latin typeface="Arial" panose="020B0604020202020204" pitchFamily="34" charset="0"/>
              </a:rPr>
              <a:t>2. Zu starker Auftrieb</a:t>
            </a: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F01B0B0C-844D-43BE-9283-59AA96CF6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2" t="10001" r="32674" b="8000"/>
          <a:stretch>
            <a:fillRect/>
          </a:stretch>
        </p:blipFill>
        <p:spPr bwMode="auto">
          <a:xfrm>
            <a:off x="5721627" y="3868738"/>
            <a:ext cx="2808288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F682C486-926D-8E48-928C-95884FE8B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0552" y="6259513"/>
            <a:ext cx="2016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itchFamily="2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de-DE" altLang="de-DE" sz="1800">
                <a:latin typeface="Arial" panose="020B0604020202020204" pitchFamily="34" charset="0"/>
              </a:rPr>
              <a:t>3. Stau</a:t>
            </a: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D9BF1772-F679-ADE7-515E-010BA77F8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0" t="10001" r="33194" b="8000"/>
          <a:stretch>
            <a:fillRect/>
          </a:stretch>
        </p:blipFill>
        <p:spPr bwMode="auto">
          <a:xfrm>
            <a:off x="9283977" y="3754438"/>
            <a:ext cx="2620963" cy="263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7">
            <a:extLst>
              <a:ext uri="{FF2B5EF4-FFF2-40B4-BE49-F238E27FC236}">
                <a16:creationId xmlns:a16="http://schemas.microsoft.com/office/drawing/2014/main" id="{64D7C385-66F8-29AF-2BBE-799A3A0B2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6365" y="6237288"/>
            <a:ext cx="2303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itchFamily="2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de-DE" altLang="de-DE" sz="1800">
                <a:latin typeface="Arial" panose="020B0604020202020204" pitchFamily="34" charset="0"/>
              </a:rPr>
              <a:t>4. Rückstrom</a:t>
            </a:r>
          </a:p>
        </p:txBody>
      </p:sp>
    </p:spTree>
    <p:extLst>
      <p:ext uri="{BB962C8B-B14F-4D97-AF65-F5344CB8AC3E}">
        <p14:creationId xmlns:p14="http://schemas.microsoft.com/office/powerpoint/2010/main" val="41098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F30066-ACBD-4B56-590F-6453FF9A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Art B2 – Gasgerät Art B ohne Strömungssicherung</a:t>
            </a:r>
            <a:br>
              <a:rPr lang="de-DE" i="1" dirty="0"/>
            </a:b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EBE08E-B7BC-29AA-DD0C-313AD9EE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FA599A-A8B3-E0C1-31BB-0F328EEE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AE55FB-93EA-5A2F-3F84-02FBA229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27</a:t>
            </a:fld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944C0A4A-39FF-C88E-45F4-257427929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2207419"/>
            <a:ext cx="88011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3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D1192-978F-7552-48F5-8647B6DF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Art B3 – Gasgerät Art B ohne Strömungssicherung einschließlich </a:t>
            </a:r>
            <a:r>
              <a:rPr lang="de-DE" i="1" dirty="0" err="1"/>
              <a:t>Luft-Abgas-Verbindungsstück</a:t>
            </a:r>
            <a:endParaRPr lang="de-DE" dirty="0"/>
          </a:p>
        </p:txBody>
      </p:sp>
      <p:pic>
        <p:nvPicPr>
          <p:cNvPr id="8" name="Inhaltsplatzhalter 7" descr="Ein Bild, das Diagramm, technische Zeichnung, Entwurf, Plan enthält.&#10;&#10;KI-generierte Inhalte können fehlerhaft sein.">
            <a:extLst>
              <a:ext uri="{FF2B5EF4-FFF2-40B4-BE49-F238E27FC236}">
                <a16:creationId xmlns:a16="http://schemas.microsoft.com/office/drawing/2014/main" id="{E935EE93-82E1-E9C2-14A0-8CD837643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48" y="1847850"/>
            <a:ext cx="2951703" cy="4351338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A3A235-7F17-DCE9-1BEA-1C02FBAE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B6CAC1-A3E1-3D19-555A-CD95DDD09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0ED2C3-5929-C044-3FC3-21AF93EA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28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CAE20E6-F64E-9005-69A9-509318F75440}"/>
              </a:ext>
            </a:extLst>
          </p:cNvPr>
          <p:cNvSpPr txBox="1"/>
          <p:nvPr/>
        </p:nvSpPr>
        <p:spPr>
          <a:xfrm>
            <a:off x="4246677" y="1847850"/>
            <a:ext cx="73501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/>
              <a:t>Gasgeräte Art B3 sind Gasgeräte, die zum Anschluss an eine einfach oder mehrfach belegte bauseits</a:t>
            </a:r>
            <a:r>
              <a:rPr lang="de-DE" dirty="0"/>
              <a:t> </a:t>
            </a:r>
            <a:r>
              <a:rPr lang="de-DE" i="1" dirty="0"/>
              <a:t>vorhandene senkrechte Abgasanlage (Unterdruckbetrieb) vorgesehen sind. </a:t>
            </a:r>
          </a:p>
          <a:p>
            <a:r>
              <a:rPr lang="de-DE" i="1" dirty="0"/>
              <a:t>Alle unter Überdruck stehenden</a:t>
            </a:r>
            <a:r>
              <a:rPr lang="de-DE" dirty="0"/>
              <a:t> T</a:t>
            </a:r>
            <a:r>
              <a:rPr lang="de-DE" i="1" dirty="0"/>
              <a:t>eile des Abgasweges sind </a:t>
            </a:r>
            <a:r>
              <a:rPr lang="de-DE" i="1" dirty="0" err="1"/>
              <a:t>verbrennungsluftumspült</a:t>
            </a:r>
            <a:r>
              <a:rPr lang="de-DE" i="1" dirty="0"/>
              <a:t>.</a:t>
            </a:r>
            <a:r>
              <a:rPr lang="de-DE" dirty="0"/>
              <a:t> </a:t>
            </a:r>
            <a:r>
              <a:rPr lang="de-DE" i="1" dirty="0"/>
              <a:t>Die Verbrennungsluft wird, als eine unter Überdruck stehende Abgasleitung im Aufstellraum </a:t>
            </a:r>
            <a:r>
              <a:rPr lang="de-DE" i="1" dirty="0" err="1"/>
              <a:t>umspülende</a:t>
            </a:r>
            <a:endParaRPr lang="de-DE" dirty="0"/>
          </a:p>
          <a:p>
            <a:r>
              <a:rPr lang="de-DE" i="1" dirty="0"/>
              <a:t>Gegenströmung, dem Gasgerät </a:t>
            </a:r>
            <a:r>
              <a:rPr lang="de-DE" i="1" dirty="0" err="1"/>
              <a:t>zugeführt</a:t>
            </a:r>
            <a:r>
              <a:rPr lang="de-DE" i="1" dirty="0"/>
              <a:t>. Sie wird durch Öffnungen in der Verbrennungsluftleitung, die</a:t>
            </a:r>
            <a:r>
              <a:rPr lang="de-DE" dirty="0"/>
              <a:t> </a:t>
            </a:r>
            <a:r>
              <a:rPr lang="de-DE" i="1" dirty="0"/>
              <a:t>direkt vor dem Schacht der Abgasleitung angeordnet sind, dem Raum entnommen. Der senkrechte Teil</a:t>
            </a:r>
            <a:endParaRPr lang="de-DE" dirty="0"/>
          </a:p>
          <a:p>
            <a:r>
              <a:rPr lang="de-DE" i="1" dirty="0"/>
              <a:t>der Abgasanlage besteht aus einer bauseits vorhandenen Abgasleitung, die im Unterdruck betrieben wird.</a:t>
            </a:r>
            <a:r>
              <a:rPr lang="de-DE" dirty="0"/>
              <a:t> </a:t>
            </a:r>
            <a:r>
              <a:rPr lang="de-DE" i="1" dirty="0"/>
              <a:t>Die Dimensionierung des senkrechten Teiles der Abgasanlage sowie die Art und Anzahl der anzuschließenden</a:t>
            </a:r>
            <a:endParaRPr lang="de-DE" dirty="0"/>
          </a:p>
          <a:p>
            <a:r>
              <a:rPr lang="de-DE" i="1" dirty="0"/>
              <a:t>Gasgeräte ist im DVGW Arbeitsblatt G 637-1 (dort als D3.1 bezeichnet) festgelegt.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4182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19C674-A141-519E-51BD-17BF65DA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Art B4 – Gasgerät Art B mit Strömungssicherung und mit zugehöriger Abgasleitung und Windschutzeinrichtung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F95A811-E6B6-3CDB-C211-37B50FC00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2159794"/>
            <a:ext cx="8559800" cy="3683000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CD93E7-4D76-4CDE-D0A3-542C57B8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8BB98F-0877-3F03-E7E3-6F2BE3FD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BC96B5-0753-5712-2EFE-5076853C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949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37645-FD79-1562-8294-1B8C2E66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Art B5 – Gasgerät Art B ohne Strömungssicherung und mit zugehöriger Abgasleitung und Windschutzeinrichtung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85514D73-25A8-F0E2-3570-0670EDD72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2987026"/>
            <a:ext cx="8559800" cy="3136900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5906AD-0291-0B60-EF69-5ED5A52B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A47716-5F7E-BBB4-C83D-4BC96B6C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2B74F5-2371-7184-BAF1-9A943B87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200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F4881C-02FA-7DB7-2BB2-954A3E9D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Sonderform Art B5_S – Gasgerät Art B ohne Strömungssicherung und mit zugehöriger Abgasleitung und Windschutzeinrichtung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15B9C5-0B38-803B-65AF-C5060539B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i="1" dirty="0"/>
              <a:t>Bei der Sonderform Art B5_S werden die Abgase grundsätzlich im Überdruck </a:t>
            </a:r>
            <a:r>
              <a:rPr lang="de-DE" i="1" dirty="0" err="1"/>
              <a:t>abgeführt</a:t>
            </a:r>
            <a:r>
              <a:rPr lang="de-DE" i="1" dirty="0"/>
              <a:t>. Alle unter Überdruck</a:t>
            </a:r>
            <a:r>
              <a:rPr lang="de-DE" dirty="0"/>
              <a:t> </a:t>
            </a:r>
            <a:r>
              <a:rPr lang="de-DE" i="1" dirty="0"/>
              <a:t>stehenden Teile des Abgasweges sind </a:t>
            </a:r>
            <a:r>
              <a:rPr lang="de-DE" i="1" dirty="0" err="1"/>
              <a:t>verbrennungsluftumspült</a:t>
            </a:r>
            <a:r>
              <a:rPr lang="de-DE" i="1" dirty="0"/>
              <a:t> oder </a:t>
            </a:r>
            <a:r>
              <a:rPr lang="de-DE" i="1" dirty="0" err="1"/>
              <a:t>belüftet</a:t>
            </a:r>
            <a:r>
              <a:rPr lang="de-DE" i="1" dirty="0"/>
              <a:t>. Der senkrechte Teil</a:t>
            </a:r>
            <a:r>
              <a:rPr lang="de-DE" dirty="0"/>
              <a:t> </a:t>
            </a:r>
            <a:r>
              <a:rPr lang="de-DE" i="1" dirty="0"/>
              <a:t>der Abgasleitung ist in einem bauseits vorhandenen </a:t>
            </a:r>
            <a:r>
              <a:rPr lang="de-DE" i="1" dirty="0" err="1"/>
              <a:t>belüfteten</a:t>
            </a:r>
            <a:r>
              <a:rPr lang="de-DE" i="1" dirty="0"/>
              <a:t> Schacht verlegt.</a:t>
            </a: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E779F8-0674-D59B-E406-92C1466F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5A6A0E-C32A-0E8D-235E-A3D7F2DF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ADDCC5-0E4B-7FA5-A75D-A81A731D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31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3366756-CEF1-ACF6-FEC6-90D1A1A06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927" y="3429000"/>
            <a:ext cx="6199909" cy="333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1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055E3-BADC-6AF7-70A2-626D07DB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Zusatzkennzeichnungen für B-Geräte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C74E5C-9EEE-8F69-6487-F59689D38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 = die </a:t>
            </a:r>
            <a:r>
              <a:rPr lang="de-DE" dirty="0" err="1"/>
              <a:t>Abgeasleitung</a:t>
            </a:r>
            <a:r>
              <a:rPr lang="de-DE" dirty="0"/>
              <a:t> wird bestimmungsgemäß im Überdruck betrieben </a:t>
            </a:r>
          </a:p>
          <a:p>
            <a:r>
              <a:rPr lang="de-DE" dirty="0"/>
              <a:t>D = sind Gasgeräte Art B2, bei denen die feuchte Trocknungsluft gemeinsam mit Abgasanteilen über eine Leitung direkt ins Freie geführt wird (z. B. gasbeheizte Haushalts-Wäschetrockner).</a:t>
            </a:r>
          </a:p>
          <a:p>
            <a:r>
              <a:rPr lang="de-DE" dirty="0"/>
              <a:t>BS = Einrichtung zur Abgasüberwachung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13A418-A151-CDC0-B990-37C391B7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772E81-6C86-0255-40BE-2D95FFDEE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9E3D9C-9E63-6906-157E-DAA7EED44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05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C54A8C-7166-4F30-9141-9EC6C58D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Zusammenfassung: B- Geräte</a:t>
            </a:r>
          </a:p>
        </p:txBody>
      </p:sp>
      <p:pic>
        <p:nvPicPr>
          <p:cNvPr id="8" name="Inhaltsplatzhalter 7" descr="Ein Bild, das Text, Quittung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AE9C74B-C62F-7794-8047-F43CEC77F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458" y="1825625"/>
            <a:ext cx="7433083" cy="4351338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D6DB7C-2CF0-8310-22EF-A976E104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817E1A-B0EF-769D-293A-6B1DACEC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CAF4A1-905F-0DEA-35AD-22ACC228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304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F82AA-FA3C-A35B-EBA4-650862BF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1: Erstelle einen Steckbrief für folgende Anlage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14DB58-7FCA-A355-3278-3E29BDB9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27.08.25 / LIV-Hessen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93AFEC-6E19-2717-0093-858B0F5E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6A92DA-B193-3F16-2314-E8C66B7A6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34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2B10C13-24CE-BAC8-8CE0-288074C5B911}"/>
              </a:ext>
            </a:extLst>
          </p:cNvPr>
          <p:cNvSpPr txBox="1"/>
          <p:nvPr/>
        </p:nvSpPr>
        <p:spPr>
          <a:xfrm>
            <a:off x="1224809" y="1985963"/>
            <a:ext cx="60234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Nach welchen Verordnungen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Wie oft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Welche Grenzwerte sind einzuhalten?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Geräteart nach TRGI (A,B,C-Gerät)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Gerätefunktion und Aufbau </a:t>
            </a:r>
          </a:p>
          <a:p>
            <a:pPr marL="285750" indent="-285750">
              <a:buFontTx/>
              <a:buChar char="-"/>
            </a:pPr>
            <a:r>
              <a:rPr lang="de-DE" dirty="0"/>
              <a:t>Eingesetzte Brennstoffe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201D2F5-EA79-9B6D-26AE-2AB0C0475C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58768" y="1649195"/>
            <a:ext cx="5478460" cy="418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23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1C94D-E196-B6E0-7ED6-AE43C36C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36CE6-B2FF-0CB0-031C-D673A769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2: Erstelle einen Steckbrief für folgende Anlage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C9ECBC-E181-E506-A825-799D4475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27.08.25 / LIV-Hessen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1E779D-D41B-C744-8A48-4B27DEDC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CB6CED-D549-70AB-EBAB-211B09F2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35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6DE8465-CACA-80E3-0357-13FC5AB29307}"/>
              </a:ext>
            </a:extLst>
          </p:cNvPr>
          <p:cNvSpPr txBox="1"/>
          <p:nvPr/>
        </p:nvSpPr>
        <p:spPr>
          <a:xfrm>
            <a:off x="1224809" y="1985963"/>
            <a:ext cx="60234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Nach welchen Verordnungen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Wie oft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Welche Grenzwerte sind einzuhalten?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Geräteart nach TRGI (A,B,C-Gerät)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Gerätefunktion und Aufbau </a:t>
            </a:r>
          </a:p>
          <a:p>
            <a:pPr marL="285750" indent="-285750">
              <a:buFontTx/>
              <a:buChar char="-"/>
            </a:pPr>
            <a:r>
              <a:rPr lang="de-DE" dirty="0"/>
              <a:t>Eingesetzte Brennstoffe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1DAB008-29F6-F039-A277-A632CE55ED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56876" y="1670324"/>
            <a:ext cx="5139341" cy="385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21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44794-CDDF-D255-869D-49A77C77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A93DD3-031B-A52D-0D39-1B0DA02A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3: Erstelle einen Steckbrief für folgende Anlage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C3D29D-39AE-9F56-1902-D13DE77DC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27.08.25 / LIV-Hessen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1A30FD-7D93-10DA-BA98-2A3642FE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497301-0F40-443E-2948-3359E225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36</a:t>
            </a:fld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A74A6D9F-EFBF-C6BB-37FF-2939021FC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1" t="31302" r="681" b="1"/>
          <a:stretch>
            <a:fillRect/>
          </a:stretch>
        </p:blipFill>
        <p:spPr>
          <a:xfrm rot="5400000">
            <a:off x="6786534" y="3053587"/>
            <a:ext cx="5028995" cy="230319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E60905A-D5E4-63FC-C7FE-483CDEAB4A0F}"/>
              </a:ext>
            </a:extLst>
          </p:cNvPr>
          <p:cNvSpPr txBox="1"/>
          <p:nvPr/>
        </p:nvSpPr>
        <p:spPr>
          <a:xfrm>
            <a:off x="1224809" y="1985963"/>
            <a:ext cx="60234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Nach welchen Verordnungen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Wie oft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Welche Grenzwerte sind einzuhalten?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Geräteart nach TRGI (A,B,C-Gerät)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Gerätefunktion und Aufbau </a:t>
            </a:r>
          </a:p>
          <a:p>
            <a:pPr marL="285750" indent="-285750">
              <a:buFontTx/>
              <a:buChar char="-"/>
            </a:pPr>
            <a:r>
              <a:rPr lang="de-DE" dirty="0"/>
              <a:t>Eingesetzte Brennstoffe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916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1502-C7D5-F625-4C23-34E2B786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95606-32DC-09A0-84DB-975A252D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4: Erstelle einen Steckbrief für folgende Anlagen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8288C2-6CF8-684E-84EA-643E3684B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27.08.25 / LIV-Hessen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8BD1D3-381F-BCFD-C178-0E1ECC9D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4B7BFD-35EA-8E1A-D9AE-3A255CBD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37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82EF34-F0AB-ECB0-3DF1-6840D7336236}"/>
              </a:ext>
            </a:extLst>
          </p:cNvPr>
          <p:cNvSpPr txBox="1"/>
          <p:nvPr/>
        </p:nvSpPr>
        <p:spPr>
          <a:xfrm>
            <a:off x="1224809" y="1985963"/>
            <a:ext cx="60234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Nach welchen Verordnungen werden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Wie oft werden diese Anlagen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Welche Grenzwerte sind einzuhalten? 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Geräteart nach TRGI (A,B,C-Gerät)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Gerätefunktion und Aufbau </a:t>
            </a:r>
          </a:p>
          <a:p>
            <a:pPr marL="285750" indent="-285750">
              <a:buFontTx/>
              <a:buChar char="-"/>
            </a:pPr>
            <a:r>
              <a:rPr lang="de-DE" dirty="0"/>
              <a:t>Eingesetzte Brennstoffe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2" name="Grafik 11" descr="Ein Bild, das Im Haus, Maschine, Haushaltsgerät, Waschbecken enthält.&#10;&#10;KI-generierte Inhalte können fehlerhaft sein.">
            <a:extLst>
              <a:ext uri="{FF2B5EF4-FFF2-40B4-BE49-F238E27FC236}">
                <a16:creationId xmlns:a16="http://schemas.microsoft.com/office/drawing/2014/main" id="{D2EA65C6-2844-2AFA-DD87-34D5D45CA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012" y="2398218"/>
            <a:ext cx="5656480" cy="395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85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.04.07 LIV Präsentationen Leer" id="{002AE890-1006-42CB-85B7-8032FE866078}" vid="{B3EA7B02-DA67-431F-9371-88E6F723418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2016</Words>
  <Application>Microsoft Macintosh PowerPoint</Application>
  <PresentationFormat>Breitbild</PresentationFormat>
  <Paragraphs>344</Paragraphs>
  <Slides>37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</vt:lpstr>
      <vt:lpstr>Feuerstätten fest, flüssig, gasförmig </vt:lpstr>
      <vt:lpstr>Einzelraumfeuerungsanlagen für feste Brst.</vt:lpstr>
      <vt:lpstr>Definition: 1. BImSchV</vt:lpstr>
      <vt:lpstr>Dauerbrand/ Zeitbrand </vt:lpstr>
      <vt:lpstr>Aufbau und Abbrandtechniken</vt:lpstr>
      <vt:lpstr>Wärmeleitung / Wärmeabgabe über ? </vt:lpstr>
      <vt:lpstr>PowerPoint-Präsentation</vt:lpstr>
      <vt:lpstr>Grundofen </vt:lpstr>
      <vt:lpstr>Aufbau eines Grundkachelofens</vt:lpstr>
      <vt:lpstr>Warmluftkachelofen</vt:lpstr>
      <vt:lpstr>PowerPoint-Präsentation</vt:lpstr>
      <vt:lpstr>Offener Kamin, Bauart A</vt:lpstr>
      <vt:lpstr>Offener Kamin, Bauart B</vt:lpstr>
      <vt:lpstr>Grundsätzlicher Aufbau eines offenen Kamins Bauart A und B </vt:lpstr>
      <vt:lpstr>PowerPoint-Präsentation</vt:lpstr>
      <vt:lpstr>Unterscheidung der Feuerstätten in </vt:lpstr>
      <vt:lpstr>Brennwertfeuerstätten</vt:lpstr>
      <vt:lpstr>PowerPoint-Präsentation</vt:lpstr>
      <vt:lpstr>Brennwertfeuerstätte mit nachgeschaltetem zweitem Wärmetauscher </vt:lpstr>
      <vt:lpstr>Erhöhte Anforderungen an Brennwertfeuerstätten</vt:lpstr>
      <vt:lpstr>Erhöhte Anforderungen an Brennwertfeuerstätten</vt:lpstr>
      <vt:lpstr>Kondensatableitung: </vt:lpstr>
      <vt:lpstr>Kondensatableitung:</vt:lpstr>
      <vt:lpstr>Geräteklassifizierung A,B,C </vt:lpstr>
      <vt:lpstr>Geräteklassifizierung A,B,C </vt:lpstr>
      <vt:lpstr>Strömungssicherung</vt:lpstr>
      <vt:lpstr>Art B2 – Gasgerät Art B ohne Strömungssicherung </vt:lpstr>
      <vt:lpstr>Art B3 – Gasgerät Art B ohne Strömungssicherung einschließlich Luft-Abgas-Verbindungsstück</vt:lpstr>
      <vt:lpstr>Art B4 – Gasgerät Art B mit Strömungssicherung und mit zugehöriger Abgasleitung und Windschutzeinrichtung</vt:lpstr>
      <vt:lpstr>Art B5 – Gasgerät Art B ohne Strömungssicherung und mit zugehöriger Abgasleitung und Windschutzeinrichtung</vt:lpstr>
      <vt:lpstr>Sonderform Art B5_S – Gasgerät Art B ohne Strömungssicherung und mit zugehöriger Abgasleitung und Windschutzeinrichtung</vt:lpstr>
      <vt:lpstr>Zusatzkennzeichnungen für B-Geräte</vt:lpstr>
      <vt:lpstr>Zusammenfassung: B- Geräte</vt:lpstr>
      <vt:lpstr>Aufgabe 1: Erstelle einen Steckbrief für folgende Anlage</vt:lpstr>
      <vt:lpstr>Aufgabe 2: Erstelle einen Steckbrief für folgende Anlage</vt:lpstr>
      <vt:lpstr>Aufgabe 3: Erstelle einen Steckbrief für folgende Anlage</vt:lpstr>
      <vt:lpstr>Aufgabe 4: Erstelle einen Steckbrief für folgende Anlagen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LIV Hessen - Schneider, Marcel</dc:creator>
  <cp:lastModifiedBy>LIV Hessen - Schneider, Marcel</cp:lastModifiedBy>
  <cp:revision>6</cp:revision>
  <cp:lastPrinted>2025-11-05T10:03:54Z</cp:lastPrinted>
  <dcterms:created xsi:type="dcterms:W3CDTF">2025-09-16T15:17:23Z</dcterms:created>
  <dcterms:modified xsi:type="dcterms:W3CDTF">2026-09-01T09:50:33Z</dcterms:modified>
</cp:coreProperties>
</file>
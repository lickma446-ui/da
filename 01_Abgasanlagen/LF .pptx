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56" r:id="rId2"/>
    <p:sldId id="258" r:id="rId3"/>
    <p:sldId id="259" r:id="rId4"/>
    <p:sldId id="260" r:id="rId5"/>
    <p:sldId id="385" r:id="rId6"/>
    <p:sldId id="380" r:id="rId7"/>
    <p:sldId id="460" r:id="rId8"/>
    <p:sldId id="461" r:id="rId9"/>
    <p:sldId id="261" r:id="rId10"/>
    <p:sldId id="462" r:id="rId11"/>
    <p:sldId id="472" r:id="rId12"/>
    <p:sldId id="473" r:id="rId13"/>
    <p:sldId id="463" r:id="rId14"/>
    <p:sldId id="474" r:id="rId15"/>
    <p:sldId id="464" r:id="rId16"/>
    <p:sldId id="465" r:id="rId17"/>
    <p:sldId id="466" r:id="rId18"/>
    <p:sldId id="275" r:id="rId19"/>
    <p:sldId id="272" r:id="rId20"/>
    <p:sldId id="273" r:id="rId21"/>
    <p:sldId id="274" r:id="rId22"/>
    <p:sldId id="271" r:id="rId23"/>
    <p:sldId id="467" r:id="rId24"/>
    <p:sldId id="469" r:id="rId25"/>
    <p:sldId id="470" r:id="rId26"/>
    <p:sldId id="475" r:id="rId27"/>
    <p:sldId id="482" r:id="rId28"/>
    <p:sldId id="477" r:id="rId29"/>
    <p:sldId id="478" r:id="rId30"/>
    <p:sldId id="479" r:id="rId31"/>
    <p:sldId id="480" r:id="rId32"/>
    <p:sldId id="481" r:id="rId33"/>
    <p:sldId id="483" r:id="rId34"/>
    <p:sldId id="484" r:id="rId35"/>
    <p:sldId id="485" r:id="rId36"/>
    <p:sldId id="486" r:id="rId37"/>
    <p:sldId id="487" r:id="rId38"/>
    <p:sldId id="476" r:id="rId3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15907E-0E80-8B48-BBAE-5F3B3943CE4A}" v="266" dt="2025-11-04T12:11:25.92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591" autoAdjust="0"/>
    <p:restoredTop sz="80147"/>
  </p:normalViewPr>
  <p:slideViewPr>
    <p:cSldViewPr snapToGrid="0">
      <p:cViewPr>
        <p:scale>
          <a:sx n="72" d="100"/>
          <a:sy n="72" d="100"/>
        </p:scale>
        <p:origin x="14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7D1B2B7-D580-53D0-2FB6-DDC4FF187E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366882A8-EC36-29EA-12FD-6D76F2A7E2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de-DE"/>
              <a:t>07.04.2023 / LIV-Hessen</a:t>
            </a:r>
          </a:p>
        </p:txBody>
      </p:sp>
      <p:sp>
        <p:nvSpPr>
          <p:cNvPr id="4" name="Fußzeilenplatzhalter 3">
            <a:extLst>
              <a:ext uri="{FF2B5EF4-FFF2-40B4-BE49-F238E27FC236}">
                <a16:creationId xmlns:a16="http://schemas.microsoft.com/office/drawing/2014/main" id="{E1676B97-3BEE-78B1-8E77-0D65F03C60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Anlass / Referent</a:t>
            </a:r>
          </a:p>
        </p:txBody>
      </p:sp>
      <p:sp>
        <p:nvSpPr>
          <p:cNvPr id="5" name="Foliennummernplatzhalter 4">
            <a:extLst>
              <a:ext uri="{FF2B5EF4-FFF2-40B4-BE49-F238E27FC236}">
                <a16:creationId xmlns:a16="http://schemas.microsoft.com/office/drawing/2014/main" id="{F3556428-90EA-5750-E459-2825BD2F30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43D65E-FE1E-4DB3-A5CF-A4ED16A6BEA8}" type="slidenum">
              <a:rPr lang="de-DE" smtClean="0"/>
              <a:t>‹Nr.›</a:t>
            </a:fld>
            <a:endParaRPr lang="de-DE"/>
          </a:p>
        </p:txBody>
      </p:sp>
    </p:spTree>
    <p:extLst>
      <p:ext uri="{BB962C8B-B14F-4D97-AF65-F5344CB8AC3E}">
        <p14:creationId xmlns:p14="http://schemas.microsoft.com/office/powerpoint/2010/main" val="358125537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de-DE"/>
              <a:t>07.04.2023 / LIV-Hessen</a:t>
            </a:r>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Anlass / Referent</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E1F30-56F3-47C0-99C3-5AA11894AB03}" type="slidenum">
              <a:rPr lang="de-DE" smtClean="0"/>
              <a:t>‹Nr.›</a:t>
            </a:fld>
            <a:endParaRPr lang="de-DE"/>
          </a:p>
        </p:txBody>
      </p:sp>
    </p:spTree>
    <p:extLst>
      <p:ext uri="{BB962C8B-B14F-4D97-AF65-F5344CB8AC3E}">
        <p14:creationId xmlns:p14="http://schemas.microsoft.com/office/powerpoint/2010/main" val="1919026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5</a:t>
            </a:fld>
            <a:endParaRPr lang="de-DE"/>
          </a:p>
        </p:txBody>
      </p:sp>
    </p:spTree>
    <p:extLst>
      <p:ext uri="{BB962C8B-B14F-4D97-AF65-F5344CB8AC3E}">
        <p14:creationId xmlns:p14="http://schemas.microsoft.com/office/powerpoint/2010/main" val="501866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nSpc>
                <a:spcPct val="107000"/>
              </a:lnSpc>
              <a:spcAft>
                <a:spcPts val="800"/>
              </a:spcAft>
            </a:pPr>
            <a:r>
              <a:rPr lang="de-DE" sz="1800" dirty="0">
                <a:effectLst/>
                <a:latin typeface="Arial" panose="020B0604020202020204" pitchFamily="34" charset="0"/>
                <a:ea typeface="Times New Roman" panose="02020603050405020304" pitchFamily="18" charset="0"/>
                <a:cs typeface="Times New Roman" panose="02020603050405020304" pitchFamily="18" charset="0"/>
              </a:rPr>
              <a:t>Grundsätzlich sind Abgase von Feuerstätten durch Abgasleitungen, Schornsteine und Verbindungsstücke (Abgasanlagen) so abzuführen, dass keine Gefahren oder unzumutbaren Belästigungen entstehen.</a:t>
            </a:r>
          </a:p>
          <a:p>
            <a:pPr>
              <a:lnSpc>
                <a:spcPct val="107000"/>
              </a:lnSpc>
              <a:spcAft>
                <a:spcPts val="800"/>
              </a:spcAft>
            </a:pPr>
            <a:r>
              <a:rPr lang="de-DE" sz="1800" dirty="0">
                <a:effectLst/>
                <a:latin typeface="Arial" panose="020B0604020202020204" pitchFamily="34" charset="0"/>
                <a:ea typeface="Times New Roman" panose="02020603050405020304" pitchFamily="18" charset="0"/>
                <a:cs typeface="Times New Roman" panose="02020603050405020304" pitchFamily="18" charset="0"/>
              </a:rPr>
              <a:t>Hierzu sind je nach Anlagenkonstellationen ggf. eine Dichtheitsprüfung im Rahmen der baurechtlichen Bewertung erforderlich. Die </a:t>
            </a:r>
            <a:r>
              <a:rPr lang="de-DE" sz="1800" i="1" dirty="0">
                <a:effectLst/>
                <a:latin typeface="Arial" panose="020B0604020202020204" pitchFamily="34" charset="0"/>
                <a:ea typeface="Times New Roman" panose="02020603050405020304" pitchFamily="18" charset="0"/>
                <a:cs typeface="Times New Roman" panose="02020603050405020304" pitchFamily="18" charset="0"/>
              </a:rPr>
              <a:t>- Arbeitshilfe - für die Durchführung von Dichtheitsprüfungen an Überdruck-Abgasleitungen zur Beurteilung der sicheren Benutzbarkeit</a:t>
            </a:r>
            <a:r>
              <a:rPr lang="de-DE" sz="1800" dirty="0">
                <a:effectLst/>
                <a:latin typeface="Arial" panose="020B0604020202020204" pitchFamily="34" charset="0"/>
                <a:ea typeface="Times New Roman" panose="02020603050405020304" pitchFamily="18" charset="0"/>
                <a:cs typeface="Times New Roman" panose="02020603050405020304" pitchFamily="18" charset="0"/>
              </a:rPr>
              <a:t> gibt hier weiterführende Informationen </a:t>
            </a: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6</a:t>
            </a:fld>
            <a:endParaRPr lang="de-DE"/>
          </a:p>
        </p:txBody>
      </p:sp>
    </p:spTree>
    <p:extLst>
      <p:ext uri="{BB962C8B-B14F-4D97-AF65-F5344CB8AC3E}">
        <p14:creationId xmlns:p14="http://schemas.microsoft.com/office/powerpoint/2010/main" val="356692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i="1" dirty="0">
                <a:effectLst/>
                <a:latin typeface="Helvetica" pitchFamily="2" charset="0"/>
              </a:rPr>
              <a:t>Abgasanlagen –</a:t>
            </a:r>
            <a:endParaRPr lang="de-DE" dirty="0">
              <a:effectLst/>
              <a:latin typeface="Helvetica" pitchFamily="2" charset="0"/>
            </a:endParaRPr>
          </a:p>
          <a:p>
            <a:r>
              <a:rPr lang="de-DE" i="1" dirty="0">
                <a:effectLst/>
                <a:latin typeface="Helvetica" pitchFamily="2" charset="0"/>
              </a:rPr>
              <a:t>Planung, Montage und Abnahme von Abgasanlagen –</a:t>
            </a:r>
            <a:endParaRPr lang="de-DE" dirty="0">
              <a:effectLst/>
              <a:latin typeface="Helvetica" pitchFamily="2" charset="0"/>
            </a:endParaRPr>
          </a:p>
          <a:p>
            <a:r>
              <a:rPr lang="de-DE" i="1" dirty="0">
                <a:effectLst/>
                <a:latin typeface="Helvetica" pitchFamily="2" charset="0"/>
              </a:rPr>
              <a:t>Teil 2: Abgasanlagen </a:t>
            </a:r>
            <a:r>
              <a:rPr lang="de-DE" i="1" dirty="0" err="1">
                <a:effectLst/>
                <a:latin typeface="Helvetica" pitchFamily="2" charset="0"/>
              </a:rPr>
              <a:t>für</a:t>
            </a:r>
            <a:r>
              <a:rPr lang="de-DE" i="1" dirty="0">
                <a:effectLst/>
                <a:latin typeface="Helvetica" pitchFamily="2" charset="0"/>
              </a:rPr>
              <a:t> raumluftunabhängige Feuerstätten;</a:t>
            </a:r>
            <a:endParaRPr lang="de-DE" dirty="0">
              <a:effectLst/>
              <a:latin typeface="Helvetica" pitchFamily="2" charset="0"/>
            </a:endParaRPr>
          </a:p>
          <a:p>
            <a:r>
              <a:rPr lang="de-DE" i="1" dirty="0">
                <a:effectLst/>
                <a:latin typeface="Helvetica" pitchFamily="2" charset="0"/>
              </a:rPr>
              <a:t>Deutsche Fassung EN 15287-2:2008</a:t>
            </a:r>
            <a:endParaRPr lang="de-DE" dirty="0">
              <a:effectLst/>
              <a:latin typeface="Helvetica" pitchFamily="2" charset="0"/>
            </a:endParaRP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7</a:t>
            </a:fld>
            <a:endParaRPr lang="de-DE"/>
          </a:p>
        </p:txBody>
      </p:sp>
    </p:spTree>
    <p:extLst>
      <p:ext uri="{BB962C8B-B14F-4D97-AF65-F5344CB8AC3E}">
        <p14:creationId xmlns:p14="http://schemas.microsoft.com/office/powerpoint/2010/main" val="1181180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13</a:t>
            </a:fld>
            <a:endParaRPr lang="de-DE"/>
          </a:p>
        </p:txBody>
      </p:sp>
    </p:spTree>
    <p:extLst>
      <p:ext uri="{BB962C8B-B14F-4D97-AF65-F5344CB8AC3E}">
        <p14:creationId xmlns:p14="http://schemas.microsoft.com/office/powerpoint/2010/main" val="431567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14</a:t>
            </a:fld>
            <a:endParaRPr lang="de-DE"/>
          </a:p>
        </p:txBody>
      </p:sp>
    </p:spTree>
    <p:extLst>
      <p:ext uri="{BB962C8B-B14F-4D97-AF65-F5344CB8AC3E}">
        <p14:creationId xmlns:p14="http://schemas.microsoft.com/office/powerpoint/2010/main" val="622396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i="1" kern="1200" dirty="0">
                <a:solidFill>
                  <a:schemeClr val="tx1"/>
                </a:solidFill>
                <a:effectLst/>
                <a:latin typeface="+mn-lt"/>
                <a:ea typeface="+mn-ea"/>
                <a:cs typeface="+mn-cs"/>
              </a:rPr>
              <a:t>T400 N2 D 3 G 50 LA90</a:t>
            </a:r>
            <a:endParaRPr lang="de-DE" sz="1200" kern="1200" dirty="0">
              <a:solidFill>
                <a:schemeClr val="tx1"/>
              </a:solidFill>
              <a:effectLst/>
              <a:latin typeface="+mn-lt"/>
              <a:ea typeface="+mn-ea"/>
              <a:cs typeface="+mn-cs"/>
            </a:endParaRP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15</a:t>
            </a:fld>
            <a:endParaRPr lang="de-DE"/>
          </a:p>
        </p:txBody>
      </p:sp>
    </p:spTree>
    <p:extLst>
      <p:ext uri="{BB962C8B-B14F-4D97-AF65-F5344CB8AC3E}">
        <p14:creationId xmlns:p14="http://schemas.microsoft.com/office/powerpoint/2010/main" val="547345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i="1" kern="1200" dirty="0">
                <a:solidFill>
                  <a:schemeClr val="tx1"/>
                </a:solidFill>
                <a:effectLst/>
                <a:latin typeface="+mn-lt"/>
                <a:ea typeface="+mn-ea"/>
                <a:cs typeface="+mn-cs"/>
              </a:rPr>
              <a:t>T120 P1 W 1 O 00 LA90</a:t>
            </a:r>
            <a:endParaRPr lang="de-DE" sz="1200" kern="1200" dirty="0">
              <a:solidFill>
                <a:schemeClr val="tx1"/>
              </a:solidFill>
              <a:effectLst/>
              <a:latin typeface="+mn-lt"/>
              <a:ea typeface="+mn-ea"/>
              <a:cs typeface="+mn-cs"/>
            </a:endParaRP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16</a:t>
            </a:fld>
            <a:endParaRPr lang="de-DE"/>
          </a:p>
        </p:txBody>
      </p:sp>
    </p:spTree>
    <p:extLst>
      <p:ext uri="{BB962C8B-B14F-4D97-AF65-F5344CB8AC3E}">
        <p14:creationId xmlns:p14="http://schemas.microsoft.com/office/powerpoint/2010/main" val="2335998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342900" lvl="0" indent="-342900" algn="just">
              <a:spcBef>
                <a:spcPts val="300"/>
              </a:spcBef>
              <a:buSzPts val="1000"/>
              <a:buFont typeface="Symbol" pitchFamily="2" charset="2"/>
              <a:buChar char=""/>
              <a:tabLst>
                <a:tab pos="180340" algn="l"/>
                <a:tab pos="180340" algn="l"/>
              </a:tabLst>
            </a:pPr>
            <a:r>
              <a:rPr lang="de-DE" sz="1000" dirty="0">
                <a:effectLst/>
                <a:latin typeface="+mn-lt"/>
                <a:ea typeface="+mn-ea"/>
                <a:cs typeface="+mn-cs"/>
              </a:rPr>
              <a:t>7. </a:t>
            </a:r>
            <a:r>
              <a:rPr lang="de-DE" sz="1200" dirty="0">
                <a:effectLst/>
                <a:latin typeface="Arial" panose="020B0604020202020204" pitchFamily="34" charset="0"/>
                <a:ea typeface="Times New Roman" panose="02020603050405020304" pitchFamily="18" charset="0"/>
                <a:cs typeface="Arial" panose="020B0604020202020204" pitchFamily="34" charset="0"/>
              </a:rPr>
              <a:t>= Allgemeine bauaufsichtliche Zulassung	</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80340" indent="-180340" algn="just">
              <a:spcBef>
                <a:spcPts val="300"/>
              </a:spcBef>
              <a:spcAft>
                <a:spcPts val="0"/>
              </a:spcAft>
              <a:tabLst>
                <a:tab pos="180340" algn="l"/>
                <a:tab pos="180340" algn="l"/>
              </a:tabLst>
            </a:pPr>
            <a:r>
              <a:rPr lang="de-DE" sz="1200" dirty="0">
                <a:effectLst/>
                <a:latin typeface="Arial" panose="020B0604020202020204" pitchFamily="34" charset="0"/>
                <a:ea typeface="Times New Roman" panose="02020603050405020304" pitchFamily="18" charset="0"/>
                <a:cs typeface="Arial" panose="020B0604020202020204" pitchFamily="34" charset="0"/>
              </a:rPr>
              <a:t>Dieses Dokument stellt einen nationalen Nachweis für die Verwendbarkeit von Bauprodukten dar. Es regelt die Eigenschaften des Bauprodukts, seine Anwendungsbereiche, Verarbeitung, Transport, Lagerung sowie die Kennzeichnung und die Bestätigung der Übereinstimmung.</a:t>
            </a:r>
            <a:r>
              <a:rPr lang="de-DE" sz="1200" dirty="0">
                <a:effectLst/>
                <a:latin typeface="Arial" panose="020B0604020202020204" pitchFamily="34" charset="0"/>
                <a:ea typeface="Times New Roman" panose="02020603050405020304" pitchFamily="18" charset="0"/>
                <a:cs typeface="Times New Roman" panose="02020603050405020304" pitchFamily="18" charset="0"/>
              </a:rPr>
              <a:t> </a:t>
            </a:r>
            <a:r>
              <a:rPr lang="de-DE" sz="1200" dirty="0">
                <a:effectLst/>
                <a:latin typeface="Arial" panose="020B0604020202020204" pitchFamily="34" charset="0"/>
                <a:ea typeface="Times New Roman" panose="02020603050405020304" pitchFamily="18" charset="0"/>
                <a:cs typeface="Arial" panose="020B0604020202020204" pitchFamily="34" charset="0"/>
              </a:rPr>
              <a:t> Meistens werden kombinierte Bescheide in Form von </a:t>
            </a:r>
            <a:r>
              <a:rPr lang="de-DE" sz="1200" dirty="0" err="1">
                <a:effectLst/>
                <a:latin typeface="Arial" panose="020B0604020202020204" pitchFamily="34" charset="0"/>
                <a:ea typeface="Times New Roman" panose="02020603050405020304" pitchFamily="18" charset="0"/>
                <a:cs typeface="Arial" panose="020B0604020202020204" pitchFamily="34" charset="0"/>
              </a:rPr>
              <a:t>abZ</a:t>
            </a:r>
            <a:r>
              <a:rPr lang="de-DE" sz="1200" dirty="0">
                <a:effectLst/>
                <a:latin typeface="Arial" panose="020B0604020202020204" pitchFamily="34" charset="0"/>
                <a:ea typeface="Times New Roman" panose="02020603050405020304" pitchFamily="18" charset="0"/>
                <a:cs typeface="Arial" panose="020B0604020202020204" pitchFamily="34" charset="0"/>
              </a:rPr>
              <a:t>/</a:t>
            </a:r>
            <a:r>
              <a:rPr lang="de-DE" sz="1200" dirty="0" err="1">
                <a:effectLst/>
                <a:latin typeface="Arial" panose="020B0604020202020204" pitchFamily="34" charset="0"/>
                <a:ea typeface="Times New Roman" panose="02020603050405020304" pitchFamily="18" charset="0"/>
                <a:cs typeface="Arial" panose="020B0604020202020204" pitchFamily="34" charset="0"/>
              </a:rPr>
              <a:t>aBG</a:t>
            </a:r>
            <a:r>
              <a:rPr lang="de-DE" sz="1200" dirty="0">
                <a:effectLst/>
                <a:latin typeface="Arial" panose="020B0604020202020204" pitchFamily="34" charset="0"/>
                <a:ea typeface="Times New Roman" panose="02020603050405020304" pitchFamily="18" charset="0"/>
                <a:cs typeface="Arial" panose="020B0604020202020204" pitchFamily="34" charset="0"/>
              </a:rPr>
              <a:t> ausgestellt. Es wird eine Allgemein bauaufsichtliche Zulassung benötigt, wenn </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Bef>
                <a:spcPts val="300"/>
              </a:spcBef>
              <a:spcAft>
                <a:spcPts val="0"/>
              </a:spcAft>
              <a:buFont typeface="Arial" panose="020B0604020202020204" pitchFamily="34" charset="0"/>
              <a:buChar char="-"/>
              <a:tabLst>
                <a:tab pos="180340" algn="l"/>
                <a:tab pos="180340" algn="l"/>
              </a:tabLst>
            </a:pPr>
            <a:r>
              <a:rPr lang="de-DE" sz="1200" dirty="0">
                <a:effectLst/>
                <a:latin typeface="Arial" panose="020B0604020202020204" pitchFamily="34" charset="0"/>
                <a:ea typeface="Times New Roman" panose="02020603050405020304" pitchFamily="18" charset="0"/>
                <a:cs typeface="Arial" panose="020B0604020202020204" pitchFamily="34" charset="0"/>
              </a:rPr>
              <a:t>es keine allgemein anerkannten Regeln der Technik und keine technische Baubestimmungen gibt,</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Bef>
                <a:spcPts val="300"/>
              </a:spcBef>
              <a:spcAft>
                <a:spcPts val="0"/>
              </a:spcAft>
              <a:buFont typeface="Arial" panose="020B0604020202020204" pitchFamily="34" charset="0"/>
              <a:buChar char="-"/>
              <a:tabLst>
                <a:tab pos="180340" algn="l"/>
                <a:tab pos="180340" algn="l"/>
              </a:tabLst>
            </a:pPr>
            <a:r>
              <a:rPr lang="de-DE" sz="1200" dirty="0">
                <a:effectLst/>
                <a:latin typeface="Arial" panose="020B0604020202020204" pitchFamily="34" charset="0"/>
                <a:ea typeface="Times New Roman" panose="02020603050405020304" pitchFamily="18" charset="0"/>
                <a:cs typeface="Arial" panose="020B0604020202020204" pitchFamily="34" charset="0"/>
              </a:rPr>
              <a:t>das Bauprodukt wesentlich von den Technischen Baubestimmungen abweicht oder </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Bef>
                <a:spcPts val="300"/>
              </a:spcBef>
              <a:spcAft>
                <a:spcPts val="0"/>
              </a:spcAft>
              <a:buFont typeface="Arial" panose="020B0604020202020204" pitchFamily="34" charset="0"/>
              <a:buChar char="-"/>
              <a:tabLst>
                <a:tab pos="180340" algn="l"/>
                <a:tab pos="180340" algn="l"/>
              </a:tabLst>
            </a:pPr>
            <a:r>
              <a:rPr lang="de-DE" sz="1200" dirty="0">
                <a:effectLst/>
                <a:latin typeface="Arial" panose="020B0604020202020204" pitchFamily="34" charset="0"/>
                <a:ea typeface="Times New Roman" panose="02020603050405020304" pitchFamily="18" charset="0"/>
                <a:cs typeface="Arial" panose="020B0604020202020204" pitchFamily="34" charset="0"/>
              </a:rPr>
              <a:t>eine Rechtsverordnung dies gesondert vorsieht. </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r>
              <a:rPr lang="de-DE" sz="1200" dirty="0">
                <a:effectLst/>
                <a:latin typeface="Arial" panose="020B0604020202020204" pitchFamily="34" charset="0"/>
                <a:ea typeface="Times New Roman" panose="02020603050405020304" pitchFamily="18" charset="0"/>
                <a:cs typeface="Times New Roman" panose="02020603050405020304" pitchFamily="18" charset="0"/>
              </a:rPr>
              <a:t> Definition vom DIBT zusammengefasst</a:t>
            </a: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19</a:t>
            </a:fld>
            <a:endParaRPr lang="de-DE"/>
          </a:p>
        </p:txBody>
      </p:sp>
    </p:spTree>
    <p:extLst>
      <p:ext uri="{BB962C8B-B14F-4D97-AF65-F5344CB8AC3E}">
        <p14:creationId xmlns:p14="http://schemas.microsoft.com/office/powerpoint/2010/main" val="888058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effectLst/>
                <a:latin typeface="Arial" panose="020B0604020202020204" pitchFamily="34" charset="0"/>
                <a:ea typeface="Times New Roman" panose="02020603050405020304" pitchFamily="18" charset="0"/>
                <a:cs typeface="Arial" panose="020B0604020202020204" pitchFamily="34" charset="0"/>
              </a:rPr>
              <a:t>Neben den Eigenschaften der einzelnen Bauprodukte kann es erforderlich sein, auch die Zusammenfügung dieser Produkte zu baulichen Anlagen oder Teilen von baulichen Anlagen ("Bauart") zu regulieren. Aspekte wie Planung, Bemessung, Ausführung, Betrieb und Wartung werden durch die allgemeine Bauartgenehmigung, kurz </a:t>
            </a:r>
            <a:r>
              <a:rPr lang="de-DE" sz="1200" dirty="0" err="1">
                <a:effectLst/>
                <a:latin typeface="Arial" panose="020B0604020202020204" pitchFamily="34" charset="0"/>
                <a:ea typeface="Times New Roman" panose="02020603050405020304" pitchFamily="18" charset="0"/>
                <a:cs typeface="Arial" panose="020B0604020202020204" pitchFamily="34" charset="0"/>
              </a:rPr>
              <a:t>aBG</a:t>
            </a:r>
            <a:r>
              <a:rPr lang="de-DE" sz="1200" dirty="0">
                <a:effectLst/>
                <a:latin typeface="Arial" panose="020B0604020202020204" pitchFamily="34" charset="0"/>
                <a:ea typeface="Times New Roman" panose="02020603050405020304" pitchFamily="18" charset="0"/>
                <a:cs typeface="Arial" panose="020B0604020202020204" pitchFamily="34" charset="0"/>
              </a:rPr>
              <a:t>, geregelt. Seit 2017 ersetzt die </a:t>
            </a:r>
            <a:r>
              <a:rPr lang="de-DE" sz="1200" dirty="0" err="1">
                <a:effectLst/>
                <a:latin typeface="Arial" panose="020B0604020202020204" pitchFamily="34" charset="0"/>
                <a:ea typeface="Times New Roman" panose="02020603050405020304" pitchFamily="18" charset="0"/>
                <a:cs typeface="Arial" panose="020B0604020202020204" pitchFamily="34" charset="0"/>
              </a:rPr>
              <a:t>aBG</a:t>
            </a:r>
            <a:r>
              <a:rPr lang="de-DE" sz="1200" dirty="0">
                <a:effectLst/>
                <a:latin typeface="Arial" panose="020B0604020202020204" pitchFamily="34" charset="0"/>
                <a:ea typeface="Times New Roman" panose="02020603050405020304" pitchFamily="18" charset="0"/>
                <a:cs typeface="Arial" panose="020B0604020202020204" pitchFamily="34" charset="0"/>
              </a:rPr>
              <a:t> die früher übliche Zulassung für Bauarten. Meistens werden kombinierte Bescheide in Form von </a:t>
            </a:r>
            <a:r>
              <a:rPr lang="de-DE" sz="1200" dirty="0" err="1">
                <a:effectLst/>
                <a:latin typeface="Arial" panose="020B0604020202020204" pitchFamily="34" charset="0"/>
                <a:ea typeface="Times New Roman" panose="02020603050405020304" pitchFamily="18" charset="0"/>
                <a:cs typeface="Arial" panose="020B0604020202020204" pitchFamily="34" charset="0"/>
              </a:rPr>
              <a:t>abZ</a:t>
            </a:r>
            <a:r>
              <a:rPr lang="de-DE" sz="1200" dirty="0">
                <a:effectLst/>
                <a:latin typeface="Arial" panose="020B0604020202020204" pitchFamily="34" charset="0"/>
                <a:ea typeface="Times New Roman" panose="02020603050405020304" pitchFamily="18" charset="0"/>
                <a:cs typeface="Arial" panose="020B0604020202020204" pitchFamily="34" charset="0"/>
              </a:rPr>
              <a:t>/</a:t>
            </a:r>
            <a:r>
              <a:rPr lang="de-DE" sz="1200" dirty="0" err="1">
                <a:effectLst/>
                <a:latin typeface="Arial" panose="020B0604020202020204" pitchFamily="34" charset="0"/>
                <a:ea typeface="Times New Roman" panose="02020603050405020304" pitchFamily="18" charset="0"/>
                <a:cs typeface="Arial" panose="020B0604020202020204" pitchFamily="34" charset="0"/>
              </a:rPr>
              <a:t>aBG</a:t>
            </a:r>
            <a:r>
              <a:rPr lang="de-DE" sz="1200" dirty="0">
                <a:effectLst/>
                <a:latin typeface="Arial" panose="020B0604020202020204" pitchFamily="34" charset="0"/>
                <a:ea typeface="Times New Roman" panose="02020603050405020304" pitchFamily="18" charset="0"/>
                <a:cs typeface="Arial" panose="020B0604020202020204" pitchFamily="34" charset="0"/>
              </a:rPr>
              <a:t> ausgestellt. </a:t>
            </a:r>
            <a:endParaRPr lang="de-DE" sz="12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20</a:t>
            </a:fld>
            <a:endParaRPr lang="de-DE"/>
          </a:p>
        </p:txBody>
      </p:sp>
    </p:spTree>
    <p:extLst>
      <p:ext uri="{BB962C8B-B14F-4D97-AF65-F5344CB8AC3E}">
        <p14:creationId xmlns:p14="http://schemas.microsoft.com/office/powerpoint/2010/main" val="2161875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panose="020B0004020202020204" pitchFamily="34" charset="0"/>
                <a:ea typeface="Aptos" panose="020B0004020202020204" pitchFamily="34" charset="0"/>
                <a:cs typeface="Aptos" panose="020B0004020202020204" pitchFamily="34" charset="0"/>
              </a:rPr>
              <a:t>Wie Sie wissen, sind die notifizierten Stellen aufgrund der hohen Anzahl an Anfragen stark ausgelastet. Gleichzeitig ist ein Großteil der ehemals notifizierten Prüflabore noch nicht notifiziert oder es wird keine Notifizierung nach EN 16510 angestrebt. Von ehemals 46 Prüflaboren existieren aktuell lediglich 17.</a:t>
            </a:r>
          </a:p>
          <a:p>
            <a:endParaRPr lang="de-DE" dirty="0"/>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23</a:t>
            </a:fld>
            <a:endParaRPr lang="de-DE"/>
          </a:p>
        </p:txBody>
      </p:sp>
    </p:spTree>
    <p:extLst>
      <p:ext uri="{BB962C8B-B14F-4D97-AF65-F5344CB8AC3E}">
        <p14:creationId xmlns:p14="http://schemas.microsoft.com/office/powerpoint/2010/main" val="3800177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2. §7 Abs 4</a:t>
            </a:r>
          </a:p>
        </p:txBody>
      </p:sp>
      <p:sp>
        <p:nvSpPr>
          <p:cNvPr id="4" name="Kopfzeilenplatzhalter 3"/>
          <p:cNvSpPr>
            <a:spLocks noGrp="1"/>
          </p:cNvSpPr>
          <p:nvPr>
            <p:ph type="hdr" sz="quarter"/>
          </p:nvPr>
        </p:nvSpPr>
        <p:spPr/>
        <p:txBody>
          <a:bodyPr/>
          <a:lstStyle/>
          <a:p>
            <a:r>
              <a:rPr lang="de-DE"/>
              <a:t>Thema</a:t>
            </a:r>
          </a:p>
        </p:txBody>
      </p:sp>
      <p:sp>
        <p:nvSpPr>
          <p:cNvPr id="5" name="Datumsplatzhalter 4"/>
          <p:cNvSpPr>
            <a:spLocks noGrp="1"/>
          </p:cNvSpPr>
          <p:nvPr>
            <p:ph type="dt" idx="1"/>
          </p:nvPr>
        </p:nvSpPr>
        <p:spPr/>
        <p:txBody>
          <a:bodyPr/>
          <a:lstStyle/>
          <a:p>
            <a:r>
              <a:rPr lang="de-DE"/>
              <a:t>07.04.2023 / LIV-Hessen</a:t>
            </a:r>
          </a:p>
        </p:txBody>
      </p:sp>
      <p:sp>
        <p:nvSpPr>
          <p:cNvPr id="6" name="Fußzeilenplatzhalter 5"/>
          <p:cNvSpPr>
            <a:spLocks noGrp="1"/>
          </p:cNvSpPr>
          <p:nvPr>
            <p:ph type="ftr" sz="quarter" idx="4"/>
          </p:nvPr>
        </p:nvSpPr>
        <p:spPr/>
        <p:txBody>
          <a:bodyPr/>
          <a:lstStyle/>
          <a:p>
            <a:r>
              <a:rPr lang="de-DE"/>
              <a:t>Anlass / Referent</a:t>
            </a:r>
          </a:p>
        </p:txBody>
      </p:sp>
      <p:sp>
        <p:nvSpPr>
          <p:cNvPr id="7" name="Foliennummernplatzhalter 6"/>
          <p:cNvSpPr>
            <a:spLocks noGrp="1"/>
          </p:cNvSpPr>
          <p:nvPr>
            <p:ph type="sldNum" sz="quarter" idx="5"/>
          </p:nvPr>
        </p:nvSpPr>
        <p:spPr/>
        <p:txBody>
          <a:bodyPr/>
          <a:lstStyle/>
          <a:p>
            <a:fld id="{B49E1F30-56F3-47C0-99C3-5AA11894AB03}" type="slidenum">
              <a:rPr lang="de-DE" smtClean="0"/>
              <a:t>28</a:t>
            </a:fld>
            <a:endParaRPr lang="de-DE"/>
          </a:p>
        </p:txBody>
      </p:sp>
    </p:spTree>
    <p:extLst>
      <p:ext uri="{BB962C8B-B14F-4D97-AF65-F5344CB8AC3E}">
        <p14:creationId xmlns:p14="http://schemas.microsoft.com/office/powerpoint/2010/main" val="1048792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00BD8C-A9FF-225C-305A-9EBF6DCC429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CD581D4-597F-B0CA-A13E-819ABDBD92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D72214E-4007-2DCC-30EE-7613B523FD11}"/>
              </a:ext>
            </a:extLst>
          </p:cNvPr>
          <p:cNvSpPr>
            <a:spLocks noGrp="1"/>
          </p:cNvSpPr>
          <p:nvPr>
            <p:ph type="dt" sz="half" idx="10"/>
          </p:nvPr>
        </p:nvSpPr>
        <p:spPr/>
        <p:txBody>
          <a:bodyPr/>
          <a:lstStyle/>
          <a:p>
            <a:r>
              <a:rPr lang="de-DE" dirty="0"/>
              <a:t>Berufliche Schulen Bebra</a:t>
            </a:r>
          </a:p>
        </p:txBody>
      </p:sp>
      <p:sp>
        <p:nvSpPr>
          <p:cNvPr id="5" name="Fußzeilenplatzhalter 4">
            <a:extLst>
              <a:ext uri="{FF2B5EF4-FFF2-40B4-BE49-F238E27FC236}">
                <a16:creationId xmlns:a16="http://schemas.microsoft.com/office/drawing/2014/main" id="{C5FA41FE-EADB-5DCD-F005-DDBD8880F59D}"/>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8E2DA4D8-1325-0350-9F27-C3EA8CD6DE7C}"/>
              </a:ext>
            </a:extLst>
          </p:cNvPr>
          <p:cNvSpPr>
            <a:spLocks noGrp="1"/>
          </p:cNvSpPr>
          <p:nvPr>
            <p:ph type="sldNum" sz="quarter" idx="12"/>
          </p:nvPr>
        </p:nvSpPr>
        <p:spPr/>
        <p:txBody>
          <a:bodyPr/>
          <a:lstStyle/>
          <a:p>
            <a:fld id="{1F759103-C7F7-4BD0-A3ED-461D710A1134}" type="slidenum">
              <a:rPr lang="de-DE" smtClean="0"/>
              <a:t>‹Nr.›</a:t>
            </a:fld>
            <a:endParaRPr lang="de-DE"/>
          </a:p>
        </p:txBody>
      </p:sp>
    </p:spTree>
    <p:extLst>
      <p:ext uri="{BB962C8B-B14F-4D97-AF65-F5344CB8AC3E}">
        <p14:creationId xmlns:p14="http://schemas.microsoft.com/office/powerpoint/2010/main" val="4240758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799EB-6ACF-71B3-64FD-3BEDB5DA9A2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1A8E0CA-7F6B-A0AD-2DCA-38B20B48F77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BF4305C-0A07-32A2-DBA9-A3F19304640D}"/>
              </a:ext>
            </a:extLst>
          </p:cNvPr>
          <p:cNvSpPr>
            <a:spLocks noGrp="1"/>
          </p:cNvSpPr>
          <p:nvPr>
            <p:ph type="dt" sz="half" idx="10"/>
          </p:nvPr>
        </p:nvSpPr>
        <p:spPr/>
        <p:txBody>
          <a:bodyPr/>
          <a:lstStyle/>
          <a:p>
            <a:r>
              <a:rPr lang="de-DE" dirty="0"/>
              <a:t>Berufliche Schulen Bebra</a:t>
            </a:r>
          </a:p>
        </p:txBody>
      </p:sp>
      <p:sp>
        <p:nvSpPr>
          <p:cNvPr id="5" name="Fußzeilenplatzhalter 4">
            <a:extLst>
              <a:ext uri="{FF2B5EF4-FFF2-40B4-BE49-F238E27FC236}">
                <a16:creationId xmlns:a16="http://schemas.microsoft.com/office/drawing/2014/main" id="{5A0DB489-1092-6A03-E02F-2D5AF34FDD77}"/>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F864A39D-FA79-AC01-54D1-13B5EC02530F}"/>
              </a:ext>
            </a:extLst>
          </p:cNvPr>
          <p:cNvSpPr>
            <a:spLocks noGrp="1"/>
          </p:cNvSpPr>
          <p:nvPr>
            <p:ph type="sldNum" sz="quarter" idx="12"/>
          </p:nvPr>
        </p:nvSpPr>
        <p:spPr/>
        <p:txBody>
          <a:bodyPr/>
          <a:lstStyle/>
          <a:p>
            <a:fld id="{1F759103-C7F7-4BD0-A3ED-461D710A1134}" type="slidenum">
              <a:rPr lang="de-DE" smtClean="0"/>
              <a:t>‹Nr.›</a:t>
            </a:fld>
            <a:endParaRPr lang="de-DE"/>
          </a:p>
        </p:txBody>
      </p:sp>
    </p:spTree>
    <p:extLst>
      <p:ext uri="{BB962C8B-B14F-4D97-AF65-F5344CB8AC3E}">
        <p14:creationId xmlns:p14="http://schemas.microsoft.com/office/powerpoint/2010/main" val="33746335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8ED8E6E-DA66-99C5-D56A-0D7CD7859E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7A056702-CDF5-E0E2-0016-0F708AAA8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449186E7-F322-BCBB-2A27-6A5A2223FDF9}"/>
              </a:ext>
            </a:extLst>
          </p:cNvPr>
          <p:cNvSpPr>
            <a:spLocks noGrp="1"/>
          </p:cNvSpPr>
          <p:nvPr>
            <p:ph type="dt" sz="half" idx="2"/>
          </p:nvPr>
        </p:nvSpPr>
        <p:spPr>
          <a:xfrm>
            <a:off x="1412666" y="6356350"/>
            <a:ext cx="1779521"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de-DE" dirty="0"/>
              <a:t>Berufliche Schulen Bebra</a:t>
            </a:r>
          </a:p>
        </p:txBody>
      </p:sp>
      <p:sp>
        <p:nvSpPr>
          <p:cNvPr id="5" name="Fußzeilenplatzhalter 4">
            <a:extLst>
              <a:ext uri="{FF2B5EF4-FFF2-40B4-BE49-F238E27FC236}">
                <a16:creationId xmlns:a16="http://schemas.microsoft.com/office/drawing/2014/main" id="{3F2B7713-2CF8-279F-F228-FC3E1CC56EF9}"/>
              </a:ext>
            </a:extLst>
          </p:cNvPr>
          <p:cNvSpPr>
            <a:spLocks noGrp="1"/>
          </p:cNvSpPr>
          <p:nvPr>
            <p:ph type="ftr" sz="quarter" idx="3"/>
          </p:nvPr>
        </p:nvSpPr>
        <p:spPr>
          <a:xfrm>
            <a:off x="3427631" y="6356350"/>
            <a:ext cx="678955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CC2937C8-BD07-D962-C999-C1E57CB53630}"/>
              </a:ext>
            </a:extLst>
          </p:cNvPr>
          <p:cNvSpPr>
            <a:spLocks noGrp="1"/>
          </p:cNvSpPr>
          <p:nvPr>
            <p:ph type="sldNum" sz="quarter" idx="4"/>
          </p:nvPr>
        </p:nvSpPr>
        <p:spPr>
          <a:xfrm>
            <a:off x="10452632" y="6356350"/>
            <a:ext cx="9011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759103-C7F7-4BD0-A3ED-461D710A1134}" type="slidenum">
              <a:rPr lang="de-DE" smtClean="0"/>
              <a:t>‹Nr.›</a:t>
            </a:fld>
            <a:endParaRPr lang="de-DE"/>
          </a:p>
        </p:txBody>
      </p:sp>
      <p:pic>
        <p:nvPicPr>
          <p:cNvPr id="7" name="Grafik 6" descr="Ein Bild, das Logo enthält.&#10;&#10;Automatisch generierte Beschreibung">
            <a:extLst>
              <a:ext uri="{FF2B5EF4-FFF2-40B4-BE49-F238E27FC236}">
                <a16:creationId xmlns:a16="http://schemas.microsoft.com/office/drawing/2014/main" id="{3D79B3AD-7E71-2C72-1F20-8F8B02DD9D5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83675" y="5927928"/>
            <a:ext cx="793547" cy="793547"/>
          </a:xfrm>
          <a:prstGeom prst="rect">
            <a:avLst/>
          </a:prstGeom>
        </p:spPr>
      </p:pic>
      <p:grpSp>
        <p:nvGrpSpPr>
          <p:cNvPr id="15" name="Gruppieren 14">
            <a:extLst>
              <a:ext uri="{FF2B5EF4-FFF2-40B4-BE49-F238E27FC236}">
                <a16:creationId xmlns:a16="http://schemas.microsoft.com/office/drawing/2014/main" id="{4E81CB8F-EE06-8623-455E-453BF1161BDB}"/>
              </a:ext>
            </a:extLst>
          </p:cNvPr>
          <p:cNvGrpSpPr/>
          <p:nvPr userDrawn="1"/>
        </p:nvGrpSpPr>
        <p:grpSpPr>
          <a:xfrm>
            <a:off x="278848" y="366267"/>
            <a:ext cx="118189" cy="3935251"/>
            <a:chOff x="265486" y="365125"/>
            <a:chExt cx="118189" cy="3935251"/>
          </a:xfrm>
        </p:grpSpPr>
        <p:sp>
          <p:nvSpPr>
            <p:cNvPr id="11" name="Rechteck 10">
              <a:extLst>
                <a:ext uri="{FF2B5EF4-FFF2-40B4-BE49-F238E27FC236}">
                  <a16:creationId xmlns:a16="http://schemas.microsoft.com/office/drawing/2014/main" id="{33C78AA9-43A2-3D6A-7554-800D594F39C7}"/>
                </a:ext>
              </a:extLst>
            </p:cNvPr>
            <p:cNvSpPr/>
            <p:nvPr userDrawn="1"/>
          </p:nvSpPr>
          <p:spPr>
            <a:xfrm>
              <a:off x="265486" y="2393627"/>
              <a:ext cx="109903" cy="892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E2C79BA5-69BC-0392-8B97-7C3A8F171A96}"/>
                </a:ext>
              </a:extLst>
            </p:cNvPr>
            <p:cNvSpPr/>
            <p:nvPr userDrawn="1"/>
          </p:nvSpPr>
          <p:spPr>
            <a:xfrm>
              <a:off x="273772" y="3407878"/>
              <a:ext cx="109903" cy="89249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CC7EEB2A-02E8-3394-EC96-D7D829815263}"/>
                </a:ext>
              </a:extLst>
            </p:cNvPr>
            <p:cNvSpPr/>
            <p:nvPr userDrawn="1"/>
          </p:nvSpPr>
          <p:spPr>
            <a:xfrm>
              <a:off x="265488" y="365125"/>
              <a:ext cx="109903" cy="8924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E4CAC264-CEDD-4F01-4BD7-335441F72678}"/>
                </a:ext>
              </a:extLst>
            </p:cNvPr>
            <p:cNvSpPr/>
            <p:nvPr userDrawn="1"/>
          </p:nvSpPr>
          <p:spPr>
            <a:xfrm>
              <a:off x="265487" y="1379376"/>
              <a:ext cx="109903" cy="8924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 name="Bild 1" descr="BSB">
            <a:extLst>
              <a:ext uri="{FF2B5EF4-FFF2-40B4-BE49-F238E27FC236}">
                <a16:creationId xmlns:a16="http://schemas.microsoft.com/office/drawing/2014/main" id="{91D65864-75C3-F5AE-556B-FE47B2E57BE1}"/>
              </a:ext>
            </a:extLst>
          </p:cNvPr>
          <p:cNvPicPr/>
          <p:nvPr userDrawn="1"/>
        </p:nvPicPr>
        <p:blipFill>
          <a:blip r:embed="rId5" cstate="print"/>
          <a:srcRect/>
          <a:stretch>
            <a:fillRect/>
          </a:stretch>
        </p:blipFill>
        <p:spPr bwMode="auto">
          <a:xfrm>
            <a:off x="11206480" y="9936"/>
            <a:ext cx="985520" cy="596265"/>
          </a:xfrm>
          <a:prstGeom prst="rect">
            <a:avLst/>
          </a:prstGeom>
          <a:noFill/>
          <a:ln w="9525">
            <a:noFill/>
            <a:miter lim="800000"/>
            <a:headEnd/>
            <a:tailEnd/>
          </a:ln>
        </p:spPr>
      </p:pic>
    </p:spTree>
    <p:extLst>
      <p:ext uri="{BB962C8B-B14F-4D97-AF65-F5344CB8AC3E}">
        <p14:creationId xmlns:p14="http://schemas.microsoft.com/office/powerpoint/2010/main" val="379382515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B91F40-6D47-9E94-B4DB-84BA0909B9F4}"/>
              </a:ext>
            </a:extLst>
          </p:cNvPr>
          <p:cNvSpPr>
            <a:spLocks noGrp="1"/>
          </p:cNvSpPr>
          <p:nvPr>
            <p:ph type="ctrTitle"/>
          </p:nvPr>
        </p:nvSpPr>
        <p:spPr/>
        <p:txBody>
          <a:bodyPr>
            <a:normAutofit/>
          </a:bodyPr>
          <a:lstStyle/>
          <a:p>
            <a:r>
              <a:rPr lang="de-DE" dirty="0"/>
              <a:t>18160-1</a:t>
            </a:r>
          </a:p>
        </p:txBody>
      </p:sp>
      <p:sp>
        <p:nvSpPr>
          <p:cNvPr id="3" name="Untertitel 2">
            <a:extLst>
              <a:ext uri="{FF2B5EF4-FFF2-40B4-BE49-F238E27FC236}">
                <a16:creationId xmlns:a16="http://schemas.microsoft.com/office/drawing/2014/main" id="{3043AB0D-6CB7-73C7-52F0-60891E42409A}"/>
              </a:ext>
            </a:extLst>
          </p:cNvPr>
          <p:cNvSpPr>
            <a:spLocks noGrp="1"/>
          </p:cNvSpPr>
          <p:nvPr>
            <p:ph type="subTitle" idx="1"/>
          </p:nvPr>
        </p:nvSpPr>
        <p:spPr/>
        <p:txBody>
          <a:bodyPr/>
          <a:lstStyle/>
          <a:p>
            <a:r>
              <a:rPr lang="de-DE" dirty="0"/>
              <a:t>LF 2 Tag 1 Schneider</a:t>
            </a:r>
          </a:p>
        </p:txBody>
      </p:sp>
    </p:spTree>
    <p:extLst>
      <p:ext uri="{BB962C8B-B14F-4D97-AF65-F5344CB8AC3E}">
        <p14:creationId xmlns:p14="http://schemas.microsoft.com/office/powerpoint/2010/main" val="124909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5445C1-EF35-8FE7-9660-8619E595FCB5}"/>
              </a:ext>
            </a:extLst>
          </p:cNvPr>
          <p:cNvSpPr>
            <a:spLocks noGrp="1"/>
          </p:cNvSpPr>
          <p:nvPr>
            <p:ph type="title"/>
          </p:nvPr>
        </p:nvSpPr>
        <p:spPr>
          <a:xfrm>
            <a:off x="838200" y="483907"/>
            <a:ext cx="10515600" cy="1325563"/>
          </a:xfrm>
        </p:spPr>
        <p:txBody>
          <a:bodyPr/>
          <a:lstStyle/>
          <a:p>
            <a:r>
              <a:rPr lang="de-DE" dirty="0"/>
              <a:t>Klassifizierung von Abgasanlagen</a:t>
            </a:r>
          </a:p>
        </p:txBody>
      </p:sp>
      <p:pic>
        <p:nvPicPr>
          <p:cNvPr id="8" name="Inhaltsplatzhalter 7">
            <a:extLst>
              <a:ext uri="{FF2B5EF4-FFF2-40B4-BE49-F238E27FC236}">
                <a16:creationId xmlns:a16="http://schemas.microsoft.com/office/drawing/2014/main" id="{22FEDD0E-A5B4-4D83-9C19-6755368EEC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690689"/>
            <a:ext cx="5745234" cy="411652"/>
          </a:xfrm>
        </p:spPr>
      </p:pic>
      <p:sp>
        <p:nvSpPr>
          <p:cNvPr id="4" name="Datumsplatzhalter 3">
            <a:extLst>
              <a:ext uri="{FF2B5EF4-FFF2-40B4-BE49-F238E27FC236}">
                <a16:creationId xmlns:a16="http://schemas.microsoft.com/office/drawing/2014/main" id="{9090F1D3-9D7D-C9F0-B692-317012102BFB}"/>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681794BD-3233-3206-B3D8-001ACF61A537}"/>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AE0C7643-2013-27E2-1EF4-0679CE6062CA}"/>
              </a:ext>
            </a:extLst>
          </p:cNvPr>
          <p:cNvSpPr>
            <a:spLocks noGrp="1"/>
          </p:cNvSpPr>
          <p:nvPr>
            <p:ph type="sldNum" sz="quarter" idx="12"/>
          </p:nvPr>
        </p:nvSpPr>
        <p:spPr/>
        <p:txBody>
          <a:bodyPr/>
          <a:lstStyle/>
          <a:p>
            <a:fld id="{1F759103-C7F7-4BD0-A3ED-461D710A1134}" type="slidenum">
              <a:rPr lang="de-DE" smtClean="0"/>
              <a:t>2</a:t>
            </a:fld>
            <a:endParaRPr lang="de-DE"/>
          </a:p>
        </p:txBody>
      </p:sp>
      <p:pic>
        <p:nvPicPr>
          <p:cNvPr id="10" name="Grafik 9" descr="Ein Bild, das Text, Quittung, Schrift, Reihe enthält.&#10;&#10;KI-generierte Inhalte können fehlerhaft sein.">
            <a:extLst>
              <a:ext uri="{FF2B5EF4-FFF2-40B4-BE49-F238E27FC236}">
                <a16:creationId xmlns:a16="http://schemas.microsoft.com/office/drawing/2014/main" id="{256F1840-F9E5-0F49-5366-4E80A97E135F}"/>
              </a:ext>
            </a:extLst>
          </p:cNvPr>
          <p:cNvPicPr>
            <a:picLocks noChangeAspect="1"/>
          </p:cNvPicPr>
          <p:nvPr/>
        </p:nvPicPr>
        <p:blipFill>
          <a:blip r:embed="rId3">
            <a:extLst>
              <a:ext uri="{28A0092B-C50C-407E-A947-70E740481C1C}">
                <a14:useLocalDpi xmlns:a14="http://schemas.microsoft.com/office/drawing/2010/main" val="0"/>
              </a:ext>
            </a:extLst>
          </a:blip>
          <a:srcRect t="11844"/>
          <a:stretch>
            <a:fillRect/>
          </a:stretch>
        </p:blipFill>
        <p:spPr>
          <a:xfrm>
            <a:off x="1109065" y="2442411"/>
            <a:ext cx="10515599" cy="3369939"/>
          </a:xfrm>
          <a:prstGeom prst="rect">
            <a:avLst/>
          </a:prstGeom>
        </p:spPr>
      </p:pic>
      <p:sp>
        <p:nvSpPr>
          <p:cNvPr id="11" name="Rechteck 10">
            <a:extLst>
              <a:ext uri="{FF2B5EF4-FFF2-40B4-BE49-F238E27FC236}">
                <a16:creationId xmlns:a16="http://schemas.microsoft.com/office/drawing/2014/main" id="{55E0E985-B857-1091-E3B2-55EF2D7754B0}"/>
              </a:ext>
            </a:extLst>
          </p:cNvPr>
          <p:cNvSpPr/>
          <p:nvPr/>
        </p:nvSpPr>
        <p:spPr>
          <a:xfrm>
            <a:off x="1109065" y="3103297"/>
            <a:ext cx="7553672" cy="4116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CCBE0955-76E4-2F4F-B8AD-AEC7CE3DCEAE}"/>
              </a:ext>
            </a:extLst>
          </p:cNvPr>
          <p:cNvSpPr/>
          <p:nvPr/>
        </p:nvSpPr>
        <p:spPr>
          <a:xfrm>
            <a:off x="1232158" y="5416061"/>
            <a:ext cx="10121642" cy="546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3986E8DB-C2AF-1FA3-ABF3-912E07A35424}"/>
              </a:ext>
            </a:extLst>
          </p:cNvPr>
          <p:cNvSpPr/>
          <p:nvPr/>
        </p:nvSpPr>
        <p:spPr>
          <a:xfrm>
            <a:off x="1109064" y="3415016"/>
            <a:ext cx="8225435" cy="295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1F1A3BCA-28EA-C014-56BE-1C248B55DA4F}"/>
              </a:ext>
            </a:extLst>
          </p:cNvPr>
          <p:cNvSpPr/>
          <p:nvPr/>
        </p:nvSpPr>
        <p:spPr>
          <a:xfrm>
            <a:off x="1109064" y="3958271"/>
            <a:ext cx="8625486" cy="295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C6387618-5BCE-5A88-B20A-54D8454DA672}"/>
              </a:ext>
            </a:extLst>
          </p:cNvPr>
          <p:cNvSpPr/>
          <p:nvPr/>
        </p:nvSpPr>
        <p:spPr>
          <a:xfrm>
            <a:off x="1232158" y="4353743"/>
            <a:ext cx="8985030" cy="3234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DECE4EFF-4781-FA8C-6789-18D907D0E5C9}"/>
              </a:ext>
            </a:extLst>
          </p:cNvPr>
          <p:cNvSpPr/>
          <p:nvPr/>
        </p:nvSpPr>
        <p:spPr>
          <a:xfrm>
            <a:off x="1232158" y="4776161"/>
            <a:ext cx="9220474" cy="391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502C1EC7-48CF-CFD8-EC6F-0A7C3318DECA}"/>
              </a:ext>
            </a:extLst>
          </p:cNvPr>
          <p:cNvSpPr/>
          <p:nvPr/>
        </p:nvSpPr>
        <p:spPr>
          <a:xfrm>
            <a:off x="1232158" y="5120494"/>
            <a:ext cx="9550142" cy="501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4192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19"/>
                                        </p:tgtEl>
                                      </p:cBhvr>
                                    </p:animEffect>
                                    <p:set>
                                      <p:cBhvr>
                                        <p:cTn id="22" dur="1" fill="hold">
                                          <p:stCondLst>
                                            <p:cond delay="499"/>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20"/>
                                        </p:tgtEl>
                                      </p:cBhvr>
                                    </p:animEffect>
                                    <p:set>
                                      <p:cBhvr>
                                        <p:cTn id="27" dur="1" fill="hold">
                                          <p:stCondLst>
                                            <p:cond delay="499"/>
                                          </p:stCondLst>
                                        </p:cTn>
                                        <p:tgtEl>
                                          <p:spTgt spid="2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21"/>
                                        </p:tgtEl>
                                      </p:cBhvr>
                                    </p:animEffect>
                                    <p:set>
                                      <p:cBhvr>
                                        <p:cTn id="32" dur="1" fill="hold">
                                          <p:stCondLst>
                                            <p:cond delay="499"/>
                                          </p:stCondLst>
                                        </p:cTn>
                                        <p:tgtEl>
                                          <p:spTgt spid="2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7" grpId="0" animBg="1"/>
      <p:bldP spid="18" grpId="0" animBg="1"/>
      <p:bldP spid="19" grpId="0" animBg="1"/>
      <p:bldP spid="20"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CA6B87-530A-6CE8-A649-3E70EB8745C3}"/>
              </a:ext>
            </a:extLst>
          </p:cNvPr>
          <p:cNvSpPr>
            <a:spLocks noGrp="1"/>
          </p:cNvSpPr>
          <p:nvPr>
            <p:ph type="title"/>
          </p:nvPr>
        </p:nvSpPr>
        <p:spPr/>
        <p:txBody>
          <a:bodyPr/>
          <a:lstStyle/>
          <a:p>
            <a:r>
              <a:rPr lang="de-DE" dirty="0"/>
              <a:t>Temperaturklassen</a:t>
            </a:r>
          </a:p>
        </p:txBody>
      </p:sp>
      <p:pic>
        <p:nvPicPr>
          <p:cNvPr id="8" name="Inhaltsplatzhalter 7" descr="Ein Bild, das Text, Screenshot, Zahl, Schrift enthält.&#10;&#10;KI-generierte Inhalte können fehlerhaft sein.">
            <a:extLst>
              <a:ext uri="{FF2B5EF4-FFF2-40B4-BE49-F238E27FC236}">
                <a16:creationId xmlns:a16="http://schemas.microsoft.com/office/drawing/2014/main" id="{D046BB72-DA70-2D73-D5BC-AAA8D8332B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2950" y="1690688"/>
            <a:ext cx="6624534" cy="4233862"/>
          </a:xfrm>
        </p:spPr>
      </p:pic>
      <p:sp>
        <p:nvSpPr>
          <p:cNvPr id="4" name="Datumsplatzhalter 3">
            <a:extLst>
              <a:ext uri="{FF2B5EF4-FFF2-40B4-BE49-F238E27FC236}">
                <a16:creationId xmlns:a16="http://schemas.microsoft.com/office/drawing/2014/main" id="{175DD198-FDDC-DE76-4239-544CDF402FBB}"/>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5D28BC2F-DEC4-B0BC-EC53-2B3A96EA97D3}"/>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F2C638D6-5F67-5D84-E9E9-59A4233AB3FB}"/>
              </a:ext>
            </a:extLst>
          </p:cNvPr>
          <p:cNvSpPr>
            <a:spLocks noGrp="1"/>
          </p:cNvSpPr>
          <p:nvPr>
            <p:ph type="sldNum" sz="quarter" idx="12"/>
          </p:nvPr>
        </p:nvSpPr>
        <p:spPr/>
        <p:txBody>
          <a:bodyPr/>
          <a:lstStyle/>
          <a:p>
            <a:fld id="{1F759103-C7F7-4BD0-A3ED-461D710A1134}" type="slidenum">
              <a:rPr lang="de-DE" smtClean="0"/>
              <a:t>3</a:t>
            </a:fld>
            <a:endParaRPr lang="de-DE"/>
          </a:p>
        </p:txBody>
      </p:sp>
      <p:sp>
        <p:nvSpPr>
          <p:cNvPr id="9" name="Textfeld 8">
            <a:extLst>
              <a:ext uri="{FF2B5EF4-FFF2-40B4-BE49-F238E27FC236}">
                <a16:creationId xmlns:a16="http://schemas.microsoft.com/office/drawing/2014/main" id="{BC1DEAD1-C03F-933C-3A41-19C2FB161366}"/>
              </a:ext>
            </a:extLst>
          </p:cNvPr>
          <p:cNvSpPr txBox="1"/>
          <p:nvPr/>
        </p:nvSpPr>
        <p:spPr>
          <a:xfrm>
            <a:off x="7734300" y="1452378"/>
            <a:ext cx="3714750" cy="646331"/>
          </a:xfrm>
          <a:prstGeom prst="rect">
            <a:avLst/>
          </a:prstGeom>
          <a:noFill/>
        </p:spPr>
        <p:txBody>
          <a:bodyPr wrap="square" rtlCol="0">
            <a:spAutoFit/>
          </a:bodyPr>
          <a:lstStyle/>
          <a:p>
            <a:r>
              <a:rPr lang="de-DE" dirty="0"/>
              <a:t>Die Abgastemperatur darf die Temperaturklasse nicht überschreiten</a:t>
            </a:r>
          </a:p>
        </p:txBody>
      </p:sp>
      <p:pic>
        <p:nvPicPr>
          <p:cNvPr id="10" name="Grafik 9" descr="Ein Bild, das Statue, draußen, Silber, Gießkanne enthält.&#10;&#10;KI-generierte Inhalte können fehlerhaft sein.">
            <a:extLst>
              <a:ext uri="{FF2B5EF4-FFF2-40B4-BE49-F238E27FC236}">
                <a16:creationId xmlns:a16="http://schemas.microsoft.com/office/drawing/2014/main" id="{A394DFE5-ACD6-C9F2-ECFD-268582413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4300" y="2346216"/>
            <a:ext cx="4138772" cy="3515121"/>
          </a:xfrm>
          <a:prstGeom prst="rect">
            <a:avLst/>
          </a:prstGeom>
        </p:spPr>
      </p:pic>
    </p:spTree>
    <p:extLst>
      <p:ext uri="{BB962C8B-B14F-4D97-AF65-F5344CB8AC3E}">
        <p14:creationId xmlns:p14="http://schemas.microsoft.com/office/powerpoint/2010/main" val="311657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27A409-375C-3CFA-63D0-A6818FC1CEF8}"/>
              </a:ext>
            </a:extLst>
          </p:cNvPr>
          <p:cNvSpPr>
            <a:spLocks noGrp="1"/>
          </p:cNvSpPr>
          <p:nvPr>
            <p:ph type="title"/>
          </p:nvPr>
        </p:nvSpPr>
        <p:spPr/>
        <p:txBody>
          <a:bodyPr/>
          <a:lstStyle/>
          <a:p>
            <a:r>
              <a:rPr lang="de-DE" dirty="0"/>
              <a:t>Druckklassen</a:t>
            </a:r>
          </a:p>
        </p:txBody>
      </p:sp>
      <p:pic>
        <p:nvPicPr>
          <p:cNvPr id="8" name="Inhaltsplatzhalter 7" descr="Ein Bild, das Text, Screenshot, Quittung, Zahl enthält.&#10;&#10;KI-generierte Inhalte können fehlerhaft sein.">
            <a:extLst>
              <a:ext uri="{FF2B5EF4-FFF2-40B4-BE49-F238E27FC236}">
                <a16:creationId xmlns:a16="http://schemas.microsoft.com/office/drawing/2014/main" id="{8EE7ABF3-FE15-4239-CF88-8BF8C110F6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2756" y="1519238"/>
            <a:ext cx="8171967" cy="4434412"/>
          </a:xfrm>
        </p:spPr>
      </p:pic>
      <p:sp>
        <p:nvSpPr>
          <p:cNvPr id="4" name="Datumsplatzhalter 3">
            <a:extLst>
              <a:ext uri="{FF2B5EF4-FFF2-40B4-BE49-F238E27FC236}">
                <a16:creationId xmlns:a16="http://schemas.microsoft.com/office/drawing/2014/main" id="{C269038A-5375-9725-E744-7733D7BD8001}"/>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3161FDA2-6BD1-83AB-E554-D4943D16E3F7}"/>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725A5976-EB5F-9176-FDD5-345DF299EA39}"/>
              </a:ext>
            </a:extLst>
          </p:cNvPr>
          <p:cNvSpPr>
            <a:spLocks noGrp="1"/>
          </p:cNvSpPr>
          <p:nvPr>
            <p:ph type="sldNum" sz="quarter" idx="12"/>
          </p:nvPr>
        </p:nvSpPr>
        <p:spPr/>
        <p:txBody>
          <a:bodyPr/>
          <a:lstStyle/>
          <a:p>
            <a:fld id="{1F759103-C7F7-4BD0-A3ED-461D710A1134}" type="slidenum">
              <a:rPr lang="de-DE" smtClean="0"/>
              <a:t>4</a:t>
            </a:fld>
            <a:endParaRPr lang="de-DE"/>
          </a:p>
        </p:txBody>
      </p:sp>
      <p:pic>
        <p:nvPicPr>
          <p:cNvPr id="11" name="Inhaltsplatzhalter 7" descr="Ein Bild, das Person, Im Haus, medizinische Ausrüstung, Maschine enthält.&#10;&#10;KI-generierte Inhalte können fehlerhaft sein.">
            <a:extLst>
              <a:ext uri="{FF2B5EF4-FFF2-40B4-BE49-F238E27FC236}">
                <a16:creationId xmlns:a16="http://schemas.microsoft.com/office/drawing/2014/main" id="{F4EC80BC-2816-2E25-6C54-2B2B38638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0167" y="1519238"/>
            <a:ext cx="2796194" cy="4351338"/>
          </a:xfrm>
          <a:prstGeom prst="rect">
            <a:avLst/>
          </a:prstGeom>
        </p:spPr>
      </p:pic>
    </p:spTree>
    <p:extLst>
      <p:ext uri="{BB962C8B-B14F-4D97-AF65-F5344CB8AC3E}">
        <p14:creationId xmlns:p14="http://schemas.microsoft.com/office/powerpoint/2010/main" val="2170755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A9F0FA-7424-64E6-2E95-B2D0F74EAFE6}"/>
              </a:ext>
            </a:extLst>
          </p:cNvPr>
          <p:cNvSpPr>
            <a:spLocks noGrp="1"/>
          </p:cNvSpPr>
          <p:nvPr>
            <p:ph type="title"/>
          </p:nvPr>
        </p:nvSpPr>
        <p:spPr/>
        <p:txBody>
          <a:bodyPr/>
          <a:lstStyle/>
          <a:p>
            <a:r>
              <a:rPr lang="de-DE" dirty="0"/>
              <a:t>Abdrücken / Dichtheit von Abgasanlagen</a:t>
            </a:r>
          </a:p>
        </p:txBody>
      </p:sp>
      <p:sp>
        <p:nvSpPr>
          <p:cNvPr id="3" name="Inhaltsplatzhalter 2">
            <a:extLst>
              <a:ext uri="{FF2B5EF4-FFF2-40B4-BE49-F238E27FC236}">
                <a16:creationId xmlns:a16="http://schemas.microsoft.com/office/drawing/2014/main" id="{6DDBF04B-FC00-B8A6-A680-084629259DE2}"/>
              </a:ext>
            </a:extLst>
          </p:cNvPr>
          <p:cNvSpPr>
            <a:spLocks noGrp="1"/>
          </p:cNvSpPr>
          <p:nvPr>
            <p:ph idx="1"/>
          </p:nvPr>
        </p:nvSpPr>
        <p:spPr/>
        <p:txBody>
          <a:bodyPr>
            <a:normAutofit/>
          </a:bodyPr>
          <a:lstStyle/>
          <a:p>
            <a:pPr marL="0" indent="0">
              <a:buNone/>
            </a:pPr>
            <a:endParaRPr lang="de-DE" dirty="0"/>
          </a:p>
          <a:p>
            <a:endParaRPr lang="de-DE" dirty="0"/>
          </a:p>
          <a:p>
            <a:pPr marL="0" indent="0">
              <a:buNone/>
            </a:pPr>
            <a:endParaRPr lang="de-DE" dirty="0"/>
          </a:p>
          <a:p>
            <a:endParaRPr lang="de-DE" dirty="0"/>
          </a:p>
          <a:p>
            <a:endParaRPr lang="de-DE" dirty="0"/>
          </a:p>
          <a:p>
            <a:endParaRPr lang="de-DE" dirty="0"/>
          </a:p>
          <a:p>
            <a:endParaRPr lang="de-DE" dirty="0"/>
          </a:p>
        </p:txBody>
      </p:sp>
      <p:sp>
        <p:nvSpPr>
          <p:cNvPr id="4" name="Datumsplatzhalter 3">
            <a:extLst>
              <a:ext uri="{FF2B5EF4-FFF2-40B4-BE49-F238E27FC236}">
                <a16:creationId xmlns:a16="http://schemas.microsoft.com/office/drawing/2014/main" id="{61E7EA98-762C-BAEF-7C78-C517D0FF331F}"/>
              </a:ext>
            </a:extLst>
          </p:cNvPr>
          <p:cNvSpPr>
            <a:spLocks noGrp="1"/>
          </p:cNvSpPr>
          <p:nvPr>
            <p:ph type="dt" sz="half" idx="10"/>
          </p:nvPr>
        </p:nvSpPr>
        <p:spPr/>
        <p:txBody>
          <a:bodyPr/>
          <a:lstStyle/>
          <a:p>
            <a:r>
              <a:rPr lang="de-DE" dirty="0"/>
              <a:t>Berufliche Schulen Bebra</a:t>
            </a:r>
          </a:p>
        </p:txBody>
      </p:sp>
      <p:sp>
        <p:nvSpPr>
          <p:cNvPr id="5" name="Fußzeilenplatzhalter 4">
            <a:extLst>
              <a:ext uri="{FF2B5EF4-FFF2-40B4-BE49-F238E27FC236}">
                <a16:creationId xmlns:a16="http://schemas.microsoft.com/office/drawing/2014/main" id="{A65F966C-0126-81A4-CCF6-83AE9494754F}"/>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3A67AE84-8F61-8526-258A-09AFE8F605C8}"/>
              </a:ext>
            </a:extLst>
          </p:cNvPr>
          <p:cNvSpPr>
            <a:spLocks noGrp="1"/>
          </p:cNvSpPr>
          <p:nvPr>
            <p:ph type="sldNum" sz="quarter" idx="12"/>
          </p:nvPr>
        </p:nvSpPr>
        <p:spPr/>
        <p:txBody>
          <a:bodyPr/>
          <a:lstStyle/>
          <a:p>
            <a:fld id="{1F759103-C7F7-4BD0-A3ED-461D710A1134}" type="slidenum">
              <a:rPr lang="de-DE" smtClean="0"/>
              <a:t>5</a:t>
            </a:fld>
            <a:endParaRPr lang="de-DE"/>
          </a:p>
        </p:txBody>
      </p:sp>
      <p:graphicFrame>
        <p:nvGraphicFramePr>
          <p:cNvPr id="17" name="Tabelle 16">
            <a:extLst>
              <a:ext uri="{FF2B5EF4-FFF2-40B4-BE49-F238E27FC236}">
                <a16:creationId xmlns:a16="http://schemas.microsoft.com/office/drawing/2014/main" id="{62BADD2B-688A-CC8B-9788-70F44B0D21FD}"/>
              </a:ext>
            </a:extLst>
          </p:cNvPr>
          <p:cNvGraphicFramePr>
            <a:graphicFrameLocks noGrp="1"/>
          </p:cNvGraphicFramePr>
          <p:nvPr/>
        </p:nvGraphicFramePr>
        <p:xfrm>
          <a:off x="1000728" y="1549083"/>
          <a:ext cx="10317512" cy="4663440"/>
        </p:xfrm>
        <a:graphic>
          <a:graphicData uri="http://schemas.openxmlformats.org/drawingml/2006/table">
            <a:tbl>
              <a:tblPr firstRow="1" bandRow="1">
                <a:tableStyleId>{22838BEF-8BB2-4498-84A7-C5851F593DF1}</a:tableStyleId>
              </a:tblPr>
              <a:tblGrid>
                <a:gridCol w="7889272">
                  <a:extLst>
                    <a:ext uri="{9D8B030D-6E8A-4147-A177-3AD203B41FA5}">
                      <a16:colId xmlns:a16="http://schemas.microsoft.com/office/drawing/2014/main" val="2015145461"/>
                    </a:ext>
                  </a:extLst>
                </a:gridCol>
                <a:gridCol w="2428240">
                  <a:extLst>
                    <a:ext uri="{9D8B030D-6E8A-4147-A177-3AD203B41FA5}">
                      <a16:colId xmlns:a16="http://schemas.microsoft.com/office/drawing/2014/main" val="2607132579"/>
                    </a:ext>
                  </a:extLst>
                </a:gridCol>
              </a:tblGrid>
              <a:tr h="370840">
                <a:tc>
                  <a:txBody>
                    <a:bodyPr/>
                    <a:lstStyle/>
                    <a:p>
                      <a:r>
                        <a:rPr lang="de-DE" dirty="0"/>
                        <a:t>Zur sicheren Abführung der Verbrennungsgase müssen Abgasanlagen ausreichend dicht sein.</a:t>
                      </a:r>
                    </a:p>
                    <a:p>
                      <a:r>
                        <a:rPr lang="de-DE" dirty="0"/>
                        <a:t>Im Einzelnen gilt</a:t>
                      </a:r>
                    </a:p>
                  </a:txBody>
                  <a:tcPr/>
                </a:tc>
                <a:tc>
                  <a:txBody>
                    <a:bodyPr/>
                    <a:lstStyle/>
                    <a:p>
                      <a:endParaRPr lang="de-DE" dirty="0"/>
                    </a:p>
                  </a:txBody>
                  <a:tcPr/>
                </a:tc>
                <a:extLst>
                  <a:ext uri="{0D108BD9-81ED-4DB2-BD59-A6C34878D82A}">
                    <a16:rowId xmlns:a16="http://schemas.microsoft.com/office/drawing/2014/main" val="2086497962"/>
                  </a:ext>
                </a:extLst>
              </a:tr>
              <a:tr h="370840">
                <a:tc>
                  <a:txBody>
                    <a:bodyPr/>
                    <a:lstStyle/>
                    <a:p>
                      <a:r>
                        <a:rPr lang="de-DE" dirty="0"/>
                        <a:t>Bei Schornsteinen und Unterdruck-Abgasleitungen </a:t>
                      </a:r>
                      <a:br>
                        <a:rPr lang="de-DE" dirty="0"/>
                      </a:br>
                      <a:r>
                        <a:rPr lang="de-DE" dirty="0"/>
                        <a:t>- aus Mauerwerk und Blöcken sollte eine Dichtheitsprobe (z. B. Rauchdruckprobe),  </a:t>
                      </a:r>
                      <a:br>
                        <a:rPr lang="de-DE" dirty="0"/>
                      </a:br>
                      <a:r>
                        <a:rPr lang="de-DE" dirty="0"/>
                        <a:t>- sonst sollte eine optische Überprüfung z. B. mittels Kamera </a:t>
                      </a:r>
                      <a:r>
                        <a:rPr lang="de-DE" dirty="0">
                          <a:effectLst/>
                        </a:rPr>
                        <a:t>durchgeführt werden.  </a:t>
                      </a:r>
                      <a:br>
                        <a:rPr lang="de-DE" dirty="0">
                          <a:effectLst/>
                        </a:rPr>
                      </a:br>
                      <a:r>
                        <a:rPr lang="de-DE" dirty="0">
                          <a:effectLst/>
                          <a:highlight>
                            <a:srgbClr val="00FF00"/>
                          </a:highlight>
                        </a:rPr>
                        <a:t>Bei einzügigen Schornsteinen und Schächten für Abgasleitungen die verputzt oder verschlämmt sind, ist davon auszugehen, dass diese eine ausreichende Dichtigkeit aufweisen. </a:t>
                      </a:r>
                      <a:endParaRPr lang="de-DE" dirty="0"/>
                    </a:p>
                  </a:txBody>
                  <a:tcPr/>
                </a:tc>
                <a:tc>
                  <a:txBody>
                    <a:bodyPr/>
                    <a:lstStyle/>
                    <a:p>
                      <a:r>
                        <a:rPr lang="de-DE" dirty="0"/>
                        <a:t>In den Beurteilungskriterien ergänzt. </a:t>
                      </a:r>
                      <a:br>
                        <a:rPr lang="de-DE" dirty="0"/>
                      </a:br>
                      <a:br>
                        <a:rPr lang="de-DE" dirty="0"/>
                      </a:br>
                      <a:r>
                        <a:rPr lang="de-DE" dirty="0"/>
                        <a:t>Bewertung als ZIV-  Empfehlung</a:t>
                      </a:r>
                    </a:p>
                  </a:txBody>
                  <a:tcPr/>
                </a:tc>
                <a:extLst>
                  <a:ext uri="{0D108BD9-81ED-4DB2-BD59-A6C34878D82A}">
                    <a16:rowId xmlns:a16="http://schemas.microsoft.com/office/drawing/2014/main" val="3470194713"/>
                  </a:ext>
                </a:extLst>
              </a:tr>
              <a:tr h="370840">
                <a:tc>
                  <a:txBody>
                    <a:bodyPr/>
                    <a:lstStyle/>
                    <a:p>
                      <a:r>
                        <a:rPr lang="de-DE" dirty="0"/>
                        <a:t>Eine Dichtheitsprüfung (Prüfung der Leckage) der Klassen N1 und N2 sind in Deutschland baurechtlich</a:t>
                      </a:r>
                    </a:p>
                    <a:p>
                      <a:r>
                        <a:rPr lang="de-DE" dirty="0"/>
                        <a:t>nicht eingeführt. Dennoch könnten entsprechende Dichtheitsprüfungen mit den üblichen Dichtheitsprüfgeräten</a:t>
                      </a:r>
                    </a:p>
                    <a:p>
                      <a:r>
                        <a:rPr lang="de-DE" dirty="0"/>
                        <a:t>durchgeführt werden. Dafür sind ggf. weitere Zubehörteile zu verwenden.</a:t>
                      </a:r>
                    </a:p>
                    <a:p>
                      <a:endParaRPr lang="de-DE" dirty="0"/>
                    </a:p>
                  </a:txBody>
                  <a:tcPr/>
                </a:tc>
                <a:tc>
                  <a:txBody>
                    <a:bodyPr/>
                    <a:lstStyle/>
                    <a:p>
                      <a:r>
                        <a:rPr lang="de-DE" dirty="0"/>
                        <a:t>AH 01/21 </a:t>
                      </a:r>
                    </a:p>
                    <a:p>
                      <a:r>
                        <a:rPr lang="de-DE" dirty="0"/>
                        <a:t>3.1</a:t>
                      </a:r>
                    </a:p>
                  </a:txBody>
                  <a:tcPr/>
                </a:tc>
                <a:extLst>
                  <a:ext uri="{0D108BD9-81ED-4DB2-BD59-A6C34878D82A}">
                    <a16:rowId xmlns:a16="http://schemas.microsoft.com/office/drawing/2014/main" val="3785154669"/>
                  </a:ext>
                </a:extLst>
              </a:tr>
            </a:tbl>
          </a:graphicData>
        </a:graphic>
      </p:graphicFrame>
    </p:spTree>
    <p:extLst>
      <p:ext uri="{BB962C8B-B14F-4D97-AF65-F5344CB8AC3E}">
        <p14:creationId xmlns:p14="http://schemas.microsoft.com/office/powerpoint/2010/main" val="2573482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5F300C-C559-79EB-6274-DCF10BDC3EF4}"/>
              </a:ext>
            </a:extLst>
          </p:cNvPr>
          <p:cNvSpPr>
            <a:spLocks noGrp="1"/>
          </p:cNvSpPr>
          <p:nvPr>
            <p:ph type="title"/>
          </p:nvPr>
        </p:nvSpPr>
        <p:spPr/>
        <p:txBody>
          <a:bodyPr/>
          <a:lstStyle/>
          <a:p>
            <a:r>
              <a:rPr lang="de-DE" dirty="0"/>
              <a:t>Dichtigkeit an Abgasanlagen</a:t>
            </a:r>
          </a:p>
        </p:txBody>
      </p:sp>
      <p:pic>
        <p:nvPicPr>
          <p:cNvPr id="8" name="Inhaltsplatzhalter 7" descr="Ein Bild, das Text, Screenshot, Schrift, Zahl enthält.&#10;&#10;KI-generierte Inhalte können fehlerhaft sein.">
            <a:extLst>
              <a:ext uri="{FF2B5EF4-FFF2-40B4-BE49-F238E27FC236}">
                <a16:creationId xmlns:a16="http://schemas.microsoft.com/office/drawing/2014/main" id="{3B604A45-1985-82E8-8B42-CAA30511566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7096" y="1298373"/>
            <a:ext cx="10471901" cy="4351338"/>
          </a:xfrm>
        </p:spPr>
      </p:pic>
      <p:sp>
        <p:nvSpPr>
          <p:cNvPr id="4" name="Datumsplatzhalter 3">
            <a:extLst>
              <a:ext uri="{FF2B5EF4-FFF2-40B4-BE49-F238E27FC236}">
                <a16:creationId xmlns:a16="http://schemas.microsoft.com/office/drawing/2014/main" id="{23BD1B8E-1547-2433-1195-F9DD7223AB3E}"/>
              </a:ext>
            </a:extLst>
          </p:cNvPr>
          <p:cNvSpPr>
            <a:spLocks noGrp="1"/>
          </p:cNvSpPr>
          <p:nvPr>
            <p:ph type="dt" sz="half" idx="10"/>
          </p:nvPr>
        </p:nvSpPr>
        <p:spPr/>
        <p:txBody>
          <a:bodyPr/>
          <a:lstStyle/>
          <a:p>
            <a:r>
              <a:rPr lang="de-DE" dirty="0"/>
              <a:t>Berufliche Schulen Bebra</a:t>
            </a:r>
          </a:p>
        </p:txBody>
      </p:sp>
      <p:sp>
        <p:nvSpPr>
          <p:cNvPr id="5" name="Fußzeilenplatzhalter 4">
            <a:extLst>
              <a:ext uri="{FF2B5EF4-FFF2-40B4-BE49-F238E27FC236}">
                <a16:creationId xmlns:a16="http://schemas.microsoft.com/office/drawing/2014/main" id="{0BFD6C4D-6086-AA90-A953-EEE134FBC8D2}"/>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ED62517F-968F-B383-4814-09F79E0BFC0B}"/>
              </a:ext>
            </a:extLst>
          </p:cNvPr>
          <p:cNvSpPr>
            <a:spLocks noGrp="1"/>
          </p:cNvSpPr>
          <p:nvPr>
            <p:ph type="sldNum" sz="quarter" idx="12"/>
          </p:nvPr>
        </p:nvSpPr>
        <p:spPr/>
        <p:txBody>
          <a:bodyPr/>
          <a:lstStyle/>
          <a:p>
            <a:fld id="{1F759103-C7F7-4BD0-A3ED-461D710A1134}" type="slidenum">
              <a:rPr lang="de-DE" smtClean="0"/>
              <a:t>6</a:t>
            </a:fld>
            <a:endParaRPr lang="de-DE"/>
          </a:p>
        </p:txBody>
      </p:sp>
      <p:sp>
        <p:nvSpPr>
          <p:cNvPr id="3" name="Textfeld 2">
            <a:extLst>
              <a:ext uri="{FF2B5EF4-FFF2-40B4-BE49-F238E27FC236}">
                <a16:creationId xmlns:a16="http://schemas.microsoft.com/office/drawing/2014/main" id="{3182B028-A7D7-FB81-3742-AF769E1024CF}"/>
              </a:ext>
            </a:extLst>
          </p:cNvPr>
          <p:cNvSpPr txBox="1"/>
          <p:nvPr/>
        </p:nvSpPr>
        <p:spPr>
          <a:xfrm>
            <a:off x="2035277" y="1668021"/>
            <a:ext cx="3244645" cy="369332"/>
          </a:xfrm>
          <a:prstGeom prst="rect">
            <a:avLst/>
          </a:prstGeom>
          <a:noFill/>
        </p:spPr>
        <p:txBody>
          <a:bodyPr wrap="square" rtlCol="0">
            <a:spAutoFit/>
          </a:bodyPr>
          <a:lstStyle/>
          <a:p>
            <a:r>
              <a:rPr lang="de-DE" dirty="0" err="1"/>
              <a:t>Atec</a:t>
            </a:r>
            <a:endParaRPr lang="de-DE" dirty="0"/>
          </a:p>
        </p:txBody>
      </p:sp>
      <p:sp>
        <p:nvSpPr>
          <p:cNvPr id="7" name="Textfeld 6">
            <a:extLst>
              <a:ext uri="{FF2B5EF4-FFF2-40B4-BE49-F238E27FC236}">
                <a16:creationId xmlns:a16="http://schemas.microsoft.com/office/drawing/2014/main" id="{25703A83-4BF0-E1C0-9DB2-EE8E1AAFF1DC}"/>
              </a:ext>
            </a:extLst>
          </p:cNvPr>
          <p:cNvSpPr txBox="1"/>
          <p:nvPr/>
        </p:nvSpPr>
        <p:spPr>
          <a:xfrm>
            <a:off x="9071429" y="1650630"/>
            <a:ext cx="3244645" cy="369332"/>
          </a:xfrm>
          <a:prstGeom prst="rect">
            <a:avLst/>
          </a:prstGeom>
          <a:noFill/>
        </p:spPr>
        <p:txBody>
          <a:bodyPr wrap="square" rtlCol="0">
            <a:spAutoFit/>
          </a:bodyPr>
          <a:lstStyle/>
          <a:p>
            <a:r>
              <a:rPr lang="de-DE" dirty="0"/>
              <a:t>Kunststoff</a:t>
            </a:r>
          </a:p>
        </p:txBody>
      </p:sp>
      <p:sp>
        <p:nvSpPr>
          <p:cNvPr id="9" name="Textfeld 8">
            <a:extLst>
              <a:ext uri="{FF2B5EF4-FFF2-40B4-BE49-F238E27FC236}">
                <a16:creationId xmlns:a16="http://schemas.microsoft.com/office/drawing/2014/main" id="{9AE148B2-E3EE-5905-7FB2-BD56C66C8E38}"/>
              </a:ext>
            </a:extLst>
          </p:cNvPr>
          <p:cNvSpPr txBox="1"/>
          <p:nvPr/>
        </p:nvSpPr>
        <p:spPr>
          <a:xfrm>
            <a:off x="5883046" y="1640329"/>
            <a:ext cx="3244645" cy="369332"/>
          </a:xfrm>
          <a:prstGeom prst="rect">
            <a:avLst/>
          </a:prstGeom>
          <a:noFill/>
        </p:spPr>
        <p:txBody>
          <a:bodyPr wrap="square" rtlCol="0">
            <a:spAutoFit/>
          </a:bodyPr>
          <a:lstStyle/>
          <a:p>
            <a:r>
              <a:rPr lang="de-DE" dirty="0" err="1"/>
              <a:t>Poly</a:t>
            </a:r>
            <a:r>
              <a:rPr lang="de-DE" dirty="0"/>
              <a:t> Twin </a:t>
            </a:r>
          </a:p>
        </p:txBody>
      </p:sp>
      <p:sp>
        <p:nvSpPr>
          <p:cNvPr id="10" name="Textfeld 9">
            <a:extLst>
              <a:ext uri="{FF2B5EF4-FFF2-40B4-BE49-F238E27FC236}">
                <a16:creationId xmlns:a16="http://schemas.microsoft.com/office/drawing/2014/main" id="{843A05CA-8F34-2156-86BD-585A3CAE0FD1}"/>
              </a:ext>
            </a:extLst>
          </p:cNvPr>
          <p:cNvSpPr txBox="1"/>
          <p:nvPr/>
        </p:nvSpPr>
        <p:spPr>
          <a:xfrm>
            <a:off x="6030217" y="2005004"/>
            <a:ext cx="1145458" cy="369332"/>
          </a:xfrm>
          <a:prstGeom prst="rect">
            <a:avLst/>
          </a:prstGeom>
          <a:noFill/>
        </p:spPr>
        <p:txBody>
          <a:bodyPr wrap="square" rtlCol="0">
            <a:spAutoFit/>
          </a:bodyPr>
          <a:lstStyle/>
          <a:p>
            <a:r>
              <a:rPr lang="de-DE" dirty="0"/>
              <a:t>6,8 m</a:t>
            </a:r>
          </a:p>
        </p:txBody>
      </p:sp>
      <p:sp>
        <p:nvSpPr>
          <p:cNvPr id="11" name="Textfeld 10">
            <a:extLst>
              <a:ext uri="{FF2B5EF4-FFF2-40B4-BE49-F238E27FC236}">
                <a16:creationId xmlns:a16="http://schemas.microsoft.com/office/drawing/2014/main" id="{7B6334F2-C257-6E95-17AF-DBEEF5102F60}"/>
              </a:ext>
            </a:extLst>
          </p:cNvPr>
          <p:cNvSpPr txBox="1"/>
          <p:nvPr/>
        </p:nvSpPr>
        <p:spPr>
          <a:xfrm>
            <a:off x="9013683" y="1959302"/>
            <a:ext cx="707923" cy="369332"/>
          </a:xfrm>
          <a:prstGeom prst="rect">
            <a:avLst/>
          </a:prstGeom>
          <a:noFill/>
        </p:spPr>
        <p:txBody>
          <a:bodyPr wrap="square" rtlCol="0">
            <a:spAutoFit/>
          </a:bodyPr>
          <a:lstStyle/>
          <a:p>
            <a:r>
              <a:rPr lang="de-DE" dirty="0"/>
              <a:t>7,6</a:t>
            </a:r>
          </a:p>
        </p:txBody>
      </p:sp>
      <p:sp>
        <p:nvSpPr>
          <p:cNvPr id="12" name="Rechteck 11">
            <a:extLst>
              <a:ext uri="{FF2B5EF4-FFF2-40B4-BE49-F238E27FC236}">
                <a16:creationId xmlns:a16="http://schemas.microsoft.com/office/drawing/2014/main" id="{8A8E56EC-5E3E-EF1C-3926-30A3405724CC}"/>
              </a:ext>
            </a:extLst>
          </p:cNvPr>
          <p:cNvSpPr/>
          <p:nvPr/>
        </p:nvSpPr>
        <p:spPr>
          <a:xfrm>
            <a:off x="2669908" y="2868726"/>
            <a:ext cx="501445" cy="3465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3" name="Inhaltsplatzhalter 7" descr="Ein Bild, das Text, Screenshot, Zahl, Schrift enthält.&#10;&#10;KI-generierte Inhalte können fehlerhaft sein.">
            <a:extLst>
              <a:ext uri="{FF2B5EF4-FFF2-40B4-BE49-F238E27FC236}">
                <a16:creationId xmlns:a16="http://schemas.microsoft.com/office/drawing/2014/main" id="{B9B966F5-C80F-E4FF-B8A9-8A500FACFF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6683" y="4046686"/>
            <a:ext cx="6207785" cy="2819472"/>
          </a:xfrm>
          <a:prstGeom prst="rect">
            <a:avLst/>
          </a:prstGeom>
        </p:spPr>
      </p:pic>
      <p:sp>
        <p:nvSpPr>
          <p:cNvPr id="14" name="Rechteck 13">
            <a:extLst>
              <a:ext uri="{FF2B5EF4-FFF2-40B4-BE49-F238E27FC236}">
                <a16:creationId xmlns:a16="http://schemas.microsoft.com/office/drawing/2014/main" id="{D971EE51-CF5D-594E-86E7-94BDB46B7BFC}"/>
              </a:ext>
            </a:extLst>
          </p:cNvPr>
          <p:cNvSpPr/>
          <p:nvPr/>
        </p:nvSpPr>
        <p:spPr>
          <a:xfrm>
            <a:off x="5279922" y="5169103"/>
            <a:ext cx="5999511" cy="2119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419FE62C-CD8D-015A-E255-9272FE8E27DB}"/>
              </a:ext>
            </a:extLst>
          </p:cNvPr>
          <p:cNvSpPr/>
          <p:nvPr/>
        </p:nvSpPr>
        <p:spPr>
          <a:xfrm>
            <a:off x="4159046" y="2882533"/>
            <a:ext cx="589935" cy="3189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descr="Ein Bild, das Entwurf, Zeichnung, Kreis, Design enthält.&#10;&#10;KI-generierte Inhalte können fehlerhaft sein.">
            <a:extLst>
              <a:ext uri="{FF2B5EF4-FFF2-40B4-BE49-F238E27FC236}">
                <a16:creationId xmlns:a16="http://schemas.microsoft.com/office/drawing/2014/main" id="{FB06581E-B585-A613-4022-81482A7203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8313" y="4007552"/>
            <a:ext cx="2473532" cy="2473532"/>
          </a:xfrm>
          <a:prstGeom prst="rect">
            <a:avLst/>
          </a:prstGeom>
        </p:spPr>
      </p:pic>
      <p:pic>
        <p:nvPicPr>
          <p:cNvPr id="19" name="Grafik 18" descr="Ein Bild, das Schrift, weiß, Grafiken, Typografie enthält.&#10;&#10;KI-generierte Inhalte können fehlerhaft sein.">
            <a:extLst>
              <a:ext uri="{FF2B5EF4-FFF2-40B4-BE49-F238E27FC236}">
                <a16:creationId xmlns:a16="http://schemas.microsoft.com/office/drawing/2014/main" id="{BFFF5247-A32B-749A-D64E-0E868BF1D5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5347" y="5547535"/>
            <a:ext cx="5353680" cy="1326141"/>
          </a:xfrm>
          <a:prstGeom prst="rect">
            <a:avLst/>
          </a:prstGeom>
        </p:spPr>
      </p:pic>
      <p:sp>
        <p:nvSpPr>
          <p:cNvPr id="20" name="Rechteck 19">
            <a:extLst>
              <a:ext uri="{FF2B5EF4-FFF2-40B4-BE49-F238E27FC236}">
                <a16:creationId xmlns:a16="http://schemas.microsoft.com/office/drawing/2014/main" id="{5CF18035-F64B-0A73-ED4E-F70BF05C3E20}"/>
              </a:ext>
            </a:extLst>
          </p:cNvPr>
          <p:cNvSpPr/>
          <p:nvPr/>
        </p:nvSpPr>
        <p:spPr>
          <a:xfrm>
            <a:off x="5941415" y="2892044"/>
            <a:ext cx="589935" cy="369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2BD2C9B0-C215-730A-7C77-C5B3CD01CC48}"/>
              </a:ext>
            </a:extLst>
          </p:cNvPr>
          <p:cNvSpPr/>
          <p:nvPr/>
        </p:nvSpPr>
        <p:spPr>
          <a:xfrm>
            <a:off x="8893277" y="2892044"/>
            <a:ext cx="828329" cy="3094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a:extLst>
              <a:ext uri="{FF2B5EF4-FFF2-40B4-BE49-F238E27FC236}">
                <a16:creationId xmlns:a16="http://schemas.microsoft.com/office/drawing/2014/main" id="{78D6C4EF-A38F-6BFD-4FDF-636D745C444F}"/>
              </a:ext>
            </a:extLst>
          </p:cNvPr>
          <p:cNvSpPr/>
          <p:nvPr/>
        </p:nvSpPr>
        <p:spPr>
          <a:xfrm>
            <a:off x="2839607" y="3267874"/>
            <a:ext cx="828329" cy="3094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6348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1" nodeType="clickEffect">
                                  <p:stCondLst>
                                    <p:cond delay="0"/>
                                  </p:stCondLst>
                                  <p:childTnLst>
                                    <p:animEffect transition="out" filter="blinds(horizontal)">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13"/>
                                        </p:tgtEl>
                                      </p:cBhvr>
                                    </p:animEffect>
                                    <p:set>
                                      <p:cBhvr>
                                        <p:cTn id="44" dur="1" fill="hold">
                                          <p:stCondLst>
                                            <p:cond delay="499"/>
                                          </p:stCondLst>
                                        </p:cTn>
                                        <p:tgtEl>
                                          <p:spTgt spid="1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xit" presetSubtype="10" fill="hold" nodeType="clickEffect">
                                  <p:stCondLst>
                                    <p:cond delay="0"/>
                                  </p:stCondLst>
                                  <p:childTnLst>
                                    <p:animEffect transition="out" filter="blinds(horizontal)">
                                      <p:cBhvr>
                                        <p:cTn id="58" dur="500"/>
                                        <p:tgtEl>
                                          <p:spTgt spid="17"/>
                                        </p:tgtEl>
                                      </p:cBhvr>
                                    </p:animEffect>
                                    <p:set>
                                      <p:cBhvr>
                                        <p:cTn id="59" dur="1" fill="hold">
                                          <p:stCondLst>
                                            <p:cond delay="499"/>
                                          </p:stCondLst>
                                        </p:cTn>
                                        <p:tgtEl>
                                          <p:spTgt spid="17"/>
                                        </p:tgtEl>
                                        <p:attrNameLst>
                                          <p:attrName>style.visibility</p:attrName>
                                        </p:attrNameLst>
                                      </p:cBhvr>
                                      <p:to>
                                        <p:strVal val="hidden"/>
                                      </p:to>
                                    </p:set>
                                  </p:childTnLst>
                                </p:cTn>
                              </p:par>
                              <p:par>
                                <p:cTn id="60" presetID="3" presetClass="exit" presetSubtype="10" fill="hold" nodeType="withEffect">
                                  <p:stCondLst>
                                    <p:cond delay="0"/>
                                  </p:stCondLst>
                                  <p:childTnLst>
                                    <p:animEffect transition="out" filter="blinds(horizontal)">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3" presetClass="exit" presetSubtype="10" fill="hold" grpId="1" nodeType="clickEffect">
                                  <p:stCondLst>
                                    <p:cond delay="0"/>
                                  </p:stCondLst>
                                  <p:childTnLst>
                                    <p:animEffect transition="out" filter="blinds(horizontal)">
                                      <p:cBhvr>
                                        <p:cTn id="72" dur="500"/>
                                        <p:tgtEl>
                                          <p:spTgt spid="12"/>
                                        </p:tgtEl>
                                      </p:cBhvr>
                                    </p:animEffect>
                                    <p:set>
                                      <p:cBhvr>
                                        <p:cTn id="73" dur="1" fill="hold">
                                          <p:stCondLst>
                                            <p:cond delay="499"/>
                                          </p:stCondLst>
                                        </p:cTn>
                                        <p:tgtEl>
                                          <p:spTgt spid="12"/>
                                        </p:tgtEl>
                                        <p:attrNameLst>
                                          <p:attrName>style.visibility</p:attrName>
                                        </p:attrNameLst>
                                      </p:cBhvr>
                                      <p:to>
                                        <p:strVal val="hidden"/>
                                      </p:to>
                                    </p:set>
                                  </p:childTnLst>
                                </p:cTn>
                              </p:par>
                              <p:par>
                                <p:cTn id="74" presetID="3" presetClass="exit" presetSubtype="10" fill="hold" grpId="1" nodeType="withEffect">
                                  <p:stCondLst>
                                    <p:cond delay="0"/>
                                  </p:stCondLst>
                                  <p:childTnLst>
                                    <p:animEffect transition="out" filter="blinds(horizontal)">
                                      <p:cBhvr>
                                        <p:cTn id="75" dur="500"/>
                                        <p:tgtEl>
                                          <p:spTgt spid="15"/>
                                        </p:tgtEl>
                                      </p:cBhvr>
                                    </p:animEffect>
                                    <p:set>
                                      <p:cBhvr>
                                        <p:cTn id="76" dur="1" fill="hold">
                                          <p:stCondLst>
                                            <p:cond delay="499"/>
                                          </p:stCondLst>
                                        </p:cTn>
                                        <p:tgtEl>
                                          <p:spTgt spid="15"/>
                                        </p:tgtEl>
                                        <p:attrNameLst>
                                          <p:attrName>style.visibility</p:attrName>
                                        </p:attrNameLst>
                                      </p:cBhvr>
                                      <p:to>
                                        <p:strVal val="hidden"/>
                                      </p:to>
                                    </p:set>
                                  </p:childTnLst>
                                </p:cTn>
                              </p:par>
                              <p:par>
                                <p:cTn id="77" presetID="3" presetClass="exit" presetSubtype="10" fill="hold" grpId="1" nodeType="withEffect">
                                  <p:stCondLst>
                                    <p:cond delay="0"/>
                                  </p:stCondLst>
                                  <p:childTnLst>
                                    <p:animEffect transition="out" filter="blinds(horizontal)">
                                      <p:cBhvr>
                                        <p:cTn id="78" dur="500"/>
                                        <p:tgtEl>
                                          <p:spTgt spid="20"/>
                                        </p:tgtEl>
                                      </p:cBhvr>
                                    </p:animEffect>
                                    <p:set>
                                      <p:cBhvr>
                                        <p:cTn id="79" dur="1" fill="hold">
                                          <p:stCondLst>
                                            <p:cond delay="499"/>
                                          </p:stCondLst>
                                        </p:cTn>
                                        <p:tgtEl>
                                          <p:spTgt spid="20"/>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0" grpId="0"/>
      <p:bldP spid="11" grpId="0"/>
      <p:bldP spid="12" grpId="0" animBg="1"/>
      <p:bldP spid="12" grpId="1" animBg="1"/>
      <p:bldP spid="14" grpId="0" animBg="1"/>
      <p:bldP spid="14" grpId="1" animBg="1"/>
      <p:bldP spid="15" grpId="0" animBg="1"/>
      <p:bldP spid="15" grpId="1" animBg="1"/>
      <p:bldP spid="20" grpId="0" animBg="1"/>
      <p:bldP spid="20" grpId="1" animBg="1"/>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5D048E-801F-9A3F-4618-B9E6640AD5DD}"/>
              </a:ext>
            </a:extLst>
          </p:cNvPr>
          <p:cNvSpPr>
            <a:spLocks noGrp="1"/>
          </p:cNvSpPr>
          <p:nvPr>
            <p:ph type="title"/>
          </p:nvPr>
        </p:nvSpPr>
        <p:spPr/>
        <p:txBody>
          <a:bodyPr/>
          <a:lstStyle/>
          <a:p>
            <a:r>
              <a:rPr lang="de-DE" dirty="0"/>
              <a:t>Dichtigkeit an Abgasanlagen</a:t>
            </a:r>
          </a:p>
        </p:txBody>
      </p:sp>
      <p:sp>
        <p:nvSpPr>
          <p:cNvPr id="3" name="Inhaltsplatzhalter 2">
            <a:extLst>
              <a:ext uri="{FF2B5EF4-FFF2-40B4-BE49-F238E27FC236}">
                <a16:creationId xmlns:a16="http://schemas.microsoft.com/office/drawing/2014/main" id="{F0B86B13-34D1-81E6-92F1-8DF3BC6E0F5F}"/>
              </a:ext>
            </a:extLst>
          </p:cNvPr>
          <p:cNvSpPr>
            <a:spLocks noGrp="1"/>
          </p:cNvSpPr>
          <p:nvPr>
            <p:ph idx="1"/>
          </p:nvPr>
        </p:nvSpPr>
        <p:spPr/>
        <p:txBody>
          <a:bodyPr/>
          <a:lstStyle/>
          <a:p>
            <a:endParaRPr lang="de-DE"/>
          </a:p>
        </p:txBody>
      </p:sp>
      <p:sp>
        <p:nvSpPr>
          <p:cNvPr id="4" name="Datumsplatzhalter 3">
            <a:extLst>
              <a:ext uri="{FF2B5EF4-FFF2-40B4-BE49-F238E27FC236}">
                <a16:creationId xmlns:a16="http://schemas.microsoft.com/office/drawing/2014/main" id="{F769C4FC-9981-E414-D55B-922F38C52555}"/>
              </a:ext>
            </a:extLst>
          </p:cNvPr>
          <p:cNvSpPr>
            <a:spLocks noGrp="1"/>
          </p:cNvSpPr>
          <p:nvPr>
            <p:ph type="dt" sz="half" idx="10"/>
          </p:nvPr>
        </p:nvSpPr>
        <p:spPr/>
        <p:txBody>
          <a:bodyPr/>
          <a:lstStyle/>
          <a:p>
            <a:r>
              <a:rPr lang="de-DE"/>
              <a:t>03.03.25 / LIV-Hessen</a:t>
            </a:r>
            <a:endParaRPr lang="de-DE" dirty="0"/>
          </a:p>
        </p:txBody>
      </p:sp>
      <p:sp>
        <p:nvSpPr>
          <p:cNvPr id="5" name="Fußzeilenplatzhalter 4">
            <a:extLst>
              <a:ext uri="{FF2B5EF4-FFF2-40B4-BE49-F238E27FC236}">
                <a16:creationId xmlns:a16="http://schemas.microsoft.com/office/drawing/2014/main" id="{9C2119CD-8A53-EAB7-0AEA-0C2FE1BD2F1D}"/>
              </a:ext>
            </a:extLst>
          </p:cNvPr>
          <p:cNvSpPr>
            <a:spLocks noGrp="1"/>
          </p:cNvSpPr>
          <p:nvPr>
            <p:ph type="ftr" sz="quarter" idx="11"/>
          </p:nvPr>
        </p:nvSpPr>
        <p:spPr/>
        <p:txBody>
          <a:bodyPr/>
          <a:lstStyle/>
          <a:p>
            <a:r>
              <a:rPr lang="de-DE"/>
              <a:t>Tätigkeiten des bev. Bezirksschornsteinfeger -  Abnahme an Feuerungsanlagen</a:t>
            </a:r>
            <a:endParaRPr lang="de-DE" dirty="0"/>
          </a:p>
        </p:txBody>
      </p:sp>
      <p:sp>
        <p:nvSpPr>
          <p:cNvPr id="6" name="Foliennummernplatzhalter 5">
            <a:extLst>
              <a:ext uri="{FF2B5EF4-FFF2-40B4-BE49-F238E27FC236}">
                <a16:creationId xmlns:a16="http://schemas.microsoft.com/office/drawing/2014/main" id="{EEC56796-D08B-65E8-ECE4-087B452374EB}"/>
              </a:ext>
            </a:extLst>
          </p:cNvPr>
          <p:cNvSpPr>
            <a:spLocks noGrp="1"/>
          </p:cNvSpPr>
          <p:nvPr>
            <p:ph type="sldNum" sz="quarter" idx="12"/>
          </p:nvPr>
        </p:nvSpPr>
        <p:spPr/>
        <p:txBody>
          <a:bodyPr/>
          <a:lstStyle/>
          <a:p>
            <a:fld id="{1F759103-C7F7-4BD0-A3ED-461D710A1134}" type="slidenum">
              <a:rPr lang="de-DE" smtClean="0"/>
              <a:t>7</a:t>
            </a:fld>
            <a:endParaRPr lang="de-DE"/>
          </a:p>
        </p:txBody>
      </p:sp>
      <p:pic>
        <p:nvPicPr>
          <p:cNvPr id="7" name="Inhaltsplatzhalter 7" descr="Ein Bild, das Text, Screenshot, Schrift, Zahl enthält.&#10;&#10;KI-generierte Inhalte können fehlerhaft sein.">
            <a:extLst>
              <a:ext uri="{FF2B5EF4-FFF2-40B4-BE49-F238E27FC236}">
                <a16:creationId xmlns:a16="http://schemas.microsoft.com/office/drawing/2014/main" id="{8E36E88F-B562-A5DF-71F7-E4EB1408CC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46238"/>
            <a:ext cx="10471901" cy="4351338"/>
          </a:xfrm>
          <a:prstGeom prst="rect">
            <a:avLst/>
          </a:prstGeom>
        </p:spPr>
      </p:pic>
      <p:sp>
        <p:nvSpPr>
          <p:cNvPr id="8" name="Rechteck 7">
            <a:extLst>
              <a:ext uri="{FF2B5EF4-FFF2-40B4-BE49-F238E27FC236}">
                <a16:creationId xmlns:a16="http://schemas.microsoft.com/office/drawing/2014/main" id="{3A85817D-EB60-0D2E-BE3A-53F95AC077A5}"/>
              </a:ext>
            </a:extLst>
          </p:cNvPr>
          <p:cNvSpPr/>
          <p:nvPr/>
        </p:nvSpPr>
        <p:spPr>
          <a:xfrm>
            <a:off x="7683910" y="4365523"/>
            <a:ext cx="2005780" cy="4866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Inhaltsplatzhalter 7" descr="Ein Bild, das Text, Screenshot, Schrift, Dokument enthält.&#10;&#10;KI-generierte Inhalte können fehlerhaft sein.">
            <a:extLst>
              <a:ext uri="{FF2B5EF4-FFF2-40B4-BE49-F238E27FC236}">
                <a16:creationId xmlns:a16="http://schemas.microsoft.com/office/drawing/2014/main" id="{27BA1148-8CDE-3B93-5F90-52AC5D1046B8}"/>
              </a:ext>
            </a:extLst>
          </p:cNvPr>
          <p:cNvPicPr>
            <a:picLocks noChangeAspect="1"/>
          </p:cNvPicPr>
          <p:nvPr/>
        </p:nvPicPr>
        <p:blipFill>
          <a:blip r:embed="rId4">
            <a:extLst>
              <a:ext uri="{28A0092B-C50C-407E-A947-70E740481C1C}">
                <a14:useLocalDpi xmlns:a14="http://schemas.microsoft.com/office/drawing/2010/main" val="0"/>
              </a:ext>
            </a:extLst>
          </a:blip>
          <a:srcRect l="6913"/>
          <a:stretch/>
        </p:blipFill>
        <p:spPr>
          <a:xfrm>
            <a:off x="679180" y="1476223"/>
            <a:ext cx="7735608" cy="4151312"/>
          </a:xfrm>
          <a:prstGeom prst="rect">
            <a:avLst/>
          </a:prstGeom>
        </p:spPr>
      </p:pic>
      <p:sp>
        <p:nvSpPr>
          <p:cNvPr id="10" name="Textfeld 9">
            <a:extLst>
              <a:ext uri="{FF2B5EF4-FFF2-40B4-BE49-F238E27FC236}">
                <a16:creationId xmlns:a16="http://schemas.microsoft.com/office/drawing/2014/main" id="{3711E6BB-01B8-C885-EF90-1B8A881FA7DF}"/>
              </a:ext>
            </a:extLst>
          </p:cNvPr>
          <p:cNvSpPr txBox="1"/>
          <p:nvPr/>
        </p:nvSpPr>
        <p:spPr>
          <a:xfrm>
            <a:off x="702226" y="3484757"/>
            <a:ext cx="3200400" cy="369332"/>
          </a:xfrm>
          <a:prstGeom prst="rect">
            <a:avLst/>
          </a:prstGeom>
          <a:noFill/>
        </p:spPr>
        <p:txBody>
          <a:bodyPr wrap="square" rtlCol="0">
            <a:spAutoFit/>
          </a:bodyPr>
          <a:lstStyle/>
          <a:p>
            <a:r>
              <a:rPr lang="de-DE" dirty="0"/>
              <a:t>TRGI-Kommentar: 10.1.1.5</a:t>
            </a:r>
          </a:p>
        </p:txBody>
      </p:sp>
      <p:pic>
        <p:nvPicPr>
          <p:cNvPr id="11" name="Inhaltsplatzhalter 7" descr="Ein Bild, das Text, Screenshot, Schrift, Dokument enthält.&#10;&#10;KI-generierte Inhalte können fehlerhaft sein.">
            <a:extLst>
              <a:ext uri="{FF2B5EF4-FFF2-40B4-BE49-F238E27FC236}">
                <a16:creationId xmlns:a16="http://schemas.microsoft.com/office/drawing/2014/main" id="{27BABAEC-1173-DFCD-5F46-57D243108B88}"/>
              </a:ext>
            </a:extLst>
          </p:cNvPr>
          <p:cNvPicPr>
            <a:picLocks noChangeAspect="1"/>
          </p:cNvPicPr>
          <p:nvPr/>
        </p:nvPicPr>
        <p:blipFill>
          <a:blip r:embed="rId5">
            <a:extLst>
              <a:ext uri="{28A0092B-C50C-407E-A947-70E740481C1C}">
                <a14:useLocalDpi xmlns:a14="http://schemas.microsoft.com/office/drawing/2010/main" val="0"/>
              </a:ext>
            </a:extLst>
          </a:blip>
          <a:srcRect b="11010"/>
          <a:stretch/>
        </p:blipFill>
        <p:spPr>
          <a:xfrm>
            <a:off x="800490" y="1509547"/>
            <a:ext cx="6354243" cy="3872230"/>
          </a:xfrm>
          <a:prstGeom prst="rect">
            <a:avLst/>
          </a:prstGeom>
        </p:spPr>
      </p:pic>
      <p:sp>
        <p:nvSpPr>
          <p:cNvPr id="12" name="Textfeld 11">
            <a:extLst>
              <a:ext uri="{FF2B5EF4-FFF2-40B4-BE49-F238E27FC236}">
                <a16:creationId xmlns:a16="http://schemas.microsoft.com/office/drawing/2014/main" id="{27AF34B8-7925-DF1B-0C9B-9D5B8D76239A}"/>
              </a:ext>
            </a:extLst>
          </p:cNvPr>
          <p:cNvSpPr txBox="1"/>
          <p:nvPr/>
        </p:nvSpPr>
        <p:spPr>
          <a:xfrm>
            <a:off x="3446426" y="4780521"/>
            <a:ext cx="3326808" cy="369332"/>
          </a:xfrm>
          <a:prstGeom prst="rect">
            <a:avLst/>
          </a:prstGeom>
          <a:noFill/>
        </p:spPr>
        <p:txBody>
          <a:bodyPr wrap="none" rtlCol="0">
            <a:spAutoFit/>
          </a:bodyPr>
          <a:lstStyle/>
          <a:p>
            <a:r>
              <a:rPr lang="de-DE" dirty="0"/>
              <a:t>DIN EN 15287-2 N3.3 Verfahren B</a:t>
            </a:r>
          </a:p>
        </p:txBody>
      </p:sp>
      <p:pic>
        <p:nvPicPr>
          <p:cNvPr id="13" name="Inhaltsplatzhalter 7" descr="Ein Bild, das Text, Schrift, Papier, Brief enthält.&#10;&#10;KI-generierte Inhalte können fehlerhaft sein.">
            <a:extLst>
              <a:ext uri="{FF2B5EF4-FFF2-40B4-BE49-F238E27FC236}">
                <a16:creationId xmlns:a16="http://schemas.microsoft.com/office/drawing/2014/main" id="{D29B779F-6601-2176-271D-DD4CF3F44B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888" y="1309088"/>
            <a:ext cx="3919010" cy="4351338"/>
          </a:xfrm>
          <a:prstGeom prst="rect">
            <a:avLst/>
          </a:prstGeom>
        </p:spPr>
      </p:pic>
      <p:sp>
        <p:nvSpPr>
          <p:cNvPr id="14" name="Textfeld 13">
            <a:extLst>
              <a:ext uri="{FF2B5EF4-FFF2-40B4-BE49-F238E27FC236}">
                <a16:creationId xmlns:a16="http://schemas.microsoft.com/office/drawing/2014/main" id="{7AF0A0CF-C8E7-31AA-68F3-B4E1747B8ACA}"/>
              </a:ext>
            </a:extLst>
          </p:cNvPr>
          <p:cNvSpPr txBox="1"/>
          <p:nvPr/>
        </p:nvSpPr>
        <p:spPr>
          <a:xfrm>
            <a:off x="1422578" y="5619786"/>
            <a:ext cx="2216697" cy="369332"/>
          </a:xfrm>
          <a:prstGeom prst="rect">
            <a:avLst/>
          </a:prstGeom>
          <a:noFill/>
        </p:spPr>
        <p:txBody>
          <a:bodyPr wrap="none" rtlCol="0">
            <a:spAutoFit/>
          </a:bodyPr>
          <a:lstStyle/>
          <a:p>
            <a:r>
              <a:rPr lang="de-DE" dirty="0"/>
              <a:t>VDI 4207 Blatt 1 7.3.9</a:t>
            </a:r>
          </a:p>
        </p:txBody>
      </p:sp>
      <p:pic>
        <p:nvPicPr>
          <p:cNvPr id="15" name="Grafik 14" descr="Ein Bild, das Text, Schrift, Schwarzweiß, weiß enthält.&#10;&#10;KI-generierte Inhalte können fehlerhaft sein.">
            <a:extLst>
              <a:ext uri="{FF2B5EF4-FFF2-40B4-BE49-F238E27FC236}">
                <a16:creationId xmlns:a16="http://schemas.microsoft.com/office/drawing/2014/main" id="{0720ADF2-859C-92C2-6C63-BEED33D8B2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1551" y="1425918"/>
            <a:ext cx="4673600" cy="2616200"/>
          </a:xfrm>
          <a:prstGeom prst="rect">
            <a:avLst/>
          </a:prstGeom>
        </p:spPr>
      </p:pic>
      <p:sp>
        <p:nvSpPr>
          <p:cNvPr id="16" name="Textfeld 15">
            <a:extLst>
              <a:ext uri="{FF2B5EF4-FFF2-40B4-BE49-F238E27FC236}">
                <a16:creationId xmlns:a16="http://schemas.microsoft.com/office/drawing/2014/main" id="{8B733120-B09F-06B7-FFB8-5DA72F6CC4F6}"/>
              </a:ext>
            </a:extLst>
          </p:cNvPr>
          <p:cNvSpPr txBox="1"/>
          <p:nvPr/>
        </p:nvSpPr>
        <p:spPr>
          <a:xfrm>
            <a:off x="6654077" y="3574492"/>
            <a:ext cx="2362924" cy="369332"/>
          </a:xfrm>
          <a:prstGeom prst="rect">
            <a:avLst/>
          </a:prstGeom>
          <a:noFill/>
        </p:spPr>
        <p:txBody>
          <a:bodyPr wrap="square" rtlCol="0">
            <a:spAutoFit/>
          </a:bodyPr>
          <a:lstStyle/>
          <a:p>
            <a:r>
              <a:rPr lang="de-DE" dirty="0"/>
              <a:t>VDI 4207 Blatt 3 7.3.10</a:t>
            </a:r>
          </a:p>
        </p:txBody>
      </p:sp>
    </p:spTree>
    <p:extLst>
      <p:ext uri="{BB962C8B-B14F-4D97-AF65-F5344CB8AC3E}">
        <p14:creationId xmlns:p14="http://schemas.microsoft.com/office/powerpoint/2010/main" val="161408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grpId="1" nodeType="clickEffect">
                                  <p:stCondLst>
                                    <p:cond delay="0"/>
                                  </p:stCondLst>
                                  <p:childTnLst>
                                    <p:animEffect transition="out" filter="blinds(horizontal)">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par>
                                <p:cTn id="20" presetID="3" presetClass="exit" presetSubtype="10" fill="hold" nodeType="withEffect">
                                  <p:stCondLst>
                                    <p:cond delay="0"/>
                                  </p:stCondLst>
                                  <p:childTnLst>
                                    <p:animEffect transition="out" filter="blinds(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5"/>
                                        </p:tgtEl>
                                      </p:cBhvr>
                                    </p:animEffect>
                                    <p:set>
                                      <p:cBhvr>
                                        <p:cTn id="35" dur="1" fill="hold">
                                          <p:stCondLst>
                                            <p:cond delay="499"/>
                                          </p:stCondLst>
                                        </p:cTn>
                                        <p:tgtEl>
                                          <p:spTgt spid="5"/>
                                        </p:tgtEl>
                                        <p:attrNameLst>
                                          <p:attrName>style.visibility</p:attrName>
                                        </p:attrNameLst>
                                      </p:cBhvr>
                                      <p:to>
                                        <p:strVal val="hidden"/>
                                      </p:to>
                                    </p:set>
                                  </p:childTnLst>
                                </p:cTn>
                              </p:par>
                              <p:par>
                                <p:cTn id="36" presetID="3" presetClass="exit" presetSubtype="10" fill="hold" grpId="1" nodeType="withEffect">
                                  <p:stCondLst>
                                    <p:cond delay="0"/>
                                  </p:stCondLst>
                                  <p:childTnLst>
                                    <p:animEffect transition="out" filter="blinds(horizontal)">
                                      <p:cBhvr>
                                        <p:cTn id="37" dur="500"/>
                                        <p:tgtEl>
                                          <p:spTgt spid="12"/>
                                        </p:tgtEl>
                                      </p:cBhvr>
                                    </p:animEffect>
                                    <p:set>
                                      <p:cBhvr>
                                        <p:cTn id="38" dur="1" fill="hold">
                                          <p:stCondLst>
                                            <p:cond delay="499"/>
                                          </p:stCondLst>
                                        </p:cTn>
                                        <p:tgtEl>
                                          <p:spTgt spid="12"/>
                                        </p:tgtEl>
                                        <p:attrNameLst>
                                          <p:attrName>style.visibility</p:attrName>
                                        </p:attrNameLst>
                                      </p:cBhvr>
                                      <p:to>
                                        <p:strVal val="hidden"/>
                                      </p:to>
                                    </p:set>
                                  </p:childTnLst>
                                </p:cTn>
                              </p:par>
                              <p:par>
                                <p:cTn id="39" presetID="3" presetClass="exit" presetSubtype="10" fill="hold" nodeType="withEffect">
                                  <p:stCondLst>
                                    <p:cond delay="0"/>
                                  </p:stCondLst>
                                  <p:childTnLst>
                                    <p:animEffect transition="out" filter="blinds(horizontal)">
                                      <p:cBhvr>
                                        <p:cTn id="40" dur="500"/>
                                        <p:tgtEl>
                                          <p:spTgt spid="11"/>
                                        </p:tgtEl>
                                      </p:cBhvr>
                                    </p:animEffect>
                                    <p:set>
                                      <p:cBhvr>
                                        <p:cTn id="41" dur="1" fill="hold">
                                          <p:stCondLst>
                                            <p:cond delay="499"/>
                                          </p:stCondLst>
                                        </p:cTn>
                                        <p:tgtEl>
                                          <p:spTgt spid="1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nodeType="clickEffect">
                                  <p:stCondLst>
                                    <p:cond delay="0"/>
                                  </p:stCondLst>
                                  <p:childTnLst>
                                    <p:animEffect transition="out" filter="blinds(horizontal)">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p:bldP spid="10" grpId="1"/>
      <p:bldP spid="12" grpId="0"/>
      <p:bldP spid="12" grpId="1"/>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60A481-19E5-9278-9825-B3E5A753345F}"/>
              </a:ext>
            </a:extLst>
          </p:cNvPr>
          <p:cNvSpPr>
            <a:spLocks noGrp="1"/>
          </p:cNvSpPr>
          <p:nvPr>
            <p:ph type="title"/>
          </p:nvPr>
        </p:nvSpPr>
        <p:spPr/>
        <p:txBody>
          <a:bodyPr/>
          <a:lstStyle/>
          <a:p>
            <a:r>
              <a:rPr lang="de-DE" dirty="0" err="1"/>
              <a:t>Kondensatbeständigkeitsklassen</a:t>
            </a:r>
            <a:endParaRPr lang="de-DE" dirty="0"/>
          </a:p>
        </p:txBody>
      </p:sp>
      <p:pic>
        <p:nvPicPr>
          <p:cNvPr id="8" name="Inhaltsplatzhalter 7" descr="Ein Bild, das Text, Quittung, Algebra enthält.&#10;&#10;KI-generierte Inhalte können fehlerhaft sein.">
            <a:extLst>
              <a:ext uri="{FF2B5EF4-FFF2-40B4-BE49-F238E27FC236}">
                <a16:creationId xmlns:a16="http://schemas.microsoft.com/office/drawing/2014/main" id="{21DF85D8-8944-9383-D829-73D9B37E17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1806" y="1818806"/>
            <a:ext cx="8357588" cy="2386481"/>
          </a:xfrm>
        </p:spPr>
      </p:pic>
      <p:sp>
        <p:nvSpPr>
          <p:cNvPr id="4" name="Datumsplatzhalter 3">
            <a:extLst>
              <a:ext uri="{FF2B5EF4-FFF2-40B4-BE49-F238E27FC236}">
                <a16:creationId xmlns:a16="http://schemas.microsoft.com/office/drawing/2014/main" id="{8587CA74-90BA-EBD9-13AD-D5483224B444}"/>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2FAAF89D-2B26-9572-2BD9-1BA2CB133D68}"/>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D4589BD-340F-B0AC-8845-53C1EE512F25}"/>
              </a:ext>
            </a:extLst>
          </p:cNvPr>
          <p:cNvSpPr>
            <a:spLocks noGrp="1"/>
          </p:cNvSpPr>
          <p:nvPr>
            <p:ph type="sldNum" sz="quarter" idx="12"/>
          </p:nvPr>
        </p:nvSpPr>
        <p:spPr/>
        <p:txBody>
          <a:bodyPr/>
          <a:lstStyle/>
          <a:p>
            <a:fld id="{1F759103-C7F7-4BD0-A3ED-461D710A1134}" type="slidenum">
              <a:rPr lang="de-DE" smtClean="0"/>
              <a:t>8</a:t>
            </a:fld>
            <a:endParaRPr lang="de-DE"/>
          </a:p>
        </p:txBody>
      </p:sp>
      <p:pic>
        <p:nvPicPr>
          <p:cNvPr id="10" name="Grafik 9" descr="Ein Bild, das Maßstabsmodell enthält.&#10;&#10;KI-generierte Inhalte können fehlerhaft sein.">
            <a:extLst>
              <a:ext uri="{FF2B5EF4-FFF2-40B4-BE49-F238E27FC236}">
                <a16:creationId xmlns:a16="http://schemas.microsoft.com/office/drawing/2014/main" id="{42F444B5-3F7F-5B9F-94AD-4A01B14D9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9327" y="1377950"/>
            <a:ext cx="2590800" cy="4927600"/>
          </a:xfrm>
          <a:prstGeom prst="rect">
            <a:avLst/>
          </a:prstGeom>
        </p:spPr>
      </p:pic>
      <p:pic>
        <p:nvPicPr>
          <p:cNvPr id="12" name="Grafik 11" descr="Ein Bild, das Gebäude, Himmel, draußen, Mauerwerk enthält.&#10;&#10;KI-generierte Inhalte können fehlerhaft sein.">
            <a:extLst>
              <a:ext uri="{FF2B5EF4-FFF2-40B4-BE49-F238E27FC236}">
                <a16:creationId xmlns:a16="http://schemas.microsoft.com/office/drawing/2014/main" id="{CAE4A46A-DF6C-5545-79C0-D0A1EC0342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666" y="3841750"/>
            <a:ext cx="3238500" cy="2514600"/>
          </a:xfrm>
          <a:prstGeom prst="rect">
            <a:avLst/>
          </a:prstGeom>
        </p:spPr>
      </p:pic>
    </p:spTree>
    <p:extLst>
      <p:ext uri="{BB962C8B-B14F-4D97-AF65-F5344CB8AC3E}">
        <p14:creationId xmlns:p14="http://schemas.microsoft.com/office/powerpoint/2010/main" val="4127604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393D18-5407-7F24-7DDD-1BCEA7551C35}"/>
              </a:ext>
            </a:extLst>
          </p:cNvPr>
          <p:cNvSpPr>
            <a:spLocks noGrp="1"/>
          </p:cNvSpPr>
          <p:nvPr>
            <p:ph type="title"/>
          </p:nvPr>
        </p:nvSpPr>
        <p:spPr/>
        <p:txBody>
          <a:bodyPr/>
          <a:lstStyle/>
          <a:p>
            <a:r>
              <a:rPr lang="de-DE" dirty="0"/>
              <a:t>Korrosionswiderstandsklasse</a:t>
            </a:r>
          </a:p>
        </p:txBody>
      </p:sp>
      <p:sp>
        <p:nvSpPr>
          <p:cNvPr id="4" name="Datumsplatzhalter 3">
            <a:extLst>
              <a:ext uri="{FF2B5EF4-FFF2-40B4-BE49-F238E27FC236}">
                <a16:creationId xmlns:a16="http://schemas.microsoft.com/office/drawing/2014/main" id="{77C4ADD0-0743-05B8-BE2E-1DE5B003BBB6}"/>
              </a:ext>
            </a:extLst>
          </p:cNvPr>
          <p:cNvSpPr>
            <a:spLocks noGrp="1"/>
          </p:cNvSpPr>
          <p:nvPr>
            <p:ph type="dt" sz="half" idx="10"/>
          </p:nvPr>
        </p:nvSpPr>
        <p:spPr/>
        <p:txBody>
          <a:bodyPr/>
          <a:lstStyle/>
          <a:p>
            <a:r>
              <a:rPr lang="de-DE" dirty="0"/>
              <a:t>Berufliche Schulen Bebra</a:t>
            </a:r>
          </a:p>
        </p:txBody>
      </p:sp>
      <p:sp>
        <p:nvSpPr>
          <p:cNvPr id="5" name="Fußzeilenplatzhalter 4">
            <a:extLst>
              <a:ext uri="{FF2B5EF4-FFF2-40B4-BE49-F238E27FC236}">
                <a16:creationId xmlns:a16="http://schemas.microsoft.com/office/drawing/2014/main" id="{2EC43B88-E677-F441-0D92-7B3EC1DEF391}"/>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A8BEB704-03EC-1761-9A65-3AC89F1BB7B4}"/>
              </a:ext>
            </a:extLst>
          </p:cNvPr>
          <p:cNvSpPr>
            <a:spLocks noGrp="1"/>
          </p:cNvSpPr>
          <p:nvPr>
            <p:ph type="sldNum" sz="quarter" idx="12"/>
          </p:nvPr>
        </p:nvSpPr>
        <p:spPr/>
        <p:txBody>
          <a:bodyPr/>
          <a:lstStyle/>
          <a:p>
            <a:fld id="{1F759103-C7F7-4BD0-A3ED-461D710A1134}" type="slidenum">
              <a:rPr lang="de-DE" smtClean="0"/>
              <a:t>9</a:t>
            </a:fld>
            <a:endParaRPr lang="de-DE"/>
          </a:p>
        </p:txBody>
      </p:sp>
      <p:pic>
        <p:nvPicPr>
          <p:cNvPr id="11" name="Inhaltsplatzhalter 10" descr="Ein Bild, das Text, Screenshot, Quittung, Schrift enthält.&#10;&#10;KI-generierte Inhalte können fehlerhaft sein.">
            <a:extLst>
              <a:ext uri="{FF2B5EF4-FFF2-40B4-BE49-F238E27FC236}">
                <a16:creationId xmlns:a16="http://schemas.microsoft.com/office/drawing/2014/main" id="{FC382C00-F874-357C-5107-50B4CD5EC8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3657" y="1690688"/>
            <a:ext cx="8307251" cy="4079448"/>
          </a:xfrm>
          <a:prstGeom prst="rect">
            <a:avLst/>
          </a:prstGeom>
        </p:spPr>
      </p:pic>
    </p:spTree>
    <p:extLst>
      <p:ext uri="{BB962C8B-B14F-4D97-AF65-F5344CB8AC3E}">
        <p14:creationId xmlns:p14="http://schemas.microsoft.com/office/powerpoint/2010/main" val="3959911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8E77E6-84C8-71B4-32CB-51B5A5B80EAA}"/>
              </a:ext>
            </a:extLst>
          </p:cNvPr>
          <p:cNvSpPr>
            <a:spLocks noGrp="1"/>
          </p:cNvSpPr>
          <p:nvPr>
            <p:ph type="title"/>
          </p:nvPr>
        </p:nvSpPr>
        <p:spPr/>
        <p:txBody>
          <a:bodyPr/>
          <a:lstStyle/>
          <a:p>
            <a:r>
              <a:rPr lang="de-DE" dirty="0" err="1"/>
              <a:t>Rußbrandbeständigkeitsklassen</a:t>
            </a:r>
            <a:endParaRPr lang="de-DE" dirty="0"/>
          </a:p>
        </p:txBody>
      </p:sp>
      <p:pic>
        <p:nvPicPr>
          <p:cNvPr id="8" name="Inhaltsplatzhalter 7" descr="Ein Bild, das Text, Quittung, Algebra enthält.&#10;&#10;KI-generierte Inhalte können fehlerhaft sein.">
            <a:extLst>
              <a:ext uri="{FF2B5EF4-FFF2-40B4-BE49-F238E27FC236}">
                <a16:creationId xmlns:a16="http://schemas.microsoft.com/office/drawing/2014/main" id="{CD08E5EE-337E-DA7C-CB62-0C869C40AAE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6819"/>
          <a:stretch>
            <a:fillRect/>
          </a:stretch>
        </p:blipFill>
        <p:spPr>
          <a:xfrm>
            <a:off x="838200" y="1690687"/>
            <a:ext cx="10001250" cy="1890713"/>
          </a:xfrm>
        </p:spPr>
      </p:pic>
      <p:sp>
        <p:nvSpPr>
          <p:cNvPr id="4" name="Datumsplatzhalter 3">
            <a:extLst>
              <a:ext uri="{FF2B5EF4-FFF2-40B4-BE49-F238E27FC236}">
                <a16:creationId xmlns:a16="http://schemas.microsoft.com/office/drawing/2014/main" id="{222E337A-BB28-A2EF-B957-69C231815B02}"/>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E05C8EC9-286D-A683-0912-2AFD5B90B5A6}"/>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7ED94317-178C-3EC6-F8D9-5DE188859B78}"/>
              </a:ext>
            </a:extLst>
          </p:cNvPr>
          <p:cNvSpPr>
            <a:spLocks noGrp="1"/>
          </p:cNvSpPr>
          <p:nvPr>
            <p:ph type="sldNum" sz="quarter" idx="12"/>
          </p:nvPr>
        </p:nvSpPr>
        <p:spPr/>
        <p:txBody>
          <a:bodyPr/>
          <a:lstStyle/>
          <a:p>
            <a:fld id="{1F759103-C7F7-4BD0-A3ED-461D710A1134}" type="slidenum">
              <a:rPr lang="de-DE" smtClean="0"/>
              <a:t>10</a:t>
            </a:fld>
            <a:endParaRPr lang="de-DE"/>
          </a:p>
        </p:txBody>
      </p:sp>
      <p:pic>
        <p:nvPicPr>
          <p:cNvPr id="10" name="Grafik 9" descr="Ein Bild, das Text, Schrift enthält.&#10;&#10;KI-generierte Inhalte können fehlerhaft sein.">
            <a:extLst>
              <a:ext uri="{FF2B5EF4-FFF2-40B4-BE49-F238E27FC236}">
                <a16:creationId xmlns:a16="http://schemas.microsoft.com/office/drawing/2014/main" id="{828B6D8C-1C03-21A0-BBBE-88C7557587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50" y="4002087"/>
            <a:ext cx="9987118" cy="1325563"/>
          </a:xfrm>
          <a:prstGeom prst="rect">
            <a:avLst/>
          </a:prstGeom>
        </p:spPr>
      </p:pic>
    </p:spTree>
    <p:extLst>
      <p:ext uri="{BB962C8B-B14F-4D97-AF65-F5344CB8AC3E}">
        <p14:creationId xmlns:p14="http://schemas.microsoft.com/office/powerpoint/2010/main" val="95000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D5B2A1-D368-DABA-BA90-46DF057AE826}"/>
              </a:ext>
            </a:extLst>
          </p:cNvPr>
          <p:cNvSpPr>
            <a:spLocks noGrp="1"/>
          </p:cNvSpPr>
          <p:nvPr>
            <p:ph type="title"/>
          </p:nvPr>
        </p:nvSpPr>
        <p:spPr/>
        <p:txBody>
          <a:bodyPr/>
          <a:lstStyle/>
          <a:p>
            <a:endParaRPr lang="de-DE"/>
          </a:p>
        </p:txBody>
      </p:sp>
      <p:pic>
        <p:nvPicPr>
          <p:cNvPr id="8" name="Inhaltsplatzhalter 7" descr="Ein Bild, das Feuer, Wärme, Kunst, Kamin enthält.&#10;&#10;KI-generierte Inhalte können fehlerhaft sein.">
            <a:extLst>
              <a:ext uri="{FF2B5EF4-FFF2-40B4-BE49-F238E27FC236}">
                <a16:creationId xmlns:a16="http://schemas.microsoft.com/office/drawing/2014/main" id="{F566D427-921C-36A3-E661-4C4EBAD7D1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8139" y="1847850"/>
            <a:ext cx="5858984" cy="4351338"/>
          </a:xfrm>
        </p:spPr>
      </p:pic>
      <p:sp>
        <p:nvSpPr>
          <p:cNvPr id="4" name="Datumsplatzhalter 3">
            <a:extLst>
              <a:ext uri="{FF2B5EF4-FFF2-40B4-BE49-F238E27FC236}">
                <a16:creationId xmlns:a16="http://schemas.microsoft.com/office/drawing/2014/main" id="{74A529C4-28F3-547B-187B-3281D351392C}"/>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24565658-694D-945A-FA0E-60FB34D02D40}"/>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843B50B4-D695-0B4A-A56E-48172BEF2E78}"/>
              </a:ext>
            </a:extLst>
          </p:cNvPr>
          <p:cNvSpPr>
            <a:spLocks noGrp="1"/>
          </p:cNvSpPr>
          <p:nvPr>
            <p:ph type="sldNum" sz="quarter" idx="12"/>
          </p:nvPr>
        </p:nvSpPr>
        <p:spPr/>
        <p:txBody>
          <a:bodyPr/>
          <a:lstStyle/>
          <a:p>
            <a:fld id="{1F759103-C7F7-4BD0-A3ED-461D710A1134}" type="slidenum">
              <a:rPr lang="de-DE" smtClean="0"/>
              <a:t>11</a:t>
            </a:fld>
            <a:endParaRPr lang="de-DE"/>
          </a:p>
        </p:txBody>
      </p:sp>
    </p:spTree>
    <p:extLst>
      <p:ext uri="{BB962C8B-B14F-4D97-AF65-F5344CB8AC3E}">
        <p14:creationId xmlns:p14="http://schemas.microsoft.com/office/powerpoint/2010/main" val="241988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76D557-97B9-2CBC-AAF6-19D15AB5FD9F}"/>
              </a:ext>
            </a:extLst>
          </p:cNvPr>
          <p:cNvSpPr>
            <a:spLocks noGrp="1"/>
          </p:cNvSpPr>
          <p:nvPr>
            <p:ph type="title"/>
          </p:nvPr>
        </p:nvSpPr>
        <p:spPr/>
        <p:txBody>
          <a:bodyPr/>
          <a:lstStyle/>
          <a:p>
            <a:r>
              <a:rPr lang="de-DE" dirty="0"/>
              <a:t>Exkurs: </a:t>
            </a:r>
            <a:r>
              <a:rPr lang="de-DE" dirty="0" err="1"/>
              <a:t>FeuV</a:t>
            </a:r>
            <a:endParaRPr lang="de-DE" dirty="0"/>
          </a:p>
        </p:txBody>
      </p:sp>
      <p:pic>
        <p:nvPicPr>
          <p:cNvPr id="8" name="Inhaltsplatzhalter 7" descr="Ein Bild, das Text, Screenshot, Schrift, Informationen enthält.&#10;&#10;KI-generierte Inhalte können fehlerhaft sein.">
            <a:extLst>
              <a:ext uri="{FF2B5EF4-FFF2-40B4-BE49-F238E27FC236}">
                <a16:creationId xmlns:a16="http://schemas.microsoft.com/office/drawing/2014/main" id="{8CC1D27D-B726-06DC-F377-D731833E5E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766" y="611630"/>
            <a:ext cx="10121900" cy="1917700"/>
          </a:xfrm>
        </p:spPr>
      </p:pic>
      <p:sp>
        <p:nvSpPr>
          <p:cNvPr id="4" name="Datumsplatzhalter 3">
            <a:extLst>
              <a:ext uri="{FF2B5EF4-FFF2-40B4-BE49-F238E27FC236}">
                <a16:creationId xmlns:a16="http://schemas.microsoft.com/office/drawing/2014/main" id="{2473F82E-975B-B4C3-AE7F-DA76646570AE}"/>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4DD7FCA1-122F-91D4-5F41-1B3196EEF60B}"/>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1B935C52-9101-8E01-3E0F-6103F6ADEF2E}"/>
              </a:ext>
            </a:extLst>
          </p:cNvPr>
          <p:cNvSpPr>
            <a:spLocks noGrp="1"/>
          </p:cNvSpPr>
          <p:nvPr>
            <p:ph type="sldNum" sz="quarter" idx="12"/>
          </p:nvPr>
        </p:nvSpPr>
        <p:spPr/>
        <p:txBody>
          <a:bodyPr/>
          <a:lstStyle/>
          <a:p>
            <a:fld id="{1F759103-C7F7-4BD0-A3ED-461D710A1134}" type="slidenum">
              <a:rPr lang="de-DE" smtClean="0"/>
              <a:t>12</a:t>
            </a:fld>
            <a:endParaRPr lang="de-DE"/>
          </a:p>
        </p:txBody>
      </p:sp>
      <p:pic>
        <p:nvPicPr>
          <p:cNvPr id="10" name="Grafik 9" descr="Ein Bild, das Text, Screenshot, Schrift, Design enthält.&#10;&#10;KI-generierte Inhalte können fehlerhaft sein.">
            <a:extLst>
              <a:ext uri="{FF2B5EF4-FFF2-40B4-BE49-F238E27FC236}">
                <a16:creationId xmlns:a16="http://schemas.microsoft.com/office/drawing/2014/main" id="{F9EE0161-58EB-0993-EA48-3AC954E91D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2529330"/>
            <a:ext cx="7772400" cy="4536632"/>
          </a:xfrm>
          <a:prstGeom prst="rect">
            <a:avLst/>
          </a:prstGeom>
        </p:spPr>
      </p:pic>
    </p:spTree>
    <p:extLst>
      <p:ext uri="{BB962C8B-B14F-4D97-AF65-F5344CB8AC3E}">
        <p14:creationId xmlns:p14="http://schemas.microsoft.com/office/powerpoint/2010/main" val="2792462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517B34-F7CD-FA9B-3D81-FBE6774626ED}"/>
              </a:ext>
            </a:extLst>
          </p:cNvPr>
          <p:cNvSpPr>
            <a:spLocks noGrp="1"/>
          </p:cNvSpPr>
          <p:nvPr>
            <p:ph type="title"/>
          </p:nvPr>
        </p:nvSpPr>
        <p:spPr/>
        <p:txBody>
          <a:bodyPr/>
          <a:lstStyle/>
          <a:p>
            <a:r>
              <a:rPr lang="de-DE" dirty="0"/>
              <a:t>Mindestabstand zu brennbarem Material </a:t>
            </a:r>
          </a:p>
        </p:txBody>
      </p:sp>
      <p:pic>
        <p:nvPicPr>
          <p:cNvPr id="8" name="Inhaltsplatzhalter 7" descr="Ein Bild, das Text, Schrift enthält.&#10;&#10;KI-generierte Inhalte können fehlerhaft sein.">
            <a:extLst>
              <a:ext uri="{FF2B5EF4-FFF2-40B4-BE49-F238E27FC236}">
                <a16:creationId xmlns:a16="http://schemas.microsoft.com/office/drawing/2014/main" id="{BF22112A-FA97-2F88-2613-8A513FFEDE5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28982"/>
          <a:stretch>
            <a:fillRect/>
          </a:stretch>
        </p:blipFill>
        <p:spPr>
          <a:xfrm>
            <a:off x="838200" y="1843088"/>
            <a:ext cx="9987118" cy="941387"/>
          </a:xfrm>
        </p:spPr>
      </p:pic>
      <p:sp>
        <p:nvSpPr>
          <p:cNvPr id="4" name="Datumsplatzhalter 3">
            <a:extLst>
              <a:ext uri="{FF2B5EF4-FFF2-40B4-BE49-F238E27FC236}">
                <a16:creationId xmlns:a16="http://schemas.microsoft.com/office/drawing/2014/main" id="{FC5E2E64-4093-3598-AE57-8FFCA56EB59C}"/>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894DB36-BA75-DD4F-C945-0CB7EE08AAC2}"/>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222717AB-B183-6907-CE84-1C5D0FBDD6F3}"/>
              </a:ext>
            </a:extLst>
          </p:cNvPr>
          <p:cNvSpPr>
            <a:spLocks noGrp="1"/>
          </p:cNvSpPr>
          <p:nvPr>
            <p:ph type="sldNum" sz="quarter" idx="12"/>
          </p:nvPr>
        </p:nvSpPr>
        <p:spPr/>
        <p:txBody>
          <a:bodyPr/>
          <a:lstStyle/>
          <a:p>
            <a:fld id="{1F759103-C7F7-4BD0-A3ED-461D710A1134}" type="slidenum">
              <a:rPr lang="de-DE" smtClean="0"/>
              <a:t>13</a:t>
            </a:fld>
            <a:endParaRPr lang="de-DE"/>
          </a:p>
        </p:txBody>
      </p:sp>
      <p:pic>
        <p:nvPicPr>
          <p:cNvPr id="10" name="Grafik 9" descr="Ein Bild, das Text, Screenshot, Schrift, Quittung enthält.&#10;&#10;KI-generierte Inhalte können fehlerhaft sein.">
            <a:extLst>
              <a:ext uri="{FF2B5EF4-FFF2-40B4-BE49-F238E27FC236}">
                <a16:creationId xmlns:a16="http://schemas.microsoft.com/office/drawing/2014/main" id="{F932BF11-D2A3-3710-216E-78713E878E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0768" y="3192463"/>
            <a:ext cx="9734550" cy="2991162"/>
          </a:xfrm>
          <a:prstGeom prst="rect">
            <a:avLst/>
          </a:prstGeom>
        </p:spPr>
      </p:pic>
    </p:spTree>
    <p:extLst>
      <p:ext uri="{BB962C8B-B14F-4D97-AF65-F5344CB8AC3E}">
        <p14:creationId xmlns:p14="http://schemas.microsoft.com/office/powerpoint/2010/main" val="3615961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E1BF42-9A56-F591-859C-1E48A4E0AB95}"/>
              </a:ext>
            </a:extLst>
          </p:cNvPr>
          <p:cNvSpPr>
            <a:spLocks noGrp="1"/>
          </p:cNvSpPr>
          <p:nvPr>
            <p:ph type="title"/>
          </p:nvPr>
        </p:nvSpPr>
        <p:spPr/>
        <p:txBody>
          <a:bodyPr/>
          <a:lstStyle/>
          <a:p>
            <a:endParaRPr lang="de-DE"/>
          </a:p>
        </p:txBody>
      </p:sp>
      <p:pic>
        <p:nvPicPr>
          <p:cNvPr id="8" name="Inhaltsplatzhalter 7" descr="Ein Bild, das Holz, Kompositmaterial, Reihe, Gebäude enthält.&#10;&#10;KI-generierte Inhalte können fehlerhaft sein.">
            <a:extLst>
              <a:ext uri="{FF2B5EF4-FFF2-40B4-BE49-F238E27FC236}">
                <a16:creationId xmlns:a16="http://schemas.microsoft.com/office/drawing/2014/main" id="{51A13E1A-3F2D-7E88-2B16-62EE5DC5CD7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57173" y="1825625"/>
            <a:ext cx="5877653" cy="4351338"/>
          </a:xfrm>
        </p:spPr>
      </p:pic>
      <p:sp>
        <p:nvSpPr>
          <p:cNvPr id="4" name="Datumsplatzhalter 3">
            <a:extLst>
              <a:ext uri="{FF2B5EF4-FFF2-40B4-BE49-F238E27FC236}">
                <a16:creationId xmlns:a16="http://schemas.microsoft.com/office/drawing/2014/main" id="{68161419-DDA7-46CF-D62A-0A671C00E705}"/>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EA92350A-0B74-1C08-E6EC-4056235B1942}"/>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04441C4-1F92-C5ED-4A0F-7173092B244B}"/>
              </a:ext>
            </a:extLst>
          </p:cNvPr>
          <p:cNvSpPr>
            <a:spLocks noGrp="1"/>
          </p:cNvSpPr>
          <p:nvPr>
            <p:ph type="sldNum" sz="quarter" idx="12"/>
          </p:nvPr>
        </p:nvSpPr>
        <p:spPr/>
        <p:txBody>
          <a:bodyPr/>
          <a:lstStyle/>
          <a:p>
            <a:fld id="{1F759103-C7F7-4BD0-A3ED-461D710A1134}" type="slidenum">
              <a:rPr lang="de-DE" smtClean="0"/>
              <a:t>14</a:t>
            </a:fld>
            <a:endParaRPr lang="de-DE"/>
          </a:p>
        </p:txBody>
      </p:sp>
    </p:spTree>
    <p:extLst>
      <p:ext uri="{BB962C8B-B14F-4D97-AF65-F5344CB8AC3E}">
        <p14:creationId xmlns:p14="http://schemas.microsoft.com/office/powerpoint/2010/main" val="1229451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48AE5D-E5A6-19A9-A88C-3B4B8DC9AEB0}"/>
              </a:ext>
            </a:extLst>
          </p:cNvPr>
          <p:cNvSpPr>
            <a:spLocks noGrp="1"/>
          </p:cNvSpPr>
          <p:nvPr>
            <p:ph type="title"/>
          </p:nvPr>
        </p:nvSpPr>
        <p:spPr/>
        <p:txBody>
          <a:bodyPr/>
          <a:lstStyle/>
          <a:p>
            <a:r>
              <a:rPr lang="de-DE" dirty="0"/>
              <a:t>Klassifiziere den Schornstein</a:t>
            </a:r>
          </a:p>
        </p:txBody>
      </p:sp>
      <p:pic>
        <p:nvPicPr>
          <p:cNvPr id="8" name="Inhaltsplatzhalter 7">
            <a:extLst>
              <a:ext uri="{FF2B5EF4-FFF2-40B4-BE49-F238E27FC236}">
                <a16:creationId xmlns:a16="http://schemas.microsoft.com/office/drawing/2014/main" id="{8104255D-CA07-D592-2924-98096CEB71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61344"/>
            <a:ext cx="10487498" cy="919956"/>
          </a:xfrm>
        </p:spPr>
      </p:pic>
      <p:sp>
        <p:nvSpPr>
          <p:cNvPr id="4" name="Datumsplatzhalter 3">
            <a:extLst>
              <a:ext uri="{FF2B5EF4-FFF2-40B4-BE49-F238E27FC236}">
                <a16:creationId xmlns:a16="http://schemas.microsoft.com/office/drawing/2014/main" id="{F6CB5676-015D-DD54-6E0E-B1A3C4F00CB7}"/>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36BAAB33-4A8A-00BF-51A6-CFA741AC55EE}"/>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81DDAA5C-4274-6230-16AB-54CB0231BFB7}"/>
              </a:ext>
            </a:extLst>
          </p:cNvPr>
          <p:cNvSpPr>
            <a:spLocks noGrp="1"/>
          </p:cNvSpPr>
          <p:nvPr>
            <p:ph type="sldNum" sz="quarter" idx="12"/>
          </p:nvPr>
        </p:nvSpPr>
        <p:spPr/>
        <p:txBody>
          <a:bodyPr/>
          <a:lstStyle/>
          <a:p>
            <a:fld id="{1F759103-C7F7-4BD0-A3ED-461D710A1134}" type="slidenum">
              <a:rPr lang="de-DE" smtClean="0"/>
              <a:t>15</a:t>
            </a:fld>
            <a:endParaRPr lang="de-DE"/>
          </a:p>
        </p:txBody>
      </p:sp>
      <p:pic>
        <p:nvPicPr>
          <p:cNvPr id="10" name="Grafik 9" descr="Ein Bild, das Text, Quittung, Screenshot, Reihe enthält.&#10;&#10;KI-generierte Inhalte können fehlerhaft sein.">
            <a:extLst>
              <a:ext uri="{FF2B5EF4-FFF2-40B4-BE49-F238E27FC236}">
                <a16:creationId xmlns:a16="http://schemas.microsoft.com/office/drawing/2014/main" id="{684B6A9F-B9B6-A2D3-2373-3EA1BEC0C4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066" y="2951956"/>
            <a:ext cx="10385632" cy="2610644"/>
          </a:xfrm>
          <a:prstGeom prst="rect">
            <a:avLst/>
          </a:prstGeom>
        </p:spPr>
      </p:pic>
    </p:spTree>
    <p:extLst>
      <p:ext uri="{BB962C8B-B14F-4D97-AF65-F5344CB8AC3E}">
        <p14:creationId xmlns:p14="http://schemas.microsoft.com/office/powerpoint/2010/main" val="2056883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F9FA8E-9326-F3E1-B941-F6DD52968E68}"/>
              </a:ext>
            </a:extLst>
          </p:cNvPr>
          <p:cNvSpPr>
            <a:spLocks noGrp="1"/>
          </p:cNvSpPr>
          <p:nvPr>
            <p:ph type="title"/>
          </p:nvPr>
        </p:nvSpPr>
        <p:spPr/>
        <p:txBody>
          <a:bodyPr/>
          <a:lstStyle/>
          <a:p>
            <a:r>
              <a:rPr lang="de-DE" dirty="0"/>
              <a:t>Klassifiziere die Abgasanlage</a:t>
            </a:r>
          </a:p>
        </p:txBody>
      </p:sp>
      <p:pic>
        <p:nvPicPr>
          <p:cNvPr id="8" name="Inhaltsplatzhalter 7">
            <a:extLst>
              <a:ext uri="{FF2B5EF4-FFF2-40B4-BE49-F238E27FC236}">
                <a16:creationId xmlns:a16="http://schemas.microsoft.com/office/drawing/2014/main" id="{C29C7E26-50BE-6BCE-6974-35E3747CF34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82881" y="1690688"/>
            <a:ext cx="4889500" cy="444500"/>
          </a:xfrm>
        </p:spPr>
      </p:pic>
      <p:sp>
        <p:nvSpPr>
          <p:cNvPr id="4" name="Datumsplatzhalter 3">
            <a:extLst>
              <a:ext uri="{FF2B5EF4-FFF2-40B4-BE49-F238E27FC236}">
                <a16:creationId xmlns:a16="http://schemas.microsoft.com/office/drawing/2014/main" id="{A4019B6F-ABBC-782F-A847-7E9E9AD89258}"/>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36E2A188-C8CC-ADC3-48E3-BA33971C4C42}"/>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C8C84F70-336C-0D78-BD88-A666F101CA9D}"/>
              </a:ext>
            </a:extLst>
          </p:cNvPr>
          <p:cNvSpPr>
            <a:spLocks noGrp="1"/>
          </p:cNvSpPr>
          <p:nvPr>
            <p:ph type="sldNum" sz="quarter" idx="12"/>
          </p:nvPr>
        </p:nvSpPr>
        <p:spPr/>
        <p:txBody>
          <a:bodyPr/>
          <a:lstStyle/>
          <a:p>
            <a:fld id="{1F759103-C7F7-4BD0-A3ED-461D710A1134}" type="slidenum">
              <a:rPr lang="de-DE" smtClean="0"/>
              <a:t>16</a:t>
            </a:fld>
            <a:endParaRPr lang="de-DE"/>
          </a:p>
        </p:txBody>
      </p:sp>
      <p:sp>
        <p:nvSpPr>
          <p:cNvPr id="9" name="Textfeld 8">
            <a:extLst>
              <a:ext uri="{FF2B5EF4-FFF2-40B4-BE49-F238E27FC236}">
                <a16:creationId xmlns:a16="http://schemas.microsoft.com/office/drawing/2014/main" id="{557B0FB1-BC0D-7790-9CE9-FB4643ABEFA9}"/>
              </a:ext>
            </a:extLst>
          </p:cNvPr>
          <p:cNvSpPr txBox="1"/>
          <p:nvPr/>
        </p:nvSpPr>
        <p:spPr>
          <a:xfrm>
            <a:off x="5753793" y="1765856"/>
            <a:ext cx="1131656" cy="369332"/>
          </a:xfrm>
          <a:prstGeom prst="rect">
            <a:avLst/>
          </a:prstGeom>
          <a:noFill/>
        </p:spPr>
        <p:txBody>
          <a:bodyPr wrap="none" rtlCol="0">
            <a:spAutoFit/>
          </a:bodyPr>
          <a:lstStyle/>
          <a:p>
            <a:r>
              <a:rPr lang="de-DE" dirty="0"/>
              <a:t>Kunststoff</a:t>
            </a:r>
          </a:p>
        </p:txBody>
      </p:sp>
      <p:pic>
        <p:nvPicPr>
          <p:cNvPr id="10" name="Grafik 9" descr="Ein Bild, das Text, Quittung, Screenshot, Reihe enthält.&#10;&#10;KI-generierte Inhalte können fehlerhaft sein.">
            <a:extLst>
              <a:ext uri="{FF2B5EF4-FFF2-40B4-BE49-F238E27FC236}">
                <a16:creationId xmlns:a16="http://schemas.microsoft.com/office/drawing/2014/main" id="{BF2DC434-E576-10DD-5570-98FCB3C47D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881" y="2229406"/>
            <a:ext cx="10385632" cy="2610644"/>
          </a:xfrm>
          <a:prstGeom prst="rect">
            <a:avLst/>
          </a:prstGeom>
        </p:spPr>
      </p:pic>
    </p:spTree>
    <p:extLst>
      <p:ext uri="{BB962C8B-B14F-4D97-AF65-F5344CB8AC3E}">
        <p14:creationId xmlns:p14="http://schemas.microsoft.com/office/powerpoint/2010/main" val="2981701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130EEF-C5CD-8310-66B9-0E60D4780CBC}"/>
              </a:ext>
            </a:extLst>
          </p:cNvPr>
          <p:cNvSpPr>
            <a:spLocks noGrp="1"/>
          </p:cNvSpPr>
          <p:nvPr>
            <p:ph type="title"/>
          </p:nvPr>
        </p:nvSpPr>
        <p:spPr/>
        <p:txBody>
          <a:bodyPr/>
          <a:lstStyle/>
          <a:p>
            <a:r>
              <a:rPr lang="de-DE" dirty="0"/>
              <a:t>Informationsquellen für die Daten der Abgasanlagen</a:t>
            </a:r>
          </a:p>
        </p:txBody>
      </p:sp>
      <p:sp>
        <p:nvSpPr>
          <p:cNvPr id="3" name="Inhaltsplatzhalter 2">
            <a:extLst>
              <a:ext uri="{FF2B5EF4-FFF2-40B4-BE49-F238E27FC236}">
                <a16:creationId xmlns:a16="http://schemas.microsoft.com/office/drawing/2014/main" id="{437FC864-9105-BF07-6B31-733C8308E3AB}"/>
              </a:ext>
            </a:extLst>
          </p:cNvPr>
          <p:cNvSpPr>
            <a:spLocks noGrp="1"/>
          </p:cNvSpPr>
          <p:nvPr>
            <p:ph idx="1"/>
          </p:nvPr>
        </p:nvSpPr>
        <p:spPr/>
        <p:txBody>
          <a:bodyPr/>
          <a:lstStyle/>
          <a:p>
            <a:r>
              <a:rPr lang="de-DE" dirty="0"/>
              <a:t>Leistungserklärungen;</a:t>
            </a:r>
          </a:p>
          <a:p>
            <a:r>
              <a:rPr lang="de-DE" dirty="0"/>
              <a:t>Verwendbarkeitsnachweise;</a:t>
            </a:r>
          </a:p>
          <a:p>
            <a:r>
              <a:rPr lang="de-DE" dirty="0"/>
              <a:t> Literatur des Abgasanlagenherstellers einschließlich Einbauanleitungen;</a:t>
            </a:r>
          </a:p>
          <a:p>
            <a:r>
              <a:rPr lang="de-DE" dirty="0"/>
              <a:t>Typenschild</a:t>
            </a:r>
          </a:p>
          <a:p>
            <a:endParaRPr lang="de-DE" dirty="0"/>
          </a:p>
        </p:txBody>
      </p:sp>
      <p:sp>
        <p:nvSpPr>
          <p:cNvPr id="4" name="Datumsplatzhalter 3">
            <a:extLst>
              <a:ext uri="{FF2B5EF4-FFF2-40B4-BE49-F238E27FC236}">
                <a16:creationId xmlns:a16="http://schemas.microsoft.com/office/drawing/2014/main" id="{BD3DF945-A8EE-0CE5-412E-6CD6CEBB0F55}"/>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15B9A27-EA26-1C70-D8BB-ED69224F00BA}"/>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BB82705E-F3D5-12C8-EBF8-BCB395D93A51}"/>
              </a:ext>
            </a:extLst>
          </p:cNvPr>
          <p:cNvSpPr>
            <a:spLocks noGrp="1"/>
          </p:cNvSpPr>
          <p:nvPr>
            <p:ph type="sldNum" sz="quarter" idx="12"/>
          </p:nvPr>
        </p:nvSpPr>
        <p:spPr/>
        <p:txBody>
          <a:bodyPr/>
          <a:lstStyle/>
          <a:p>
            <a:fld id="{1F759103-C7F7-4BD0-A3ED-461D710A1134}" type="slidenum">
              <a:rPr lang="de-DE" smtClean="0"/>
              <a:t>17</a:t>
            </a:fld>
            <a:endParaRPr lang="de-DE"/>
          </a:p>
        </p:txBody>
      </p:sp>
    </p:spTree>
    <p:extLst>
      <p:ext uri="{BB962C8B-B14F-4D97-AF65-F5344CB8AC3E}">
        <p14:creationId xmlns:p14="http://schemas.microsoft.com/office/powerpoint/2010/main" val="429102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3BE1EE-47AC-102E-429C-722EAA4133EC}"/>
              </a:ext>
            </a:extLst>
          </p:cNvPr>
          <p:cNvSpPr>
            <a:spLocks noGrp="1"/>
          </p:cNvSpPr>
          <p:nvPr>
            <p:ph type="title"/>
          </p:nvPr>
        </p:nvSpPr>
        <p:spPr/>
        <p:txBody>
          <a:bodyPr/>
          <a:lstStyle/>
          <a:p>
            <a:r>
              <a:rPr lang="de-DE" dirty="0" err="1"/>
              <a:t>Nationonale</a:t>
            </a:r>
            <a:r>
              <a:rPr lang="de-DE" dirty="0"/>
              <a:t> Verwendbarkeitsnachweise</a:t>
            </a:r>
            <a:br>
              <a:rPr lang="de-DE" dirty="0"/>
            </a:br>
            <a:endParaRPr lang="de-DE" dirty="0"/>
          </a:p>
        </p:txBody>
      </p:sp>
      <p:graphicFrame>
        <p:nvGraphicFramePr>
          <p:cNvPr id="7" name="Inhaltsplatzhalter 6">
            <a:extLst>
              <a:ext uri="{FF2B5EF4-FFF2-40B4-BE49-F238E27FC236}">
                <a16:creationId xmlns:a16="http://schemas.microsoft.com/office/drawing/2014/main" id="{C1EAADBA-ED27-0E00-6483-D749BB6BB7D0}"/>
              </a:ext>
            </a:extLst>
          </p:cNvPr>
          <p:cNvGraphicFramePr>
            <a:graphicFrameLocks noGrp="1"/>
          </p:cNvGraphicFramePr>
          <p:nvPr>
            <p:ph idx="1"/>
          </p:nvPr>
        </p:nvGraphicFramePr>
        <p:xfrm>
          <a:off x="838200" y="2301399"/>
          <a:ext cx="10515600" cy="1722120"/>
        </p:xfrm>
        <a:graphic>
          <a:graphicData uri="http://schemas.openxmlformats.org/drawingml/2006/table">
            <a:tbl>
              <a:tblPr firstRow="1" bandRow="1">
                <a:tableStyleId>{22838BEF-8BB2-4498-84A7-C5851F593DF1}</a:tableStyleId>
              </a:tblPr>
              <a:tblGrid>
                <a:gridCol w="8684172">
                  <a:extLst>
                    <a:ext uri="{9D8B030D-6E8A-4147-A177-3AD203B41FA5}">
                      <a16:colId xmlns:a16="http://schemas.microsoft.com/office/drawing/2014/main" val="1857662789"/>
                    </a:ext>
                  </a:extLst>
                </a:gridCol>
                <a:gridCol w="1831428">
                  <a:extLst>
                    <a:ext uri="{9D8B030D-6E8A-4147-A177-3AD203B41FA5}">
                      <a16:colId xmlns:a16="http://schemas.microsoft.com/office/drawing/2014/main" val="3235891949"/>
                    </a:ext>
                  </a:extLst>
                </a:gridCol>
              </a:tblGrid>
              <a:tr h="370840">
                <a:tc>
                  <a:txBody>
                    <a:bodyPr/>
                    <a:lstStyle/>
                    <a:p>
                      <a:pPr marL="180340" indent="-180340" algn="just">
                        <a:spcBef>
                          <a:spcPts val="600"/>
                        </a:spcBef>
                        <a:spcAft>
                          <a:spcPts val="0"/>
                        </a:spcAft>
                        <a:tabLst>
                          <a:tab pos="180340" algn="l"/>
                          <a:tab pos="355600" algn="l"/>
                        </a:tabLst>
                      </a:pPr>
                      <a:r>
                        <a:rPr lang="de-DE" sz="2000" dirty="0">
                          <a:effectLst/>
                        </a:rPr>
                        <a:t>Nationale Verwendbarkeitsnachweise (Voraussetzung zum Anbringen des </a:t>
                      </a:r>
                      <a:r>
                        <a:rPr lang="de-DE" sz="2000" dirty="0" err="1">
                          <a:effectLst/>
                        </a:rPr>
                        <a:t>Ü</a:t>
                      </a:r>
                      <a:r>
                        <a:rPr lang="de-DE" sz="2000" dirty="0">
                          <a:effectLst/>
                        </a:rPr>
                        <a:t>-Zeichen) sind: </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lgn="ctr">
                        <a:spcBef>
                          <a:spcPts val="600"/>
                        </a:spcBef>
                      </a:pPr>
                      <a:r>
                        <a:rPr lang="de-DE" sz="2000">
                          <a:effectLst/>
                        </a:rPr>
                        <a:t>HBO</a:t>
                      </a:r>
                      <a:endParaRPr lang="de-DE" sz="200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2626977273"/>
                  </a:ext>
                </a:extLst>
              </a:tr>
              <a:tr h="370840">
                <a:tc>
                  <a:txBody>
                    <a:bodyPr/>
                    <a:lstStyle/>
                    <a:p>
                      <a:pPr marL="342900" lvl="0" indent="-342900" algn="just">
                        <a:buSzPts val="1000"/>
                        <a:buFont typeface="Symbol" pitchFamily="2" charset="2"/>
                        <a:buChar char=""/>
                        <a:tabLst>
                          <a:tab pos="180340" algn="l"/>
                        </a:tabLst>
                      </a:pPr>
                      <a:r>
                        <a:rPr lang="de-DE" sz="2000" dirty="0">
                          <a:effectLst/>
                        </a:rPr>
                        <a:t>Allgemeine bauaufsichtliche Zulassung (</a:t>
                      </a:r>
                      <a:r>
                        <a:rPr lang="de-DE" sz="2000" dirty="0" err="1">
                          <a:effectLst/>
                        </a:rPr>
                        <a:t>abZ</a:t>
                      </a:r>
                      <a:r>
                        <a:rPr lang="de-DE" sz="2000" dirty="0">
                          <a:effectLst/>
                        </a:rPr>
                        <a:t>),</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lgn="ctr"/>
                      <a:r>
                        <a:rPr lang="de-DE" sz="2000">
                          <a:effectLst/>
                          <a:highlight>
                            <a:srgbClr val="00FF00"/>
                          </a:highlight>
                        </a:rPr>
                        <a:t>§ 21</a:t>
                      </a:r>
                      <a:endParaRPr lang="de-DE" sz="200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1681513774"/>
                  </a:ext>
                </a:extLst>
              </a:tr>
              <a:tr h="370840">
                <a:tc>
                  <a:txBody>
                    <a:bodyPr/>
                    <a:lstStyle/>
                    <a:p>
                      <a:pPr marL="342900" lvl="0" indent="-342900" algn="just">
                        <a:buSzPts val="1000"/>
                        <a:buFont typeface="Symbol" pitchFamily="2" charset="2"/>
                        <a:buChar char=""/>
                        <a:tabLst>
                          <a:tab pos="180340" algn="l"/>
                        </a:tabLst>
                      </a:pPr>
                      <a:r>
                        <a:rPr lang="de-DE" sz="2000" dirty="0">
                          <a:effectLst/>
                        </a:rPr>
                        <a:t>Allgemeines bauaufsichtliches Prüfzeugnis (</a:t>
                      </a:r>
                      <a:r>
                        <a:rPr lang="de-DE" sz="2000" dirty="0" err="1">
                          <a:effectLst/>
                        </a:rPr>
                        <a:t>abP</a:t>
                      </a:r>
                      <a:r>
                        <a:rPr lang="de-DE" sz="2000" dirty="0">
                          <a:effectLst/>
                        </a:rPr>
                        <a:t>),</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lgn="ctr"/>
                      <a:r>
                        <a:rPr lang="de-DE" sz="2000" dirty="0">
                          <a:effectLst/>
                          <a:highlight>
                            <a:srgbClr val="00FF00"/>
                          </a:highlight>
                        </a:rPr>
                        <a:t>§ 22</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1054657785"/>
                  </a:ext>
                </a:extLst>
              </a:tr>
              <a:tr h="370840">
                <a:tc>
                  <a:txBody>
                    <a:bodyPr/>
                    <a:lstStyle/>
                    <a:p>
                      <a:pPr marL="342900" lvl="0" indent="-342900" algn="just">
                        <a:buSzPts val="1000"/>
                        <a:buFont typeface="Symbol" pitchFamily="2" charset="2"/>
                        <a:buChar char=""/>
                        <a:tabLst>
                          <a:tab pos="180340" algn="l"/>
                        </a:tabLst>
                      </a:pPr>
                      <a:r>
                        <a:rPr lang="de-DE" sz="2000" dirty="0">
                          <a:effectLst/>
                        </a:rPr>
                        <a:t>Nachweis der Verwendbarkeit im Einzelfall (Zustimmung im Einzelfall).</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lgn="ctr"/>
                      <a:r>
                        <a:rPr lang="de-DE" sz="2000" dirty="0">
                          <a:effectLst/>
                          <a:highlight>
                            <a:srgbClr val="00FF00"/>
                          </a:highlight>
                        </a:rPr>
                        <a:t>§ 23</a:t>
                      </a:r>
                      <a:endParaRPr lang="de-DE"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581163392"/>
                  </a:ext>
                </a:extLst>
              </a:tr>
            </a:tbl>
          </a:graphicData>
        </a:graphic>
      </p:graphicFrame>
      <p:sp>
        <p:nvSpPr>
          <p:cNvPr id="4" name="Datumsplatzhalter 3">
            <a:extLst>
              <a:ext uri="{FF2B5EF4-FFF2-40B4-BE49-F238E27FC236}">
                <a16:creationId xmlns:a16="http://schemas.microsoft.com/office/drawing/2014/main" id="{C2D86DA0-DB58-CCCB-6288-6953B371B7C2}"/>
              </a:ext>
            </a:extLst>
          </p:cNvPr>
          <p:cNvSpPr>
            <a:spLocks noGrp="1"/>
          </p:cNvSpPr>
          <p:nvPr>
            <p:ph type="dt" sz="half" idx="10"/>
          </p:nvPr>
        </p:nvSpPr>
        <p:spPr/>
        <p:txBody>
          <a:bodyPr/>
          <a:lstStyle/>
          <a:p>
            <a:r>
              <a:rPr lang="de-DE"/>
              <a:t>03.03.25 / LIV-Hessen</a:t>
            </a:r>
            <a:endParaRPr lang="de-DE" dirty="0"/>
          </a:p>
        </p:txBody>
      </p:sp>
      <p:sp>
        <p:nvSpPr>
          <p:cNvPr id="5" name="Fußzeilenplatzhalter 4">
            <a:extLst>
              <a:ext uri="{FF2B5EF4-FFF2-40B4-BE49-F238E27FC236}">
                <a16:creationId xmlns:a16="http://schemas.microsoft.com/office/drawing/2014/main" id="{0B85A30C-C52C-8E15-2776-3219A0B542E6}"/>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BECF373D-D37D-9EC7-F95B-3D21268ACDB8}"/>
              </a:ext>
            </a:extLst>
          </p:cNvPr>
          <p:cNvSpPr>
            <a:spLocks noGrp="1"/>
          </p:cNvSpPr>
          <p:nvPr>
            <p:ph type="sldNum" sz="quarter" idx="12"/>
          </p:nvPr>
        </p:nvSpPr>
        <p:spPr/>
        <p:txBody>
          <a:bodyPr/>
          <a:lstStyle/>
          <a:p>
            <a:fld id="{1F759103-C7F7-4BD0-A3ED-461D710A1134}" type="slidenum">
              <a:rPr lang="de-DE" smtClean="0"/>
              <a:t>18</a:t>
            </a:fld>
            <a:endParaRPr lang="de-DE"/>
          </a:p>
        </p:txBody>
      </p:sp>
    </p:spTree>
    <p:extLst>
      <p:ext uri="{BB962C8B-B14F-4D97-AF65-F5344CB8AC3E}">
        <p14:creationId xmlns:p14="http://schemas.microsoft.com/office/powerpoint/2010/main" val="1575272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A56264-9096-D110-185D-D1A52AD45849}"/>
              </a:ext>
            </a:extLst>
          </p:cNvPr>
          <p:cNvSpPr>
            <a:spLocks noGrp="1"/>
          </p:cNvSpPr>
          <p:nvPr>
            <p:ph type="title"/>
          </p:nvPr>
        </p:nvSpPr>
        <p:spPr/>
        <p:txBody>
          <a:bodyPr/>
          <a:lstStyle/>
          <a:p>
            <a:r>
              <a:rPr lang="de-DE" dirty="0"/>
              <a:t>Nachweise und Unterlagen –  </a:t>
            </a:r>
          </a:p>
        </p:txBody>
      </p:sp>
      <p:sp>
        <p:nvSpPr>
          <p:cNvPr id="3" name="Inhaltsplatzhalter 2">
            <a:extLst>
              <a:ext uri="{FF2B5EF4-FFF2-40B4-BE49-F238E27FC236}">
                <a16:creationId xmlns:a16="http://schemas.microsoft.com/office/drawing/2014/main" id="{4AD911A9-960B-49EA-14D1-62A2B9B8210F}"/>
              </a:ext>
            </a:extLst>
          </p:cNvPr>
          <p:cNvSpPr>
            <a:spLocks noGrp="1"/>
          </p:cNvSpPr>
          <p:nvPr>
            <p:ph idx="1"/>
          </p:nvPr>
        </p:nvSpPr>
        <p:spPr/>
        <p:txBody>
          <a:bodyPr>
            <a:normAutofit fontScale="85000" lnSpcReduction="20000"/>
          </a:bodyPr>
          <a:lstStyle/>
          <a:p>
            <a:r>
              <a:rPr lang="de-DE" dirty="0"/>
              <a:t>Was ist eine Allgemein Bauaufsichtliche Zulassung und wann wird diese ausgestellt? </a:t>
            </a:r>
          </a:p>
          <a:p>
            <a:pPr marL="180340" indent="-180340" algn="just">
              <a:spcBef>
                <a:spcPts val="300"/>
              </a:spcBef>
              <a:spcAft>
                <a:spcPts val="0"/>
              </a:spcAft>
              <a:tabLst>
                <a:tab pos="180340" algn="l"/>
                <a:tab pos="180340" algn="l"/>
              </a:tabLst>
            </a:pPr>
            <a:endParaRPr lang="de-DE" dirty="0">
              <a:ea typeface="Times New Roman" panose="02020603050405020304" pitchFamily="18" charset="0"/>
              <a:cs typeface="Arial" panose="020B0604020202020204" pitchFamily="34" charset="0"/>
            </a:endParaRPr>
          </a:p>
          <a:p>
            <a:pPr marL="180340" indent="-180340" algn="just">
              <a:spcBef>
                <a:spcPts val="300"/>
              </a:spcBef>
              <a:spcAft>
                <a:spcPts val="0"/>
              </a:spcAft>
              <a:tabLst>
                <a:tab pos="180340" algn="l"/>
                <a:tab pos="180340" algn="l"/>
              </a:tabLst>
            </a:pPr>
            <a:r>
              <a:rPr lang="de-DE" dirty="0">
                <a:ea typeface="Times New Roman" panose="02020603050405020304" pitchFamily="18" charset="0"/>
                <a:cs typeface="Arial" panose="020B0604020202020204" pitchFamily="34" charset="0"/>
              </a:rPr>
              <a:t>Dieses Dokument stellt einen nationalen Nachweis für die Verwendbarkeit von Bauprodukten dar. Es regelt die Eigenschaften des Bauprodukts, seine Anwendungsbereiche, Verarbeitung, Transport, Lagerung sowie die Kennzeichnung und die Bestätigung der Übereinstimmung.</a:t>
            </a:r>
            <a:r>
              <a:rPr lang="de-DE" dirty="0">
                <a:ea typeface="Times New Roman" panose="02020603050405020304" pitchFamily="18" charset="0"/>
                <a:cs typeface="Times New Roman" panose="02020603050405020304" pitchFamily="18" charset="0"/>
              </a:rPr>
              <a:t> </a:t>
            </a:r>
            <a:r>
              <a:rPr lang="de-DE" dirty="0">
                <a:ea typeface="Times New Roman" panose="02020603050405020304" pitchFamily="18" charset="0"/>
                <a:cs typeface="Arial" panose="020B0604020202020204" pitchFamily="34" charset="0"/>
              </a:rPr>
              <a:t> Meistens werden kombinierte Bescheide in Form von </a:t>
            </a:r>
            <a:r>
              <a:rPr lang="de-DE" dirty="0" err="1">
                <a:ea typeface="Times New Roman" panose="02020603050405020304" pitchFamily="18" charset="0"/>
                <a:cs typeface="Arial" panose="020B0604020202020204" pitchFamily="34" charset="0"/>
              </a:rPr>
              <a:t>abZ</a:t>
            </a:r>
            <a:r>
              <a:rPr lang="de-DE" dirty="0">
                <a:ea typeface="Times New Roman" panose="02020603050405020304" pitchFamily="18" charset="0"/>
                <a:cs typeface="Arial" panose="020B0604020202020204" pitchFamily="34" charset="0"/>
              </a:rPr>
              <a:t>/</a:t>
            </a:r>
            <a:r>
              <a:rPr lang="de-DE" dirty="0" err="1">
                <a:ea typeface="Times New Roman" panose="02020603050405020304" pitchFamily="18" charset="0"/>
                <a:cs typeface="Arial" panose="020B0604020202020204" pitchFamily="34" charset="0"/>
              </a:rPr>
              <a:t>aBG</a:t>
            </a:r>
            <a:r>
              <a:rPr lang="de-DE" dirty="0">
                <a:ea typeface="Times New Roman" panose="02020603050405020304" pitchFamily="18" charset="0"/>
                <a:cs typeface="Arial" panose="020B0604020202020204" pitchFamily="34" charset="0"/>
              </a:rPr>
              <a:t> ausgestellt. Es wird eine Allgemein bauaufsichtliche Zulassung benötigt, wenn </a:t>
            </a:r>
          </a:p>
          <a:p>
            <a:pPr marL="180340" indent="-180340" algn="just">
              <a:spcBef>
                <a:spcPts val="300"/>
              </a:spcBef>
              <a:spcAft>
                <a:spcPts val="0"/>
              </a:spcAft>
              <a:tabLst>
                <a:tab pos="180340" algn="l"/>
                <a:tab pos="180340" algn="l"/>
              </a:tabLst>
            </a:pPr>
            <a:endParaRPr lang="de-DE" dirty="0">
              <a:ea typeface="Times New Roman" panose="02020603050405020304" pitchFamily="18" charset="0"/>
              <a:cs typeface="Times New Roman" panose="02020603050405020304" pitchFamily="18" charset="0"/>
            </a:endParaRPr>
          </a:p>
          <a:p>
            <a:pPr marL="342900" lvl="0" indent="-342900" algn="just">
              <a:spcBef>
                <a:spcPts val="300"/>
              </a:spcBef>
              <a:buFont typeface="Arial" panose="020B0604020202020204" pitchFamily="34" charset="0"/>
              <a:buChar char="-"/>
              <a:tabLst>
                <a:tab pos="180340" algn="l"/>
                <a:tab pos="180340" algn="l"/>
              </a:tabLst>
            </a:pPr>
            <a:r>
              <a:rPr lang="de-DE" dirty="0">
                <a:ea typeface="Times New Roman" panose="02020603050405020304" pitchFamily="18" charset="0"/>
                <a:cs typeface="Arial" panose="020B0604020202020204" pitchFamily="34" charset="0"/>
              </a:rPr>
              <a:t>es keine allgemein anerkannten Regeln der Technik und keine technische Baubestimmungen gibt,</a:t>
            </a:r>
            <a:endParaRPr lang="de-DE" dirty="0">
              <a:ea typeface="Times New Roman" panose="02020603050405020304" pitchFamily="18" charset="0"/>
              <a:cs typeface="Times New Roman" panose="02020603050405020304" pitchFamily="18" charset="0"/>
            </a:endParaRPr>
          </a:p>
          <a:p>
            <a:pPr marL="342900" lvl="0" indent="-342900" algn="just">
              <a:spcBef>
                <a:spcPts val="300"/>
              </a:spcBef>
              <a:buFont typeface="Arial" panose="020B0604020202020204" pitchFamily="34" charset="0"/>
              <a:buChar char="-"/>
              <a:tabLst>
                <a:tab pos="180340" algn="l"/>
                <a:tab pos="180340" algn="l"/>
              </a:tabLst>
            </a:pPr>
            <a:r>
              <a:rPr lang="de-DE" dirty="0">
                <a:ea typeface="Times New Roman" panose="02020603050405020304" pitchFamily="18" charset="0"/>
                <a:cs typeface="Arial" panose="020B0604020202020204" pitchFamily="34" charset="0"/>
              </a:rPr>
              <a:t>das Bauprodukt wesentlich von den Technischen Baubestimmungen abweicht oder </a:t>
            </a:r>
            <a:endParaRPr lang="de-DE" dirty="0">
              <a:ea typeface="Times New Roman" panose="02020603050405020304" pitchFamily="18" charset="0"/>
              <a:cs typeface="Times New Roman" panose="02020603050405020304" pitchFamily="18" charset="0"/>
            </a:endParaRPr>
          </a:p>
          <a:p>
            <a:pPr marL="342900" lvl="0" indent="-342900" algn="just">
              <a:spcBef>
                <a:spcPts val="300"/>
              </a:spcBef>
              <a:buFont typeface="Arial" panose="020B0604020202020204" pitchFamily="34" charset="0"/>
              <a:buChar char="-"/>
              <a:tabLst>
                <a:tab pos="180340" algn="l"/>
                <a:tab pos="180340" algn="l"/>
              </a:tabLst>
            </a:pPr>
            <a:r>
              <a:rPr lang="de-DE" dirty="0">
                <a:ea typeface="Times New Roman" panose="02020603050405020304" pitchFamily="18" charset="0"/>
                <a:cs typeface="Arial" panose="020B0604020202020204" pitchFamily="34" charset="0"/>
              </a:rPr>
              <a:t>eine Rechtsverordnung dies gesondert vorsieht. </a:t>
            </a:r>
            <a:endParaRPr lang="de-DE" dirty="0">
              <a:ea typeface="Times New Roman" panose="02020603050405020304" pitchFamily="18" charset="0"/>
              <a:cs typeface="Times New Roman" panose="02020603050405020304" pitchFamily="18" charset="0"/>
            </a:endParaRP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9DC34492-6FAE-ABF7-0B73-D3238773FB09}"/>
              </a:ext>
            </a:extLst>
          </p:cNvPr>
          <p:cNvSpPr>
            <a:spLocks noGrp="1"/>
          </p:cNvSpPr>
          <p:nvPr>
            <p:ph type="dt" sz="half" idx="10"/>
          </p:nvPr>
        </p:nvSpPr>
        <p:spPr/>
        <p:txBody>
          <a:bodyPr/>
          <a:lstStyle/>
          <a:p>
            <a:r>
              <a:rPr lang="de-DE"/>
              <a:t>03.03.25 / LIV-Hessen</a:t>
            </a:r>
            <a:endParaRPr lang="de-DE" dirty="0"/>
          </a:p>
        </p:txBody>
      </p:sp>
      <p:sp>
        <p:nvSpPr>
          <p:cNvPr id="5" name="Fußzeilenplatzhalter 4">
            <a:extLst>
              <a:ext uri="{FF2B5EF4-FFF2-40B4-BE49-F238E27FC236}">
                <a16:creationId xmlns:a16="http://schemas.microsoft.com/office/drawing/2014/main" id="{6D874765-221A-1EC2-EB43-CB0703AFD22E}"/>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B90AAD24-ED44-60AE-DB27-CEB3B05B7A07}"/>
              </a:ext>
            </a:extLst>
          </p:cNvPr>
          <p:cNvSpPr>
            <a:spLocks noGrp="1"/>
          </p:cNvSpPr>
          <p:nvPr>
            <p:ph type="sldNum" sz="quarter" idx="12"/>
          </p:nvPr>
        </p:nvSpPr>
        <p:spPr/>
        <p:txBody>
          <a:bodyPr/>
          <a:lstStyle/>
          <a:p>
            <a:fld id="{1F759103-C7F7-4BD0-A3ED-461D710A1134}" type="slidenum">
              <a:rPr lang="de-DE" smtClean="0"/>
              <a:t>19</a:t>
            </a:fld>
            <a:endParaRPr lang="de-DE"/>
          </a:p>
        </p:txBody>
      </p:sp>
    </p:spTree>
    <p:extLst>
      <p:ext uri="{BB962C8B-B14F-4D97-AF65-F5344CB8AC3E}">
        <p14:creationId xmlns:p14="http://schemas.microsoft.com/office/powerpoint/2010/main" val="9974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50E716-53D2-B6C7-623C-BC7B8EC97C17}"/>
              </a:ext>
            </a:extLst>
          </p:cNvPr>
          <p:cNvSpPr>
            <a:spLocks noGrp="1"/>
          </p:cNvSpPr>
          <p:nvPr>
            <p:ph type="title"/>
          </p:nvPr>
        </p:nvSpPr>
        <p:spPr/>
        <p:txBody>
          <a:bodyPr/>
          <a:lstStyle/>
          <a:p>
            <a:r>
              <a:rPr lang="de-DE" dirty="0"/>
              <a:t>Nachweise und Unterlagen  </a:t>
            </a:r>
          </a:p>
        </p:txBody>
      </p:sp>
      <p:sp>
        <p:nvSpPr>
          <p:cNvPr id="3" name="Inhaltsplatzhalter 2">
            <a:extLst>
              <a:ext uri="{FF2B5EF4-FFF2-40B4-BE49-F238E27FC236}">
                <a16:creationId xmlns:a16="http://schemas.microsoft.com/office/drawing/2014/main" id="{3BFE1752-4484-9021-8C9C-3A6BCBAFC9DF}"/>
              </a:ext>
            </a:extLst>
          </p:cNvPr>
          <p:cNvSpPr>
            <a:spLocks noGrp="1"/>
          </p:cNvSpPr>
          <p:nvPr>
            <p:ph idx="1"/>
          </p:nvPr>
        </p:nvSpPr>
        <p:spPr/>
        <p:txBody>
          <a:bodyPr>
            <a:normAutofit/>
          </a:bodyPr>
          <a:lstStyle/>
          <a:p>
            <a:r>
              <a:rPr lang="de-DE" dirty="0"/>
              <a:t>Was ist eine Allgemeine Bauartgenehmigung und wann wird diese ausgestellt? </a:t>
            </a:r>
          </a:p>
          <a:p>
            <a:r>
              <a:rPr lang="de-DE" dirty="0"/>
              <a:t>Neben den Eigenschaften der einzelnen Bauprodukte kann es erforderlich sein, auch die Zusammenfügung dieser Produkte zu baulichen Anlagen oder Teilen von baulichen Anlagen ("Bauart") zu regulieren. Aspekte wie Planung, Bemessung, Ausführung, Betrieb und Wartung werden durch die allgemeine Bauartgenehmigung, kurz </a:t>
            </a:r>
            <a:r>
              <a:rPr lang="de-DE" dirty="0" err="1"/>
              <a:t>aBG</a:t>
            </a:r>
            <a:r>
              <a:rPr lang="de-DE" dirty="0"/>
              <a:t>, geregelt. Seit 2017 ersetzt die </a:t>
            </a:r>
            <a:r>
              <a:rPr lang="de-DE" dirty="0" err="1"/>
              <a:t>aBG</a:t>
            </a:r>
            <a:r>
              <a:rPr lang="de-DE" dirty="0"/>
              <a:t> die früher übliche Zulassung für Bauarten. Meistens werden kombinierte Bescheide in Form von </a:t>
            </a:r>
            <a:r>
              <a:rPr lang="de-DE" dirty="0" err="1"/>
              <a:t>abZ</a:t>
            </a:r>
            <a:r>
              <a:rPr lang="de-DE" dirty="0"/>
              <a:t>/</a:t>
            </a:r>
            <a:r>
              <a:rPr lang="de-DE" dirty="0" err="1"/>
              <a:t>aBG</a:t>
            </a:r>
            <a:r>
              <a:rPr lang="de-DE" dirty="0"/>
              <a:t> ausgestellt. </a:t>
            </a:r>
          </a:p>
          <a:p>
            <a:endParaRPr lang="de-DE" dirty="0"/>
          </a:p>
          <a:p>
            <a:endParaRPr lang="de-DE" dirty="0"/>
          </a:p>
        </p:txBody>
      </p:sp>
      <p:sp>
        <p:nvSpPr>
          <p:cNvPr id="4" name="Datumsplatzhalter 3">
            <a:extLst>
              <a:ext uri="{FF2B5EF4-FFF2-40B4-BE49-F238E27FC236}">
                <a16:creationId xmlns:a16="http://schemas.microsoft.com/office/drawing/2014/main" id="{63F31F59-43D2-4AB9-2022-7ED0AE7DDC6D}"/>
              </a:ext>
            </a:extLst>
          </p:cNvPr>
          <p:cNvSpPr>
            <a:spLocks noGrp="1"/>
          </p:cNvSpPr>
          <p:nvPr>
            <p:ph type="dt" sz="half" idx="10"/>
          </p:nvPr>
        </p:nvSpPr>
        <p:spPr/>
        <p:txBody>
          <a:bodyPr/>
          <a:lstStyle/>
          <a:p>
            <a:r>
              <a:rPr lang="de-DE"/>
              <a:t>03.03.25 / LIV-Hessen</a:t>
            </a:r>
            <a:endParaRPr lang="de-DE" dirty="0"/>
          </a:p>
        </p:txBody>
      </p:sp>
      <p:sp>
        <p:nvSpPr>
          <p:cNvPr id="5" name="Fußzeilenplatzhalter 4">
            <a:extLst>
              <a:ext uri="{FF2B5EF4-FFF2-40B4-BE49-F238E27FC236}">
                <a16:creationId xmlns:a16="http://schemas.microsoft.com/office/drawing/2014/main" id="{56BCA082-043B-F091-5DA1-D4682D48D687}"/>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2C5DF181-6037-A9AF-B1B7-17FE6E572F5C}"/>
              </a:ext>
            </a:extLst>
          </p:cNvPr>
          <p:cNvSpPr>
            <a:spLocks noGrp="1"/>
          </p:cNvSpPr>
          <p:nvPr>
            <p:ph type="sldNum" sz="quarter" idx="12"/>
          </p:nvPr>
        </p:nvSpPr>
        <p:spPr/>
        <p:txBody>
          <a:bodyPr/>
          <a:lstStyle/>
          <a:p>
            <a:fld id="{1F759103-C7F7-4BD0-A3ED-461D710A1134}" type="slidenum">
              <a:rPr lang="de-DE" smtClean="0"/>
              <a:t>20</a:t>
            </a:fld>
            <a:endParaRPr lang="de-DE"/>
          </a:p>
        </p:txBody>
      </p:sp>
    </p:spTree>
    <p:extLst>
      <p:ext uri="{BB962C8B-B14F-4D97-AF65-F5344CB8AC3E}">
        <p14:creationId xmlns:p14="http://schemas.microsoft.com/office/powerpoint/2010/main" val="173718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1E352D-6076-1C4C-609E-D8E0042CE034}"/>
              </a:ext>
            </a:extLst>
          </p:cNvPr>
          <p:cNvSpPr>
            <a:spLocks noGrp="1"/>
          </p:cNvSpPr>
          <p:nvPr>
            <p:ph type="title"/>
          </p:nvPr>
        </p:nvSpPr>
        <p:spPr/>
        <p:txBody>
          <a:bodyPr/>
          <a:lstStyle/>
          <a:p>
            <a:r>
              <a:rPr lang="de-DE" dirty="0"/>
              <a:t>Nachweise und Unterlagen </a:t>
            </a:r>
          </a:p>
        </p:txBody>
      </p:sp>
      <p:sp>
        <p:nvSpPr>
          <p:cNvPr id="3" name="Inhaltsplatzhalter 2">
            <a:extLst>
              <a:ext uri="{FF2B5EF4-FFF2-40B4-BE49-F238E27FC236}">
                <a16:creationId xmlns:a16="http://schemas.microsoft.com/office/drawing/2014/main" id="{9D131CB4-D9DC-3BBA-308D-96D9D911C5D2}"/>
              </a:ext>
            </a:extLst>
          </p:cNvPr>
          <p:cNvSpPr>
            <a:spLocks noGrp="1"/>
          </p:cNvSpPr>
          <p:nvPr>
            <p:ph idx="1"/>
          </p:nvPr>
        </p:nvSpPr>
        <p:spPr/>
        <p:txBody>
          <a:bodyPr/>
          <a:lstStyle/>
          <a:p>
            <a:r>
              <a:rPr lang="de-DE" dirty="0"/>
              <a:t>Was ist ein Allgemeines bauaufsichtliche Prüfzeugnis und wann wird dieses ausgestellt? </a:t>
            </a:r>
          </a:p>
          <a:p>
            <a:r>
              <a:rPr lang="de-DE" dirty="0"/>
              <a:t>Solche Bescheide werden für nicht geregelte Bauprodukte und Bauarten ausgestellt, deren Verwendung nicht dazu dient, wesentliche Sicherheitsanforderungen an bauliche Anlagen zu erfüllen. Die Erteilung erfolgt durch anerkannte Prüfstellen   </a:t>
            </a:r>
          </a:p>
          <a:p>
            <a:endParaRPr lang="de-DE" dirty="0"/>
          </a:p>
        </p:txBody>
      </p:sp>
      <p:sp>
        <p:nvSpPr>
          <p:cNvPr id="4" name="Datumsplatzhalter 3">
            <a:extLst>
              <a:ext uri="{FF2B5EF4-FFF2-40B4-BE49-F238E27FC236}">
                <a16:creationId xmlns:a16="http://schemas.microsoft.com/office/drawing/2014/main" id="{843A848E-CF40-18DB-9876-907FA858001B}"/>
              </a:ext>
            </a:extLst>
          </p:cNvPr>
          <p:cNvSpPr>
            <a:spLocks noGrp="1"/>
          </p:cNvSpPr>
          <p:nvPr>
            <p:ph type="dt" sz="half" idx="10"/>
          </p:nvPr>
        </p:nvSpPr>
        <p:spPr/>
        <p:txBody>
          <a:bodyPr/>
          <a:lstStyle/>
          <a:p>
            <a:r>
              <a:rPr lang="de-DE"/>
              <a:t>03.03.25 / LIV-Hessen</a:t>
            </a:r>
            <a:endParaRPr lang="de-DE" dirty="0"/>
          </a:p>
        </p:txBody>
      </p:sp>
      <p:sp>
        <p:nvSpPr>
          <p:cNvPr id="5" name="Fußzeilenplatzhalter 4">
            <a:extLst>
              <a:ext uri="{FF2B5EF4-FFF2-40B4-BE49-F238E27FC236}">
                <a16:creationId xmlns:a16="http://schemas.microsoft.com/office/drawing/2014/main" id="{5D5E447C-3F20-D275-E434-F6C5E30812DA}"/>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C6550B75-F863-2552-03A4-B57F9D4F2A63}"/>
              </a:ext>
            </a:extLst>
          </p:cNvPr>
          <p:cNvSpPr>
            <a:spLocks noGrp="1"/>
          </p:cNvSpPr>
          <p:nvPr>
            <p:ph type="sldNum" sz="quarter" idx="12"/>
          </p:nvPr>
        </p:nvSpPr>
        <p:spPr/>
        <p:txBody>
          <a:bodyPr/>
          <a:lstStyle/>
          <a:p>
            <a:fld id="{1F759103-C7F7-4BD0-A3ED-461D710A1134}" type="slidenum">
              <a:rPr lang="de-DE" smtClean="0"/>
              <a:t>21</a:t>
            </a:fld>
            <a:endParaRPr lang="de-DE"/>
          </a:p>
        </p:txBody>
      </p:sp>
    </p:spTree>
    <p:extLst>
      <p:ext uri="{BB962C8B-B14F-4D97-AF65-F5344CB8AC3E}">
        <p14:creationId xmlns:p14="http://schemas.microsoft.com/office/powerpoint/2010/main" val="1951380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99B71D-019C-CD59-60A6-640783F862D6}"/>
              </a:ext>
            </a:extLst>
          </p:cNvPr>
          <p:cNvSpPr>
            <a:spLocks noGrp="1"/>
          </p:cNvSpPr>
          <p:nvPr>
            <p:ph type="title"/>
          </p:nvPr>
        </p:nvSpPr>
        <p:spPr/>
        <p:txBody>
          <a:bodyPr/>
          <a:lstStyle/>
          <a:p>
            <a:r>
              <a:rPr lang="de-DE" dirty="0"/>
              <a:t>Bauprodukteverordnung</a:t>
            </a:r>
          </a:p>
        </p:txBody>
      </p:sp>
      <p:pic>
        <p:nvPicPr>
          <p:cNvPr id="8" name="Inhaltsplatzhalter 7">
            <a:extLst>
              <a:ext uri="{FF2B5EF4-FFF2-40B4-BE49-F238E27FC236}">
                <a16:creationId xmlns:a16="http://schemas.microsoft.com/office/drawing/2014/main" id="{0A93C12A-4B06-D7B0-13B9-1B13BA388F49}"/>
              </a:ext>
            </a:extLst>
          </p:cNvPr>
          <p:cNvPicPr>
            <a:picLocks noGrp="1" noChangeAspect="1"/>
          </p:cNvPicPr>
          <p:nvPr>
            <p:ph idx="1"/>
          </p:nvPr>
        </p:nvPicPr>
        <p:blipFill>
          <a:blip r:embed="rId2"/>
          <a:stretch>
            <a:fillRect/>
          </a:stretch>
        </p:blipFill>
        <p:spPr>
          <a:xfrm>
            <a:off x="1066987" y="1690688"/>
            <a:ext cx="9596508" cy="4338669"/>
          </a:xfrm>
        </p:spPr>
      </p:pic>
      <p:sp>
        <p:nvSpPr>
          <p:cNvPr id="5" name="Fußzeilenplatzhalter 4">
            <a:extLst>
              <a:ext uri="{FF2B5EF4-FFF2-40B4-BE49-F238E27FC236}">
                <a16:creationId xmlns:a16="http://schemas.microsoft.com/office/drawing/2014/main" id="{16AEA3B9-FDCA-CDB0-9818-006BD068BD28}"/>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BAB1D29F-972C-E28F-2A61-815157C601EF}"/>
              </a:ext>
            </a:extLst>
          </p:cNvPr>
          <p:cNvSpPr>
            <a:spLocks noGrp="1"/>
          </p:cNvSpPr>
          <p:nvPr>
            <p:ph type="sldNum" sz="quarter" idx="12"/>
          </p:nvPr>
        </p:nvSpPr>
        <p:spPr/>
        <p:txBody>
          <a:bodyPr/>
          <a:lstStyle/>
          <a:p>
            <a:fld id="{1F759103-C7F7-4BD0-A3ED-461D710A1134}" type="slidenum">
              <a:rPr lang="de-DE" smtClean="0"/>
              <a:t>22</a:t>
            </a:fld>
            <a:endParaRPr lang="de-DE"/>
          </a:p>
        </p:txBody>
      </p:sp>
      <p:sp>
        <p:nvSpPr>
          <p:cNvPr id="7" name="Datumsplatzhalter 3">
            <a:extLst>
              <a:ext uri="{FF2B5EF4-FFF2-40B4-BE49-F238E27FC236}">
                <a16:creationId xmlns:a16="http://schemas.microsoft.com/office/drawing/2014/main" id="{ECBEE65B-617B-B049-F066-D0A6F4EAC04E}"/>
              </a:ext>
            </a:extLst>
          </p:cNvPr>
          <p:cNvSpPr>
            <a:spLocks noGrp="1"/>
          </p:cNvSpPr>
          <p:nvPr>
            <p:ph type="dt" sz="half" idx="10"/>
          </p:nvPr>
        </p:nvSpPr>
        <p:spPr>
          <a:xfrm>
            <a:off x="1412666" y="6356350"/>
            <a:ext cx="1779521" cy="365125"/>
          </a:xfrm>
        </p:spPr>
        <p:txBody>
          <a:bodyPr/>
          <a:lstStyle/>
          <a:p>
            <a:r>
              <a:rPr lang="de-DE" dirty="0"/>
              <a:t>Stand: 23.01.26</a:t>
            </a:r>
          </a:p>
        </p:txBody>
      </p:sp>
    </p:spTree>
    <p:extLst>
      <p:ext uri="{BB962C8B-B14F-4D97-AF65-F5344CB8AC3E}">
        <p14:creationId xmlns:p14="http://schemas.microsoft.com/office/powerpoint/2010/main" val="1517734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12DF2-5350-B2E8-9DFB-28530223C1F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EFAA52-14E5-7333-AD3C-7626872A76C9}"/>
              </a:ext>
            </a:extLst>
          </p:cNvPr>
          <p:cNvSpPr>
            <a:spLocks noGrp="1"/>
          </p:cNvSpPr>
          <p:nvPr>
            <p:ph type="title"/>
          </p:nvPr>
        </p:nvSpPr>
        <p:spPr/>
        <p:txBody>
          <a:bodyPr/>
          <a:lstStyle/>
          <a:p>
            <a:r>
              <a:rPr lang="de-DE" dirty="0"/>
              <a:t>Bauprodukteverordnung</a:t>
            </a:r>
          </a:p>
        </p:txBody>
      </p:sp>
      <p:pic>
        <p:nvPicPr>
          <p:cNvPr id="8" name="Inhaltsplatzhalter 7">
            <a:extLst>
              <a:ext uri="{FF2B5EF4-FFF2-40B4-BE49-F238E27FC236}">
                <a16:creationId xmlns:a16="http://schemas.microsoft.com/office/drawing/2014/main" id="{618551FD-1240-4298-F3B1-17D0A315A2B0}"/>
              </a:ext>
            </a:extLst>
          </p:cNvPr>
          <p:cNvPicPr>
            <a:picLocks noGrp="1" noChangeAspect="1"/>
          </p:cNvPicPr>
          <p:nvPr>
            <p:ph idx="1"/>
          </p:nvPr>
        </p:nvPicPr>
        <p:blipFill>
          <a:blip r:embed="rId3"/>
          <a:stretch>
            <a:fillRect/>
          </a:stretch>
        </p:blipFill>
        <p:spPr>
          <a:xfrm>
            <a:off x="761962" y="1584309"/>
            <a:ext cx="10210875" cy="4262469"/>
          </a:xfrm>
        </p:spPr>
      </p:pic>
      <p:sp>
        <p:nvSpPr>
          <p:cNvPr id="5" name="Fußzeilenplatzhalter 4">
            <a:extLst>
              <a:ext uri="{FF2B5EF4-FFF2-40B4-BE49-F238E27FC236}">
                <a16:creationId xmlns:a16="http://schemas.microsoft.com/office/drawing/2014/main" id="{17C44C01-4A52-2195-E14C-49990CB93AB4}"/>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0387CB89-F86E-D28A-E975-0AA6740F06D8}"/>
              </a:ext>
            </a:extLst>
          </p:cNvPr>
          <p:cNvSpPr>
            <a:spLocks noGrp="1"/>
          </p:cNvSpPr>
          <p:nvPr>
            <p:ph type="sldNum" sz="quarter" idx="12"/>
          </p:nvPr>
        </p:nvSpPr>
        <p:spPr/>
        <p:txBody>
          <a:bodyPr/>
          <a:lstStyle/>
          <a:p>
            <a:fld id="{1F759103-C7F7-4BD0-A3ED-461D710A1134}" type="slidenum">
              <a:rPr lang="de-DE" smtClean="0"/>
              <a:t>23</a:t>
            </a:fld>
            <a:endParaRPr lang="de-DE"/>
          </a:p>
        </p:txBody>
      </p:sp>
      <p:sp>
        <p:nvSpPr>
          <p:cNvPr id="13" name="Datumsplatzhalter 3">
            <a:extLst>
              <a:ext uri="{FF2B5EF4-FFF2-40B4-BE49-F238E27FC236}">
                <a16:creationId xmlns:a16="http://schemas.microsoft.com/office/drawing/2014/main" id="{AB023FF1-2A65-2E5D-4F30-74EA6D464F6F}"/>
              </a:ext>
            </a:extLst>
          </p:cNvPr>
          <p:cNvSpPr>
            <a:spLocks noGrp="1"/>
          </p:cNvSpPr>
          <p:nvPr>
            <p:ph type="dt" sz="half" idx="10"/>
          </p:nvPr>
        </p:nvSpPr>
        <p:spPr>
          <a:xfrm>
            <a:off x="1412666" y="6356350"/>
            <a:ext cx="1779521" cy="365125"/>
          </a:xfrm>
        </p:spPr>
        <p:txBody>
          <a:bodyPr/>
          <a:lstStyle/>
          <a:p>
            <a:r>
              <a:rPr lang="de-DE" dirty="0"/>
              <a:t>Stand: 23.01.26</a:t>
            </a:r>
          </a:p>
        </p:txBody>
      </p:sp>
    </p:spTree>
    <p:extLst>
      <p:ext uri="{BB962C8B-B14F-4D97-AF65-F5344CB8AC3E}">
        <p14:creationId xmlns:p14="http://schemas.microsoft.com/office/powerpoint/2010/main" val="4177517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DF84D8-73D3-3097-5AD9-A035056EAEE2}"/>
              </a:ext>
            </a:extLst>
          </p:cNvPr>
          <p:cNvSpPr>
            <a:spLocks noGrp="1"/>
          </p:cNvSpPr>
          <p:nvPr>
            <p:ph type="title"/>
          </p:nvPr>
        </p:nvSpPr>
        <p:spPr/>
        <p:txBody>
          <a:bodyPr/>
          <a:lstStyle/>
          <a:p>
            <a:r>
              <a:rPr lang="de-DE" dirty="0"/>
              <a:t>Gängige Materialien für den abgasführenden Teil</a:t>
            </a:r>
          </a:p>
        </p:txBody>
      </p:sp>
      <p:graphicFrame>
        <p:nvGraphicFramePr>
          <p:cNvPr id="7" name="Inhaltsplatzhalter 6">
            <a:extLst>
              <a:ext uri="{FF2B5EF4-FFF2-40B4-BE49-F238E27FC236}">
                <a16:creationId xmlns:a16="http://schemas.microsoft.com/office/drawing/2014/main" id="{24EDF05A-8C04-3F6F-B759-A111FACAE873}"/>
              </a:ext>
            </a:extLst>
          </p:cNvPr>
          <p:cNvGraphicFramePr>
            <a:graphicFrameLocks noGrp="1"/>
          </p:cNvGraphicFramePr>
          <p:nvPr>
            <p:ph idx="1"/>
            <p:extLst>
              <p:ext uri="{D42A27DB-BD31-4B8C-83A1-F6EECF244321}">
                <p14:modId xmlns:p14="http://schemas.microsoft.com/office/powerpoint/2010/main" val="1102697006"/>
              </p:ext>
            </p:extLst>
          </p:nvPr>
        </p:nvGraphicFramePr>
        <p:xfrm>
          <a:off x="838200" y="1628776"/>
          <a:ext cx="10764496" cy="4450080"/>
        </p:xfrm>
        <a:graphic>
          <a:graphicData uri="http://schemas.openxmlformats.org/drawingml/2006/table">
            <a:tbl>
              <a:tblPr firstRow="1" bandRow="1">
                <a:tableStyleId>{5C22544A-7EE6-4342-B048-85BDC9FD1C3A}</a:tableStyleId>
              </a:tblPr>
              <a:tblGrid>
                <a:gridCol w="2831275">
                  <a:extLst>
                    <a:ext uri="{9D8B030D-6E8A-4147-A177-3AD203B41FA5}">
                      <a16:colId xmlns:a16="http://schemas.microsoft.com/office/drawing/2014/main" val="3993278403"/>
                    </a:ext>
                  </a:extLst>
                </a:gridCol>
                <a:gridCol w="7933221">
                  <a:extLst>
                    <a:ext uri="{9D8B030D-6E8A-4147-A177-3AD203B41FA5}">
                      <a16:colId xmlns:a16="http://schemas.microsoft.com/office/drawing/2014/main" val="3262895921"/>
                    </a:ext>
                  </a:extLst>
                </a:gridCol>
              </a:tblGrid>
              <a:tr h="370840">
                <a:tc>
                  <a:txBody>
                    <a:bodyPr/>
                    <a:lstStyle/>
                    <a:p>
                      <a:r>
                        <a:rPr lang="de-DE" dirty="0"/>
                        <a:t>Abkürzung nach ZIV AB 202</a:t>
                      </a:r>
                    </a:p>
                  </a:txBody>
                  <a:tcPr/>
                </a:tc>
                <a:tc>
                  <a:txBody>
                    <a:bodyPr/>
                    <a:lstStyle/>
                    <a:p>
                      <a:pPr algn="ctr"/>
                      <a:r>
                        <a:rPr lang="de-DE" dirty="0"/>
                        <a:t>Material</a:t>
                      </a:r>
                    </a:p>
                  </a:txBody>
                  <a:tcPr/>
                </a:tc>
                <a:extLst>
                  <a:ext uri="{0D108BD9-81ED-4DB2-BD59-A6C34878D82A}">
                    <a16:rowId xmlns:a16="http://schemas.microsoft.com/office/drawing/2014/main" val="3417169207"/>
                  </a:ext>
                </a:extLst>
              </a:tr>
              <a:tr h="370840">
                <a:tc>
                  <a:txBody>
                    <a:bodyPr/>
                    <a:lstStyle/>
                    <a:p>
                      <a:endParaRPr lang="de-DE"/>
                    </a:p>
                  </a:txBody>
                  <a:tcPr/>
                </a:tc>
                <a:tc>
                  <a:txBody>
                    <a:bodyPr/>
                    <a:lstStyle/>
                    <a:p>
                      <a:endParaRPr lang="de-DE"/>
                    </a:p>
                  </a:txBody>
                  <a:tcPr/>
                </a:tc>
                <a:extLst>
                  <a:ext uri="{0D108BD9-81ED-4DB2-BD59-A6C34878D82A}">
                    <a16:rowId xmlns:a16="http://schemas.microsoft.com/office/drawing/2014/main" val="1644570682"/>
                  </a:ext>
                </a:extLst>
              </a:tr>
              <a:tr h="370840">
                <a:tc>
                  <a:txBody>
                    <a:bodyPr/>
                    <a:lstStyle/>
                    <a:p>
                      <a:pPr algn="ctr"/>
                      <a:r>
                        <a:rPr lang="de-DE" dirty="0"/>
                        <a:t>AF</a:t>
                      </a:r>
                    </a:p>
                  </a:txBody>
                  <a:tcPr/>
                </a:tc>
                <a:tc>
                  <a:txBody>
                    <a:bodyPr/>
                    <a:lstStyle/>
                    <a:p>
                      <a:pPr algn="ctr"/>
                      <a:r>
                        <a:rPr lang="de-DE" dirty="0"/>
                        <a:t>Aluminium </a:t>
                      </a:r>
                      <a:r>
                        <a:rPr lang="de-DE" dirty="0" err="1"/>
                        <a:t>felxibel</a:t>
                      </a:r>
                      <a:endParaRPr lang="de-DE" dirty="0"/>
                    </a:p>
                  </a:txBody>
                  <a:tcPr/>
                </a:tc>
                <a:extLst>
                  <a:ext uri="{0D108BD9-81ED-4DB2-BD59-A6C34878D82A}">
                    <a16:rowId xmlns:a16="http://schemas.microsoft.com/office/drawing/2014/main" val="3534497133"/>
                  </a:ext>
                </a:extLst>
              </a:tr>
              <a:tr h="370840">
                <a:tc>
                  <a:txBody>
                    <a:bodyPr/>
                    <a:lstStyle/>
                    <a:p>
                      <a:pPr algn="ctr"/>
                      <a:r>
                        <a:rPr lang="de-DE" dirty="0"/>
                        <a:t>AU </a:t>
                      </a:r>
                    </a:p>
                  </a:txBody>
                  <a:tcPr/>
                </a:tc>
                <a:tc>
                  <a:txBody>
                    <a:bodyPr/>
                    <a:lstStyle/>
                    <a:p>
                      <a:pPr algn="ctr"/>
                      <a:r>
                        <a:rPr lang="de-DE" dirty="0" err="1"/>
                        <a:t>Aluminuim</a:t>
                      </a:r>
                      <a:r>
                        <a:rPr lang="de-DE" dirty="0"/>
                        <a:t> starr</a:t>
                      </a:r>
                    </a:p>
                  </a:txBody>
                  <a:tcPr/>
                </a:tc>
                <a:extLst>
                  <a:ext uri="{0D108BD9-81ED-4DB2-BD59-A6C34878D82A}">
                    <a16:rowId xmlns:a16="http://schemas.microsoft.com/office/drawing/2014/main" val="3642471937"/>
                  </a:ext>
                </a:extLst>
              </a:tr>
              <a:tr h="370840">
                <a:tc>
                  <a:txBody>
                    <a:bodyPr/>
                    <a:lstStyle/>
                    <a:p>
                      <a:pPr algn="ctr"/>
                      <a:r>
                        <a:rPr lang="de-DE" dirty="0"/>
                        <a:t>AZ</a:t>
                      </a:r>
                    </a:p>
                  </a:txBody>
                  <a:tcPr/>
                </a:tc>
                <a:tc>
                  <a:txBody>
                    <a:bodyPr/>
                    <a:lstStyle/>
                    <a:p>
                      <a:pPr algn="ctr"/>
                      <a:r>
                        <a:rPr lang="de-DE" dirty="0"/>
                        <a:t>Asbestzement</a:t>
                      </a:r>
                    </a:p>
                  </a:txBody>
                  <a:tcPr/>
                </a:tc>
                <a:extLst>
                  <a:ext uri="{0D108BD9-81ED-4DB2-BD59-A6C34878D82A}">
                    <a16:rowId xmlns:a16="http://schemas.microsoft.com/office/drawing/2014/main" val="424495152"/>
                  </a:ext>
                </a:extLst>
              </a:tr>
              <a:tr h="370840">
                <a:tc>
                  <a:txBody>
                    <a:bodyPr/>
                    <a:lstStyle/>
                    <a:p>
                      <a:pPr algn="ctr"/>
                      <a:r>
                        <a:rPr lang="de-DE" dirty="0"/>
                        <a:t>EF</a:t>
                      </a:r>
                    </a:p>
                  </a:txBody>
                  <a:tcPr/>
                </a:tc>
                <a:tc>
                  <a:txBody>
                    <a:bodyPr/>
                    <a:lstStyle/>
                    <a:p>
                      <a:pPr algn="ctr"/>
                      <a:r>
                        <a:rPr lang="de-DE" dirty="0"/>
                        <a:t>Edelstahl Flexibel</a:t>
                      </a:r>
                    </a:p>
                  </a:txBody>
                  <a:tcPr/>
                </a:tc>
                <a:extLst>
                  <a:ext uri="{0D108BD9-81ED-4DB2-BD59-A6C34878D82A}">
                    <a16:rowId xmlns:a16="http://schemas.microsoft.com/office/drawing/2014/main" val="3220205446"/>
                  </a:ext>
                </a:extLst>
              </a:tr>
              <a:tr h="370840">
                <a:tc>
                  <a:txBody>
                    <a:bodyPr/>
                    <a:lstStyle/>
                    <a:p>
                      <a:pPr algn="ctr"/>
                      <a:r>
                        <a:rPr lang="de-DE" dirty="0"/>
                        <a:t>ES</a:t>
                      </a:r>
                    </a:p>
                  </a:txBody>
                  <a:tcPr/>
                </a:tc>
                <a:tc>
                  <a:txBody>
                    <a:bodyPr/>
                    <a:lstStyle/>
                    <a:p>
                      <a:pPr algn="ctr"/>
                      <a:r>
                        <a:rPr lang="de-DE" dirty="0"/>
                        <a:t>Edelstahl starr</a:t>
                      </a:r>
                    </a:p>
                  </a:txBody>
                  <a:tcPr/>
                </a:tc>
                <a:extLst>
                  <a:ext uri="{0D108BD9-81ED-4DB2-BD59-A6C34878D82A}">
                    <a16:rowId xmlns:a16="http://schemas.microsoft.com/office/drawing/2014/main" val="2831662953"/>
                  </a:ext>
                </a:extLst>
              </a:tr>
              <a:tr h="370840">
                <a:tc>
                  <a:txBody>
                    <a:bodyPr/>
                    <a:lstStyle/>
                    <a:p>
                      <a:pPr algn="ctr"/>
                      <a:r>
                        <a:rPr lang="de-DE" dirty="0"/>
                        <a:t>FZ</a:t>
                      </a:r>
                    </a:p>
                  </a:txBody>
                  <a:tcPr/>
                </a:tc>
                <a:tc>
                  <a:txBody>
                    <a:bodyPr/>
                    <a:lstStyle/>
                    <a:p>
                      <a:pPr algn="ctr"/>
                      <a:r>
                        <a:rPr lang="de-DE" dirty="0"/>
                        <a:t>Faserzement</a:t>
                      </a:r>
                    </a:p>
                  </a:txBody>
                  <a:tcPr/>
                </a:tc>
                <a:extLst>
                  <a:ext uri="{0D108BD9-81ED-4DB2-BD59-A6C34878D82A}">
                    <a16:rowId xmlns:a16="http://schemas.microsoft.com/office/drawing/2014/main" val="1851083351"/>
                  </a:ext>
                </a:extLst>
              </a:tr>
              <a:tr h="370840">
                <a:tc>
                  <a:txBody>
                    <a:bodyPr/>
                    <a:lstStyle/>
                    <a:p>
                      <a:pPr algn="ctr"/>
                      <a:r>
                        <a:rPr lang="de-DE" dirty="0"/>
                        <a:t>GL</a:t>
                      </a:r>
                    </a:p>
                  </a:txBody>
                  <a:tcPr/>
                </a:tc>
                <a:tc>
                  <a:txBody>
                    <a:bodyPr/>
                    <a:lstStyle/>
                    <a:p>
                      <a:pPr algn="ctr"/>
                      <a:r>
                        <a:rPr lang="de-DE" dirty="0"/>
                        <a:t>Glas</a:t>
                      </a:r>
                    </a:p>
                  </a:txBody>
                  <a:tcPr/>
                </a:tc>
                <a:extLst>
                  <a:ext uri="{0D108BD9-81ED-4DB2-BD59-A6C34878D82A}">
                    <a16:rowId xmlns:a16="http://schemas.microsoft.com/office/drawing/2014/main" val="4120654592"/>
                  </a:ext>
                </a:extLst>
              </a:tr>
              <a:tr h="370840">
                <a:tc>
                  <a:txBody>
                    <a:bodyPr/>
                    <a:lstStyle/>
                    <a:p>
                      <a:pPr algn="ctr"/>
                      <a:r>
                        <a:rPr lang="de-DE" dirty="0"/>
                        <a:t>KS</a:t>
                      </a:r>
                    </a:p>
                  </a:txBody>
                  <a:tcPr/>
                </a:tc>
                <a:tc>
                  <a:txBody>
                    <a:bodyPr/>
                    <a:lstStyle/>
                    <a:p>
                      <a:pPr algn="ctr"/>
                      <a:r>
                        <a:rPr lang="de-DE" dirty="0"/>
                        <a:t>Kunststoff starr</a:t>
                      </a:r>
                    </a:p>
                  </a:txBody>
                  <a:tcPr/>
                </a:tc>
                <a:extLst>
                  <a:ext uri="{0D108BD9-81ED-4DB2-BD59-A6C34878D82A}">
                    <a16:rowId xmlns:a16="http://schemas.microsoft.com/office/drawing/2014/main" val="3394061443"/>
                  </a:ext>
                </a:extLst>
              </a:tr>
              <a:tr h="370840">
                <a:tc>
                  <a:txBody>
                    <a:bodyPr/>
                    <a:lstStyle/>
                    <a:p>
                      <a:pPr algn="ctr"/>
                      <a:r>
                        <a:rPr lang="de-DE" dirty="0"/>
                        <a:t>MW</a:t>
                      </a:r>
                    </a:p>
                  </a:txBody>
                  <a:tcPr/>
                </a:tc>
                <a:tc>
                  <a:txBody>
                    <a:bodyPr/>
                    <a:lstStyle/>
                    <a:p>
                      <a:pPr algn="ctr"/>
                      <a:r>
                        <a:rPr lang="de-DE" dirty="0"/>
                        <a:t>Mauerwerk</a:t>
                      </a:r>
                    </a:p>
                  </a:txBody>
                  <a:tcPr/>
                </a:tc>
                <a:extLst>
                  <a:ext uri="{0D108BD9-81ED-4DB2-BD59-A6C34878D82A}">
                    <a16:rowId xmlns:a16="http://schemas.microsoft.com/office/drawing/2014/main" val="3686525586"/>
                  </a:ext>
                </a:extLst>
              </a:tr>
              <a:tr h="370840">
                <a:tc>
                  <a:txBody>
                    <a:bodyPr/>
                    <a:lstStyle/>
                    <a:p>
                      <a:pPr algn="ctr"/>
                      <a:r>
                        <a:rPr lang="de-DE" dirty="0"/>
                        <a:t>SK</a:t>
                      </a:r>
                    </a:p>
                  </a:txBody>
                  <a:tcPr/>
                </a:tc>
                <a:tc>
                  <a:txBody>
                    <a:bodyPr/>
                    <a:lstStyle/>
                    <a:p>
                      <a:pPr algn="ctr"/>
                      <a:r>
                        <a:rPr lang="de-DE" dirty="0"/>
                        <a:t>Schamotte / Keramik</a:t>
                      </a:r>
                    </a:p>
                  </a:txBody>
                  <a:tcPr/>
                </a:tc>
                <a:extLst>
                  <a:ext uri="{0D108BD9-81ED-4DB2-BD59-A6C34878D82A}">
                    <a16:rowId xmlns:a16="http://schemas.microsoft.com/office/drawing/2014/main" val="1309342854"/>
                  </a:ext>
                </a:extLst>
              </a:tr>
            </a:tbl>
          </a:graphicData>
        </a:graphic>
      </p:graphicFrame>
      <p:sp>
        <p:nvSpPr>
          <p:cNvPr id="4" name="Datumsplatzhalter 3">
            <a:extLst>
              <a:ext uri="{FF2B5EF4-FFF2-40B4-BE49-F238E27FC236}">
                <a16:creationId xmlns:a16="http://schemas.microsoft.com/office/drawing/2014/main" id="{7418566F-AE7D-99F1-157C-90BB52584D50}"/>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FD46CCA-2EB3-2241-6D36-C74C67CC0694}"/>
              </a:ext>
            </a:extLst>
          </p:cNvPr>
          <p:cNvSpPr>
            <a:spLocks noGrp="1"/>
          </p:cNvSpPr>
          <p:nvPr>
            <p:ph type="ftr" sz="quarter" idx="11"/>
          </p:nvPr>
        </p:nvSpPr>
        <p:spPr/>
        <p:txBody>
          <a:bodyPr/>
          <a:lstStyle/>
          <a:p>
            <a:r>
              <a:rPr lang="de-DE" dirty="0"/>
              <a:t>Abgasanlagen, Verbindungsstücke und Abgasklappen</a:t>
            </a:r>
          </a:p>
          <a:p>
            <a:r>
              <a:rPr lang="de-DE" dirty="0"/>
              <a:t>LF  Tag 1 Schneider</a:t>
            </a:r>
          </a:p>
        </p:txBody>
      </p:sp>
      <p:sp>
        <p:nvSpPr>
          <p:cNvPr id="6" name="Foliennummernplatzhalter 5">
            <a:extLst>
              <a:ext uri="{FF2B5EF4-FFF2-40B4-BE49-F238E27FC236}">
                <a16:creationId xmlns:a16="http://schemas.microsoft.com/office/drawing/2014/main" id="{5BAB11D3-56BD-1654-6286-14C975661D2D}"/>
              </a:ext>
            </a:extLst>
          </p:cNvPr>
          <p:cNvSpPr>
            <a:spLocks noGrp="1"/>
          </p:cNvSpPr>
          <p:nvPr>
            <p:ph type="sldNum" sz="quarter" idx="12"/>
          </p:nvPr>
        </p:nvSpPr>
        <p:spPr/>
        <p:txBody>
          <a:bodyPr/>
          <a:lstStyle/>
          <a:p>
            <a:fld id="{1F759103-C7F7-4BD0-A3ED-461D710A1134}" type="slidenum">
              <a:rPr lang="de-DE" smtClean="0"/>
              <a:t>24</a:t>
            </a:fld>
            <a:endParaRPr lang="de-DE"/>
          </a:p>
        </p:txBody>
      </p:sp>
    </p:spTree>
    <p:extLst>
      <p:ext uri="{BB962C8B-B14F-4D97-AF65-F5344CB8AC3E}">
        <p14:creationId xmlns:p14="http://schemas.microsoft.com/office/powerpoint/2010/main" val="682695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849555-EBDD-6A9C-702A-B9EC1A170922}"/>
              </a:ext>
            </a:extLst>
          </p:cNvPr>
          <p:cNvSpPr>
            <a:spLocks noGrp="1"/>
          </p:cNvSpPr>
          <p:nvPr>
            <p:ph type="title"/>
          </p:nvPr>
        </p:nvSpPr>
        <p:spPr/>
        <p:txBody>
          <a:bodyPr/>
          <a:lstStyle/>
          <a:p>
            <a:r>
              <a:rPr lang="de-DE" dirty="0"/>
              <a:t>Schornsteintechnik im Überblick – Einschalige und mehrschalige Schornsteinsysteme</a:t>
            </a:r>
          </a:p>
        </p:txBody>
      </p:sp>
      <p:pic>
        <p:nvPicPr>
          <p:cNvPr id="8" name="Inhaltsplatzhalter 7" descr="Ein Bild, das Text, Screenshot, Schrift, Zahl enthält.&#10;&#10;KI-generierte Inhalte können fehlerhaft sein.">
            <a:extLst>
              <a:ext uri="{FF2B5EF4-FFF2-40B4-BE49-F238E27FC236}">
                <a16:creationId xmlns:a16="http://schemas.microsoft.com/office/drawing/2014/main" id="{751EDF14-CC3E-E327-EBB2-BD030E7ABD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0859" y="1690688"/>
            <a:ext cx="6113335" cy="4351338"/>
          </a:xfrm>
        </p:spPr>
      </p:pic>
      <p:sp>
        <p:nvSpPr>
          <p:cNvPr id="4" name="Datumsplatzhalter 3">
            <a:extLst>
              <a:ext uri="{FF2B5EF4-FFF2-40B4-BE49-F238E27FC236}">
                <a16:creationId xmlns:a16="http://schemas.microsoft.com/office/drawing/2014/main" id="{8F374F40-7689-5AA7-2FD0-ACC003465CD4}"/>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68F281EE-78EE-164C-F01D-47CF6EB20DE5}"/>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52DA489C-B7A3-CF75-4F91-B26C3FA56983}"/>
              </a:ext>
            </a:extLst>
          </p:cNvPr>
          <p:cNvSpPr>
            <a:spLocks noGrp="1"/>
          </p:cNvSpPr>
          <p:nvPr>
            <p:ph type="sldNum" sz="quarter" idx="12"/>
          </p:nvPr>
        </p:nvSpPr>
        <p:spPr/>
        <p:txBody>
          <a:bodyPr/>
          <a:lstStyle/>
          <a:p>
            <a:fld id="{1F759103-C7F7-4BD0-A3ED-461D710A1134}" type="slidenum">
              <a:rPr lang="de-DE" smtClean="0"/>
              <a:t>25</a:t>
            </a:fld>
            <a:endParaRPr lang="de-DE"/>
          </a:p>
        </p:txBody>
      </p:sp>
      <p:pic>
        <p:nvPicPr>
          <p:cNvPr id="9" name="Inhaltsplatzhalter 7" descr="Ein Bild, das Text, Screenshot, Zahl, Schrift enthält.&#10;&#10;KI-generierte Inhalte können fehlerhaft sein.">
            <a:extLst>
              <a:ext uri="{FF2B5EF4-FFF2-40B4-BE49-F238E27FC236}">
                <a16:creationId xmlns:a16="http://schemas.microsoft.com/office/drawing/2014/main" id="{A23B1543-3CFF-E977-9FE7-DABC41FB5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7994" y="1847850"/>
            <a:ext cx="5734006" cy="4351338"/>
          </a:xfrm>
          <a:prstGeom prst="rect">
            <a:avLst/>
          </a:prstGeom>
        </p:spPr>
      </p:pic>
    </p:spTree>
    <p:extLst>
      <p:ext uri="{BB962C8B-B14F-4D97-AF65-F5344CB8AC3E}">
        <p14:creationId xmlns:p14="http://schemas.microsoft.com/office/powerpoint/2010/main" val="3998730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3B3648-5397-8A4D-9677-EB4467857622}"/>
              </a:ext>
            </a:extLst>
          </p:cNvPr>
          <p:cNvSpPr>
            <a:spLocks noGrp="1"/>
          </p:cNvSpPr>
          <p:nvPr>
            <p:ph type="title"/>
          </p:nvPr>
        </p:nvSpPr>
        <p:spPr/>
        <p:txBody>
          <a:bodyPr/>
          <a:lstStyle/>
          <a:p>
            <a:r>
              <a:rPr lang="de-DE" dirty="0"/>
              <a:t>Ringspalt-Maße</a:t>
            </a:r>
          </a:p>
        </p:txBody>
      </p:sp>
      <p:sp>
        <p:nvSpPr>
          <p:cNvPr id="4" name="Datumsplatzhalter 3">
            <a:extLst>
              <a:ext uri="{FF2B5EF4-FFF2-40B4-BE49-F238E27FC236}">
                <a16:creationId xmlns:a16="http://schemas.microsoft.com/office/drawing/2014/main" id="{4EB76104-0310-E600-64AD-EB32D8B876FD}"/>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CDB4ECF6-13BA-5D42-C384-CD5579F4EC48}"/>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0B84997-B036-74B1-EC19-C6F787F1190B}"/>
              </a:ext>
            </a:extLst>
          </p:cNvPr>
          <p:cNvSpPr>
            <a:spLocks noGrp="1"/>
          </p:cNvSpPr>
          <p:nvPr>
            <p:ph type="sldNum" sz="quarter" idx="12"/>
          </p:nvPr>
        </p:nvSpPr>
        <p:spPr/>
        <p:txBody>
          <a:bodyPr/>
          <a:lstStyle/>
          <a:p>
            <a:fld id="{1F759103-C7F7-4BD0-A3ED-461D710A1134}" type="slidenum">
              <a:rPr lang="de-DE" smtClean="0"/>
              <a:t>26</a:t>
            </a:fld>
            <a:endParaRPr lang="de-DE"/>
          </a:p>
        </p:txBody>
      </p:sp>
      <p:pic>
        <p:nvPicPr>
          <p:cNvPr id="7" name="Inhaltsplatzhalter 7" descr="Ein Bild, das Text, Screenshot, Schrift, Dokument enthält.&#10;&#10;Automatisch generierte Beschreibung">
            <a:extLst>
              <a:ext uri="{FF2B5EF4-FFF2-40B4-BE49-F238E27FC236}">
                <a16:creationId xmlns:a16="http://schemas.microsoft.com/office/drawing/2014/main" id="{FF7093F8-1FCC-BC84-898C-4232B6294C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3516" y="1761026"/>
            <a:ext cx="6318381" cy="4351338"/>
          </a:xfrm>
        </p:spPr>
      </p:pic>
    </p:spTree>
    <p:extLst>
      <p:ext uri="{BB962C8B-B14F-4D97-AF65-F5344CB8AC3E}">
        <p14:creationId xmlns:p14="http://schemas.microsoft.com/office/powerpoint/2010/main" val="3704529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C906B9-F2A7-7814-7F28-61D1B105FB37}"/>
              </a:ext>
            </a:extLst>
          </p:cNvPr>
          <p:cNvSpPr>
            <a:spLocks noGrp="1"/>
          </p:cNvSpPr>
          <p:nvPr>
            <p:ph type="title"/>
          </p:nvPr>
        </p:nvSpPr>
        <p:spPr/>
        <p:txBody>
          <a:bodyPr>
            <a:normAutofit fontScale="90000"/>
          </a:bodyPr>
          <a:lstStyle/>
          <a:p>
            <a:r>
              <a:rPr lang="de-DE" dirty="0"/>
              <a:t>Ermitteln Sie die Anforderungen, die die Feuerungsverordnung (</a:t>
            </a:r>
            <a:r>
              <a:rPr lang="de-DE" dirty="0" err="1"/>
              <a:t>FeuV</a:t>
            </a:r>
            <a:r>
              <a:rPr lang="de-DE" dirty="0"/>
              <a:t>) an Verbindungsstücke stellt, und stellen Sie diese übersichtlich dar.</a:t>
            </a:r>
          </a:p>
        </p:txBody>
      </p:sp>
      <p:sp>
        <p:nvSpPr>
          <p:cNvPr id="3" name="Inhaltsplatzhalter 2">
            <a:extLst>
              <a:ext uri="{FF2B5EF4-FFF2-40B4-BE49-F238E27FC236}">
                <a16:creationId xmlns:a16="http://schemas.microsoft.com/office/drawing/2014/main" id="{3A69F071-8C9F-5EB1-4017-69B13ADC408E}"/>
              </a:ext>
            </a:extLst>
          </p:cNvPr>
          <p:cNvSpPr>
            <a:spLocks noGrp="1"/>
          </p:cNvSpPr>
          <p:nvPr>
            <p:ph idx="1"/>
          </p:nvPr>
        </p:nvSpPr>
        <p:spPr>
          <a:xfrm>
            <a:off x="838200" y="2370137"/>
            <a:ext cx="10515600" cy="4351338"/>
          </a:xfrm>
        </p:spPr>
        <p:txBody>
          <a:bodyPr/>
          <a:lstStyle/>
          <a:p>
            <a:r>
              <a:rPr lang="de-DE" dirty="0"/>
              <a:t>Ermitteln Sie die Anforderungen, die die Feuerungsverordnung (</a:t>
            </a:r>
            <a:r>
              <a:rPr lang="de-DE" dirty="0" err="1"/>
              <a:t>FeuV</a:t>
            </a:r>
            <a:r>
              <a:rPr lang="de-DE" dirty="0"/>
              <a:t>) an Verbindungsstücke stellt, und stellen Sie diese übersichtlich dar.</a:t>
            </a:r>
          </a:p>
          <a:p>
            <a:endParaRPr lang="de-DE" dirty="0"/>
          </a:p>
          <a:p>
            <a:r>
              <a:rPr lang="de-DE" dirty="0"/>
              <a:t>Brandschutzabstände für unterschiedliche Temperaturklassen </a:t>
            </a:r>
          </a:p>
          <a:p>
            <a:r>
              <a:rPr lang="de-DE" dirty="0"/>
              <a:t>Durchführung durch Wände, Decken usw. </a:t>
            </a:r>
          </a:p>
        </p:txBody>
      </p:sp>
      <p:sp>
        <p:nvSpPr>
          <p:cNvPr id="4" name="Datumsplatzhalter 3">
            <a:extLst>
              <a:ext uri="{FF2B5EF4-FFF2-40B4-BE49-F238E27FC236}">
                <a16:creationId xmlns:a16="http://schemas.microsoft.com/office/drawing/2014/main" id="{0F663791-89DD-0F42-0278-FEDDBAABD304}"/>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15D089B7-68EF-884F-5C37-41ADF49BFDCC}"/>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1F7E02CD-F94D-B67C-1B8C-7CB465B0F7FB}"/>
              </a:ext>
            </a:extLst>
          </p:cNvPr>
          <p:cNvSpPr>
            <a:spLocks noGrp="1"/>
          </p:cNvSpPr>
          <p:nvPr>
            <p:ph type="sldNum" sz="quarter" idx="12"/>
          </p:nvPr>
        </p:nvSpPr>
        <p:spPr/>
        <p:txBody>
          <a:bodyPr/>
          <a:lstStyle/>
          <a:p>
            <a:fld id="{1F759103-C7F7-4BD0-A3ED-461D710A1134}" type="slidenum">
              <a:rPr lang="de-DE" smtClean="0"/>
              <a:t>27</a:t>
            </a:fld>
            <a:endParaRPr lang="de-DE"/>
          </a:p>
        </p:txBody>
      </p:sp>
    </p:spTree>
    <p:extLst>
      <p:ext uri="{BB962C8B-B14F-4D97-AF65-F5344CB8AC3E}">
        <p14:creationId xmlns:p14="http://schemas.microsoft.com/office/powerpoint/2010/main" val="327327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F1C710-2F9C-9CA9-684E-4359176BFF3F}"/>
              </a:ext>
            </a:extLst>
          </p:cNvPr>
          <p:cNvSpPr>
            <a:spLocks noGrp="1"/>
          </p:cNvSpPr>
          <p:nvPr>
            <p:ph type="title"/>
          </p:nvPr>
        </p:nvSpPr>
        <p:spPr/>
        <p:txBody>
          <a:bodyPr>
            <a:normAutofit/>
          </a:bodyPr>
          <a:lstStyle/>
          <a:p>
            <a:r>
              <a:rPr lang="de-DE" dirty="0"/>
              <a:t>Anforderungen an Verbindungsstücke (</a:t>
            </a:r>
            <a:r>
              <a:rPr lang="de-DE" dirty="0" err="1"/>
              <a:t>FeuV</a:t>
            </a:r>
            <a:r>
              <a:rPr lang="de-DE" dirty="0"/>
              <a:t>)</a:t>
            </a:r>
          </a:p>
        </p:txBody>
      </p:sp>
      <p:pic>
        <p:nvPicPr>
          <p:cNvPr id="8" name="Inhaltsplatzhalter 7" descr="Ein Bild, das Text, Screenshot, Schrift enthält.&#10;&#10;KI-generierte Inhalte können fehlerhaft sein.">
            <a:extLst>
              <a:ext uri="{FF2B5EF4-FFF2-40B4-BE49-F238E27FC236}">
                <a16:creationId xmlns:a16="http://schemas.microsoft.com/office/drawing/2014/main" id="{E6D6A552-8558-8BD9-39C1-C969F3DCD4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8700" y="1690688"/>
            <a:ext cx="10134600" cy="1651000"/>
          </a:xfrm>
          <a:prstGeom prst="rect">
            <a:avLst/>
          </a:prstGeom>
        </p:spPr>
      </p:pic>
      <p:sp>
        <p:nvSpPr>
          <p:cNvPr id="4" name="Datumsplatzhalter 3">
            <a:extLst>
              <a:ext uri="{FF2B5EF4-FFF2-40B4-BE49-F238E27FC236}">
                <a16:creationId xmlns:a16="http://schemas.microsoft.com/office/drawing/2014/main" id="{773CE29E-68A5-4FA6-D10D-4991E379097D}"/>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39A8620D-7BB3-3A34-6220-A26EE6675BFC}"/>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DD3F0832-DC45-6F00-373E-1DF5E9EC42B3}"/>
              </a:ext>
            </a:extLst>
          </p:cNvPr>
          <p:cNvSpPr>
            <a:spLocks noGrp="1"/>
          </p:cNvSpPr>
          <p:nvPr>
            <p:ph type="sldNum" sz="quarter" idx="12"/>
          </p:nvPr>
        </p:nvSpPr>
        <p:spPr/>
        <p:txBody>
          <a:bodyPr/>
          <a:lstStyle/>
          <a:p>
            <a:fld id="{1F759103-C7F7-4BD0-A3ED-461D710A1134}" type="slidenum">
              <a:rPr lang="de-DE" smtClean="0"/>
              <a:t>28</a:t>
            </a:fld>
            <a:endParaRPr lang="de-DE"/>
          </a:p>
        </p:txBody>
      </p:sp>
      <p:pic>
        <p:nvPicPr>
          <p:cNvPr id="10" name="Grafik 9">
            <a:extLst>
              <a:ext uri="{FF2B5EF4-FFF2-40B4-BE49-F238E27FC236}">
                <a16:creationId xmlns:a16="http://schemas.microsoft.com/office/drawing/2014/main" id="{5E354FFF-CA41-2A35-B26A-2685E6BF0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700" y="3516313"/>
            <a:ext cx="8865702" cy="1028827"/>
          </a:xfrm>
          <a:prstGeom prst="rect">
            <a:avLst/>
          </a:prstGeom>
        </p:spPr>
      </p:pic>
    </p:spTree>
    <p:extLst>
      <p:ext uri="{BB962C8B-B14F-4D97-AF65-F5344CB8AC3E}">
        <p14:creationId xmlns:p14="http://schemas.microsoft.com/office/powerpoint/2010/main" val="353847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858BFF-715C-B27B-781A-7CBB89495C88}"/>
              </a:ext>
            </a:extLst>
          </p:cNvPr>
          <p:cNvSpPr>
            <a:spLocks noGrp="1"/>
          </p:cNvSpPr>
          <p:nvPr>
            <p:ph type="title"/>
          </p:nvPr>
        </p:nvSpPr>
        <p:spPr/>
        <p:txBody>
          <a:bodyPr>
            <a:normAutofit/>
          </a:bodyPr>
          <a:lstStyle/>
          <a:p>
            <a:r>
              <a:rPr lang="de-DE" dirty="0"/>
              <a:t>Anforderungen an Verbindungsstücke (</a:t>
            </a:r>
            <a:r>
              <a:rPr lang="de-DE" dirty="0" err="1"/>
              <a:t>FeuV</a:t>
            </a:r>
            <a:r>
              <a:rPr lang="de-DE" dirty="0"/>
              <a:t>)</a:t>
            </a:r>
          </a:p>
        </p:txBody>
      </p:sp>
      <p:pic>
        <p:nvPicPr>
          <p:cNvPr id="8" name="Inhaltsplatzhalter 7" descr="Ein Bild, das Text, Screenshot, Schrift, Dokument enthält.&#10;&#10;KI-generierte Inhalte können fehlerhaft sein.">
            <a:extLst>
              <a:ext uri="{FF2B5EF4-FFF2-40B4-BE49-F238E27FC236}">
                <a16:creationId xmlns:a16="http://schemas.microsoft.com/office/drawing/2014/main" id="{B7139AC1-C6F3-4E2D-3AD6-EECB5665AB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248900" cy="2832100"/>
          </a:xfrm>
          <a:prstGeom prst="rect">
            <a:avLst/>
          </a:prstGeom>
        </p:spPr>
      </p:pic>
      <p:sp>
        <p:nvSpPr>
          <p:cNvPr id="4" name="Datumsplatzhalter 3">
            <a:extLst>
              <a:ext uri="{FF2B5EF4-FFF2-40B4-BE49-F238E27FC236}">
                <a16:creationId xmlns:a16="http://schemas.microsoft.com/office/drawing/2014/main" id="{BDEAD22D-2CD3-C0A2-4F84-978919A81A83}"/>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8FB2961-A13C-A75E-50D5-6C8AEAC0211D}"/>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B2744E6C-D03C-36B1-578F-A5BC520D3886}"/>
              </a:ext>
            </a:extLst>
          </p:cNvPr>
          <p:cNvSpPr>
            <a:spLocks noGrp="1"/>
          </p:cNvSpPr>
          <p:nvPr>
            <p:ph type="sldNum" sz="quarter" idx="12"/>
          </p:nvPr>
        </p:nvSpPr>
        <p:spPr/>
        <p:txBody>
          <a:bodyPr/>
          <a:lstStyle/>
          <a:p>
            <a:fld id="{1F759103-C7F7-4BD0-A3ED-461D710A1134}" type="slidenum">
              <a:rPr lang="de-DE" smtClean="0"/>
              <a:t>29</a:t>
            </a:fld>
            <a:endParaRPr lang="de-DE"/>
          </a:p>
        </p:txBody>
      </p:sp>
    </p:spTree>
    <p:extLst>
      <p:ext uri="{BB962C8B-B14F-4D97-AF65-F5344CB8AC3E}">
        <p14:creationId xmlns:p14="http://schemas.microsoft.com/office/powerpoint/2010/main" val="3351016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36F7A-E54F-E460-E0F5-717C67326741}"/>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hrift, Screenshot, weiß enthält.&#10;&#10;KI-generierte Inhalte können fehlerhaft sein.">
            <a:extLst>
              <a:ext uri="{FF2B5EF4-FFF2-40B4-BE49-F238E27FC236}">
                <a16:creationId xmlns:a16="http://schemas.microsoft.com/office/drawing/2014/main" id="{5406CED6-92CA-228D-A8AF-9C6C066074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1200" y="1791261"/>
            <a:ext cx="8813800" cy="2063189"/>
          </a:xfrm>
          <a:prstGeom prst="rect">
            <a:avLst/>
          </a:prstGeom>
        </p:spPr>
      </p:pic>
      <p:sp>
        <p:nvSpPr>
          <p:cNvPr id="4" name="Datumsplatzhalter 3">
            <a:extLst>
              <a:ext uri="{FF2B5EF4-FFF2-40B4-BE49-F238E27FC236}">
                <a16:creationId xmlns:a16="http://schemas.microsoft.com/office/drawing/2014/main" id="{93F4DA3F-E884-880D-F6F8-11EF31DA2A01}"/>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BCCAE4B7-9890-BEE6-BA95-9B3E91743443}"/>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8BAECC6-A2AA-4FFB-26AB-AA0CBE7D05BF}"/>
              </a:ext>
            </a:extLst>
          </p:cNvPr>
          <p:cNvSpPr>
            <a:spLocks noGrp="1"/>
          </p:cNvSpPr>
          <p:nvPr>
            <p:ph type="sldNum" sz="quarter" idx="12"/>
          </p:nvPr>
        </p:nvSpPr>
        <p:spPr/>
        <p:txBody>
          <a:bodyPr/>
          <a:lstStyle/>
          <a:p>
            <a:fld id="{1F759103-C7F7-4BD0-A3ED-461D710A1134}" type="slidenum">
              <a:rPr lang="de-DE" smtClean="0"/>
              <a:t>30</a:t>
            </a:fld>
            <a:endParaRPr lang="de-DE"/>
          </a:p>
        </p:txBody>
      </p:sp>
      <p:pic>
        <p:nvPicPr>
          <p:cNvPr id="10" name="Grafik 9" descr="Ein Bild, das Text, Schrift, weiß, Algebra enthält.&#10;&#10;KI-generierte Inhalte können fehlerhaft sein.">
            <a:extLst>
              <a:ext uri="{FF2B5EF4-FFF2-40B4-BE49-F238E27FC236}">
                <a16:creationId xmlns:a16="http://schemas.microsoft.com/office/drawing/2014/main" id="{E770CD1B-6872-F05A-8C4F-0C5A7BCDF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44388"/>
            <a:ext cx="8559800" cy="1447800"/>
          </a:xfrm>
          <a:prstGeom prst="rect">
            <a:avLst/>
          </a:prstGeom>
        </p:spPr>
      </p:pic>
      <p:pic>
        <p:nvPicPr>
          <p:cNvPr id="12" name="Grafik 11" descr="Ein Bild, das Design, Rechteck enthält.&#10;&#10;KI-generierte Inhalte können fehlerhaft sein.">
            <a:extLst>
              <a:ext uri="{FF2B5EF4-FFF2-40B4-BE49-F238E27FC236}">
                <a16:creationId xmlns:a16="http://schemas.microsoft.com/office/drawing/2014/main" id="{35D99A0E-B6C2-BA64-5580-7FED525926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8000" y="1365812"/>
            <a:ext cx="2794000" cy="4800600"/>
          </a:xfrm>
          <a:prstGeom prst="rect">
            <a:avLst/>
          </a:prstGeom>
        </p:spPr>
      </p:pic>
    </p:spTree>
    <p:extLst>
      <p:ext uri="{BB962C8B-B14F-4D97-AF65-F5344CB8AC3E}">
        <p14:creationId xmlns:p14="http://schemas.microsoft.com/office/powerpoint/2010/main" val="291379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841390-CA4E-889C-5905-45B36F1C3048}"/>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reenshot, Schrift, Algebra enthält.&#10;&#10;KI-generierte Inhalte können fehlerhaft sein.">
            <a:extLst>
              <a:ext uri="{FF2B5EF4-FFF2-40B4-BE49-F238E27FC236}">
                <a16:creationId xmlns:a16="http://schemas.microsoft.com/office/drawing/2014/main" id="{C3941518-8E48-94DF-9F0F-D276E0B5B6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3997" y="1254919"/>
            <a:ext cx="8455849" cy="2129084"/>
          </a:xfrm>
          <a:prstGeom prst="rect">
            <a:avLst/>
          </a:prstGeom>
        </p:spPr>
      </p:pic>
      <p:sp>
        <p:nvSpPr>
          <p:cNvPr id="4" name="Datumsplatzhalter 3">
            <a:extLst>
              <a:ext uri="{FF2B5EF4-FFF2-40B4-BE49-F238E27FC236}">
                <a16:creationId xmlns:a16="http://schemas.microsoft.com/office/drawing/2014/main" id="{3F577941-385E-86FC-C61E-42B6D66A5AEE}"/>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4D2F0014-B3B2-2EA8-E25D-130489ADA218}"/>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A473A2AC-04B7-82A6-6A55-7A6B41D29C47}"/>
              </a:ext>
            </a:extLst>
          </p:cNvPr>
          <p:cNvSpPr>
            <a:spLocks noGrp="1"/>
          </p:cNvSpPr>
          <p:nvPr>
            <p:ph type="sldNum" sz="quarter" idx="12"/>
          </p:nvPr>
        </p:nvSpPr>
        <p:spPr/>
        <p:txBody>
          <a:bodyPr/>
          <a:lstStyle/>
          <a:p>
            <a:fld id="{1F759103-C7F7-4BD0-A3ED-461D710A1134}" type="slidenum">
              <a:rPr lang="de-DE" smtClean="0"/>
              <a:t>31</a:t>
            </a:fld>
            <a:endParaRPr lang="de-DE"/>
          </a:p>
        </p:txBody>
      </p:sp>
      <p:pic>
        <p:nvPicPr>
          <p:cNvPr id="10" name="Grafik 9" descr="Ein Bild, das Screenshot, Rechteck, Design enthält.&#10;&#10;KI-generierte Inhalte können fehlerhaft sein.">
            <a:extLst>
              <a:ext uri="{FF2B5EF4-FFF2-40B4-BE49-F238E27FC236}">
                <a16:creationId xmlns:a16="http://schemas.microsoft.com/office/drawing/2014/main" id="{0BA19B63-F042-FA20-0B10-E0CE7C5E0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7" y="3490119"/>
            <a:ext cx="4724400" cy="3302000"/>
          </a:xfrm>
          <a:prstGeom prst="rect">
            <a:avLst/>
          </a:prstGeom>
        </p:spPr>
      </p:pic>
      <p:pic>
        <p:nvPicPr>
          <p:cNvPr id="12" name="Grafik 11" descr="Ein Bild, das Text, Screenshot, Schrift, Zahl enthält.&#10;&#10;KI-generierte Inhalte können fehlerhaft sein.">
            <a:extLst>
              <a:ext uri="{FF2B5EF4-FFF2-40B4-BE49-F238E27FC236}">
                <a16:creationId xmlns:a16="http://schemas.microsoft.com/office/drawing/2014/main" id="{4EDFBEAA-74D3-D0A1-656B-BB0448F9B8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4688" y="2740665"/>
            <a:ext cx="3765000" cy="3632507"/>
          </a:xfrm>
          <a:prstGeom prst="rect">
            <a:avLst/>
          </a:prstGeom>
        </p:spPr>
      </p:pic>
    </p:spTree>
    <p:extLst>
      <p:ext uri="{BB962C8B-B14F-4D97-AF65-F5344CB8AC3E}">
        <p14:creationId xmlns:p14="http://schemas.microsoft.com/office/powerpoint/2010/main" val="111714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8DE067-D54E-8FC7-1CD1-C90387F0785D}"/>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hrift, Screenshot enthält.&#10;&#10;KI-generierte Inhalte können fehlerhaft sein.">
            <a:extLst>
              <a:ext uri="{FF2B5EF4-FFF2-40B4-BE49-F238E27FC236}">
                <a16:creationId xmlns:a16="http://schemas.microsoft.com/office/drawing/2014/main" id="{7CA8F597-EE84-F141-84B0-46F2F308E2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36517"/>
            <a:ext cx="8940800" cy="1447800"/>
          </a:xfrm>
          <a:prstGeom prst="rect">
            <a:avLst/>
          </a:prstGeom>
        </p:spPr>
      </p:pic>
      <p:sp>
        <p:nvSpPr>
          <p:cNvPr id="4" name="Datumsplatzhalter 3">
            <a:extLst>
              <a:ext uri="{FF2B5EF4-FFF2-40B4-BE49-F238E27FC236}">
                <a16:creationId xmlns:a16="http://schemas.microsoft.com/office/drawing/2014/main" id="{AC702227-53DB-C204-225C-3EE2D2226157}"/>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FBA68B6-7DAB-6122-35FE-C1B6A6CE73A9}"/>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021C4007-B9B0-CA8C-313A-6E2568FD46BC}"/>
              </a:ext>
            </a:extLst>
          </p:cNvPr>
          <p:cNvSpPr>
            <a:spLocks noGrp="1"/>
          </p:cNvSpPr>
          <p:nvPr>
            <p:ph type="sldNum" sz="quarter" idx="12"/>
          </p:nvPr>
        </p:nvSpPr>
        <p:spPr/>
        <p:txBody>
          <a:bodyPr/>
          <a:lstStyle/>
          <a:p>
            <a:fld id="{1F759103-C7F7-4BD0-A3ED-461D710A1134}" type="slidenum">
              <a:rPr lang="de-DE" smtClean="0"/>
              <a:t>32</a:t>
            </a:fld>
            <a:endParaRPr lang="de-DE"/>
          </a:p>
        </p:txBody>
      </p:sp>
      <p:pic>
        <p:nvPicPr>
          <p:cNvPr id="10" name="Grafik 9" descr="Ein Bild, das Text, Schrift, Reihe, Screenshot enthält.&#10;&#10;KI-generierte Inhalte können fehlerhaft sein.">
            <a:extLst>
              <a:ext uri="{FF2B5EF4-FFF2-40B4-BE49-F238E27FC236}">
                <a16:creationId xmlns:a16="http://schemas.microsoft.com/office/drawing/2014/main" id="{76EEEDF2-0C6C-F4DC-1CD1-5B3A3CE6B8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042139"/>
            <a:ext cx="6642100" cy="1295400"/>
          </a:xfrm>
          <a:prstGeom prst="rect">
            <a:avLst/>
          </a:prstGeom>
        </p:spPr>
      </p:pic>
      <p:pic>
        <p:nvPicPr>
          <p:cNvPr id="12" name="Grafik 11" descr="Ein Bild, das Text, Schrift, weiß, Screenshot enthält.&#10;&#10;KI-generierte Inhalte können fehlerhaft sein.">
            <a:extLst>
              <a:ext uri="{FF2B5EF4-FFF2-40B4-BE49-F238E27FC236}">
                <a16:creationId xmlns:a16="http://schemas.microsoft.com/office/drawing/2014/main" id="{1D715AC8-BF3D-B2B0-531A-98394D7787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922" y="4435475"/>
            <a:ext cx="6642100" cy="2286000"/>
          </a:xfrm>
          <a:prstGeom prst="rect">
            <a:avLst/>
          </a:prstGeom>
        </p:spPr>
      </p:pic>
    </p:spTree>
    <p:extLst>
      <p:ext uri="{BB962C8B-B14F-4D97-AF65-F5344CB8AC3E}">
        <p14:creationId xmlns:p14="http://schemas.microsoft.com/office/powerpoint/2010/main" val="415105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2073F7-54DC-FB9B-0D85-8E2DC332910A}"/>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reenshot, Schrift, Quittung enthält.&#10;&#10;KI-generierte Inhalte können fehlerhaft sein.">
            <a:extLst>
              <a:ext uri="{FF2B5EF4-FFF2-40B4-BE49-F238E27FC236}">
                <a16:creationId xmlns:a16="http://schemas.microsoft.com/office/drawing/2014/main" id="{F8329D09-3AA2-571C-1D87-FBABAD5FEA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23219"/>
            <a:ext cx="10185400" cy="2400300"/>
          </a:xfrm>
          <a:prstGeom prst="rect">
            <a:avLst/>
          </a:prstGeom>
        </p:spPr>
      </p:pic>
      <p:sp>
        <p:nvSpPr>
          <p:cNvPr id="4" name="Datumsplatzhalter 3">
            <a:extLst>
              <a:ext uri="{FF2B5EF4-FFF2-40B4-BE49-F238E27FC236}">
                <a16:creationId xmlns:a16="http://schemas.microsoft.com/office/drawing/2014/main" id="{23BB3024-DFC2-479C-8303-82D9A81358AC}"/>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44A68276-FEF0-9098-710E-383096679EFC}"/>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0497A024-630F-9557-C165-018CEC10C1BE}"/>
              </a:ext>
            </a:extLst>
          </p:cNvPr>
          <p:cNvSpPr>
            <a:spLocks noGrp="1"/>
          </p:cNvSpPr>
          <p:nvPr>
            <p:ph type="sldNum" sz="quarter" idx="12"/>
          </p:nvPr>
        </p:nvSpPr>
        <p:spPr/>
        <p:txBody>
          <a:bodyPr/>
          <a:lstStyle/>
          <a:p>
            <a:fld id="{1F759103-C7F7-4BD0-A3ED-461D710A1134}" type="slidenum">
              <a:rPr lang="de-DE" smtClean="0"/>
              <a:t>33</a:t>
            </a:fld>
            <a:endParaRPr lang="de-DE"/>
          </a:p>
        </p:txBody>
      </p:sp>
      <p:pic>
        <p:nvPicPr>
          <p:cNvPr id="10" name="Grafik 9" descr="Ein Bild, das Text, Schrift, Screenshot, Reihe enthält.&#10;&#10;KI-generierte Inhalte können fehlerhaft sein.">
            <a:extLst>
              <a:ext uri="{FF2B5EF4-FFF2-40B4-BE49-F238E27FC236}">
                <a16:creationId xmlns:a16="http://schemas.microsoft.com/office/drawing/2014/main" id="{E47A94C8-E838-49D8-E1FE-148FB11D59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19550"/>
            <a:ext cx="6159500" cy="2336800"/>
          </a:xfrm>
          <a:prstGeom prst="rect">
            <a:avLst/>
          </a:prstGeom>
        </p:spPr>
      </p:pic>
      <p:pic>
        <p:nvPicPr>
          <p:cNvPr id="12" name="Grafik 11" descr="Ein Bild, das Rechteck, Screenshot, Design enthält.&#10;&#10;KI-generierte Inhalte können fehlerhaft sein.">
            <a:extLst>
              <a:ext uri="{FF2B5EF4-FFF2-40B4-BE49-F238E27FC236}">
                <a16:creationId xmlns:a16="http://schemas.microsoft.com/office/drawing/2014/main" id="{35489F41-1206-B159-1C99-5A81C4DE4B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8332" y="3973512"/>
            <a:ext cx="2654300" cy="2565400"/>
          </a:xfrm>
          <a:prstGeom prst="rect">
            <a:avLst/>
          </a:prstGeom>
        </p:spPr>
      </p:pic>
    </p:spTree>
    <p:extLst>
      <p:ext uri="{BB962C8B-B14F-4D97-AF65-F5344CB8AC3E}">
        <p14:creationId xmlns:p14="http://schemas.microsoft.com/office/powerpoint/2010/main" val="151062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D59F30-5904-18D2-F2F6-03766F534540}"/>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hrift, Screenshot, weiß enthält.&#10;&#10;KI-generierte Inhalte können fehlerhaft sein.">
            <a:extLst>
              <a:ext uri="{FF2B5EF4-FFF2-40B4-BE49-F238E27FC236}">
                <a16:creationId xmlns:a16="http://schemas.microsoft.com/office/drawing/2014/main" id="{68920C22-3474-93DF-445C-700BC2964B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8928100" cy="1282700"/>
          </a:xfrm>
          <a:prstGeom prst="rect">
            <a:avLst/>
          </a:prstGeom>
        </p:spPr>
      </p:pic>
      <p:sp>
        <p:nvSpPr>
          <p:cNvPr id="4" name="Datumsplatzhalter 3">
            <a:extLst>
              <a:ext uri="{FF2B5EF4-FFF2-40B4-BE49-F238E27FC236}">
                <a16:creationId xmlns:a16="http://schemas.microsoft.com/office/drawing/2014/main" id="{242A12AF-2BA8-B731-1F54-D4CCA5C3B70A}"/>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86CB21C3-CFAD-46B3-47A0-2A651EC147E0}"/>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C6408AC-0AC6-C324-1752-736DE4E3CDEE}"/>
              </a:ext>
            </a:extLst>
          </p:cNvPr>
          <p:cNvSpPr>
            <a:spLocks noGrp="1"/>
          </p:cNvSpPr>
          <p:nvPr>
            <p:ph type="sldNum" sz="quarter" idx="12"/>
          </p:nvPr>
        </p:nvSpPr>
        <p:spPr/>
        <p:txBody>
          <a:bodyPr/>
          <a:lstStyle/>
          <a:p>
            <a:fld id="{1F759103-C7F7-4BD0-A3ED-461D710A1134}" type="slidenum">
              <a:rPr lang="de-DE" smtClean="0"/>
              <a:t>34</a:t>
            </a:fld>
            <a:endParaRPr lang="de-DE"/>
          </a:p>
        </p:txBody>
      </p:sp>
      <p:pic>
        <p:nvPicPr>
          <p:cNvPr id="10" name="Grafik 9" descr="Ein Bild, das Text, Schrift, Screenshot, Reihe enthält.&#10;&#10;KI-generierte Inhalte können fehlerhaft sein.">
            <a:extLst>
              <a:ext uri="{FF2B5EF4-FFF2-40B4-BE49-F238E27FC236}">
                <a16:creationId xmlns:a16="http://schemas.microsoft.com/office/drawing/2014/main" id="{27945A0E-6921-5A82-5BC4-620BDCEABE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071" y="3166819"/>
            <a:ext cx="5207000" cy="1574800"/>
          </a:xfrm>
          <a:prstGeom prst="rect">
            <a:avLst/>
          </a:prstGeom>
        </p:spPr>
      </p:pic>
      <p:pic>
        <p:nvPicPr>
          <p:cNvPr id="12" name="Grafik 11" descr="Ein Bild, das Screenshot, Rechteck, Design enthält.&#10;&#10;KI-generierte Inhalte können fehlerhaft sein.">
            <a:extLst>
              <a:ext uri="{FF2B5EF4-FFF2-40B4-BE49-F238E27FC236}">
                <a16:creationId xmlns:a16="http://schemas.microsoft.com/office/drawing/2014/main" id="{C9550CE6-606E-0050-68F2-D2BD6DFC7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3003" y="3254742"/>
            <a:ext cx="3619500" cy="2641600"/>
          </a:xfrm>
          <a:prstGeom prst="rect">
            <a:avLst/>
          </a:prstGeom>
        </p:spPr>
      </p:pic>
    </p:spTree>
    <p:extLst>
      <p:ext uri="{BB962C8B-B14F-4D97-AF65-F5344CB8AC3E}">
        <p14:creationId xmlns:p14="http://schemas.microsoft.com/office/powerpoint/2010/main" val="25352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A57140-839E-D147-0BD1-E802E1AC68CC}"/>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reenshot, Schrift, Dokument enthält.&#10;&#10;KI-generierte Inhalte können fehlerhaft sein.">
            <a:extLst>
              <a:ext uri="{FF2B5EF4-FFF2-40B4-BE49-F238E27FC236}">
                <a16:creationId xmlns:a16="http://schemas.microsoft.com/office/drawing/2014/main" id="{D81A5C1B-3C61-F21E-0721-CE1E0C1269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35919"/>
            <a:ext cx="10240108" cy="2387600"/>
          </a:xfrm>
          <a:prstGeom prst="rect">
            <a:avLst/>
          </a:prstGeom>
        </p:spPr>
      </p:pic>
      <p:sp>
        <p:nvSpPr>
          <p:cNvPr id="4" name="Datumsplatzhalter 3">
            <a:extLst>
              <a:ext uri="{FF2B5EF4-FFF2-40B4-BE49-F238E27FC236}">
                <a16:creationId xmlns:a16="http://schemas.microsoft.com/office/drawing/2014/main" id="{377DDDC1-69F9-FD86-7459-B5E3ACC759C3}"/>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614A88CF-FD32-2489-960D-30ECF2219034}"/>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301645EF-3266-67C3-1325-86941D71A5DA}"/>
              </a:ext>
            </a:extLst>
          </p:cNvPr>
          <p:cNvSpPr>
            <a:spLocks noGrp="1"/>
          </p:cNvSpPr>
          <p:nvPr>
            <p:ph type="sldNum" sz="quarter" idx="12"/>
          </p:nvPr>
        </p:nvSpPr>
        <p:spPr/>
        <p:txBody>
          <a:bodyPr/>
          <a:lstStyle/>
          <a:p>
            <a:fld id="{1F759103-C7F7-4BD0-A3ED-461D710A1134}" type="slidenum">
              <a:rPr lang="de-DE" smtClean="0"/>
              <a:t>35</a:t>
            </a:fld>
            <a:endParaRPr lang="de-DE"/>
          </a:p>
        </p:txBody>
      </p:sp>
      <p:pic>
        <p:nvPicPr>
          <p:cNvPr id="10" name="Grafik 9" descr="Ein Bild, das Design enthält.&#10;&#10;KI-generierte Inhalte können fehlerhaft sein.">
            <a:extLst>
              <a:ext uri="{FF2B5EF4-FFF2-40B4-BE49-F238E27FC236}">
                <a16:creationId xmlns:a16="http://schemas.microsoft.com/office/drawing/2014/main" id="{37EFFAC5-E350-8024-D649-9750A0B573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4354" y="3200214"/>
            <a:ext cx="2743954" cy="3156136"/>
          </a:xfrm>
          <a:prstGeom prst="rect">
            <a:avLst/>
          </a:prstGeom>
        </p:spPr>
      </p:pic>
      <p:pic>
        <p:nvPicPr>
          <p:cNvPr id="12" name="Grafik 11" descr="Ein Bild, das Text, Schrift, Screenshot, Reihe enthält.&#10;&#10;KI-generierte Inhalte können fehlerhaft sein.">
            <a:extLst>
              <a:ext uri="{FF2B5EF4-FFF2-40B4-BE49-F238E27FC236}">
                <a16:creationId xmlns:a16="http://schemas.microsoft.com/office/drawing/2014/main" id="{02231B66-ECEB-7E46-A37C-9A3ABDFDB7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168775"/>
            <a:ext cx="6146800" cy="1574800"/>
          </a:xfrm>
          <a:prstGeom prst="rect">
            <a:avLst/>
          </a:prstGeom>
        </p:spPr>
      </p:pic>
    </p:spTree>
    <p:extLst>
      <p:ext uri="{BB962C8B-B14F-4D97-AF65-F5344CB8AC3E}">
        <p14:creationId xmlns:p14="http://schemas.microsoft.com/office/powerpoint/2010/main" val="233771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296F11-D495-E598-C0C0-7E2BC3DCC61B}"/>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hrift, Screenshot, Reihe enthält.&#10;&#10;KI-generierte Inhalte können fehlerhaft sein.">
            <a:extLst>
              <a:ext uri="{FF2B5EF4-FFF2-40B4-BE49-F238E27FC236}">
                <a16:creationId xmlns:a16="http://schemas.microsoft.com/office/drawing/2014/main" id="{D36E4FBE-78CE-CE1B-E94A-A5FBEC9CF1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46640"/>
            <a:ext cx="8991600" cy="2438400"/>
          </a:xfrm>
          <a:prstGeom prst="rect">
            <a:avLst/>
          </a:prstGeom>
        </p:spPr>
      </p:pic>
      <p:sp>
        <p:nvSpPr>
          <p:cNvPr id="4" name="Datumsplatzhalter 3">
            <a:extLst>
              <a:ext uri="{FF2B5EF4-FFF2-40B4-BE49-F238E27FC236}">
                <a16:creationId xmlns:a16="http://schemas.microsoft.com/office/drawing/2014/main" id="{74D850F5-0368-A1EA-01CC-A531935CFE49}"/>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DA6B2E18-92E7-63B3-8B4B-F62A2D54EB5E}"/>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2A3F6DBC-8BE2-39C1-A683-FDB8FA1AFFCE}"/>
              </a:ext>
            </a:extLst>
          </p:cNvPr>
          <p:cNvSpPr>
            <a:spLocks noGrp="1"/>
          </p:cNvSpPr>
          <p:nvPr>
            <p:ph type="sldNum" sz="quarter" idx="12"/>
          </p:nvPr>
        </p:nvSpPr>
        <p:spPr/>
        <p:txBody>
          <a:bodyPr/>
          <a:lstStyle/>
          <a:p>
            <a:fld id="{1F759103-C7F7-4BD0-A3ED-461D710A1134}" type="slidenum">
              <a:rPr lang="de-DE" smtClean="0"/>
              <a:t>36</a:t>
            </a:fld>
            <a:endParaRPr lang="de-DE"/>
          </a:p>
        </p:txBody>
      </p:sp>
      <p:pic>
        <p:nvPicPr>
          <p:cNvPr id="10" name="Grafik 9" descr="Ein Bild, das Design enthält.&#10;&#10;KI-generierte Inhalte können fehlerhaft sein.">
            <a:extLst>
              <a:ext uri="{FF2B5EF4-FFF2-40B4-BE49-F238E27FC236}">
                <a16:creationId xmlns:a16="http://schemas.microsoft.com/office/drawing/2014/main" id="{072DD4B3-EB88-DCC2-236C-8BE0660AC9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1384" y="3429000"/>
            <a:ext cx="2755900" cy="3073400"/>
          </a:xfrm>
          <a:prstGeom prst="rect">
            <a:avLst/>
          </a:prstGeom>
        </p:spPr>
      </p:pic>
      <p:pic>
        <p:nvPicPr>
          <p:cNvPr id="12" name="Grafik 11" descr="Ein Bild, das Text, Schrift, Screenshot, Reihe enthält.&#10;&#10;KI-generierte Inhalte können fehlerhaft sein.">
            <a:extLst>
              <a:ext uri="{FF2B5EF4-FFF2-40B4-BE49-F238E27FC236}">
                <a16:creationId xmlns:a16="http://schemas.microsoft.com/office/drawing/2014/main" id="{2065DE84-8EA5-E310-DCA3-1D36C160B5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495" y="4098497"/>
            <a:ext cx="7962320" cy="1941227"/>
          </a:xfrm>
          <a:prstGeom prst="rect">
            <a:avLst/>
          </a:prstGeom>
        </p:spPr>
      </p:pic>
    </p:spTree>
    <p:extLst>
      <p:ext uri="{BB962C8B-B14F-4D97-AF65-F5344CB8AC3E}">
        <p14:creationId xmlns:p14="http://schemas.microsoft.com/office/powerpoint/2010/main" val="152183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C9F68B-C800-5509-89F5-6B75FE1D0116}"/>
              </a:ext>
            </a:extLst>
          </p:cNvPr>
          <p:cNvSpPr>
            <a:spLocks noGrp="1"/>
          </p:cNvSpPr>
          <p:nvPr>
            <p:ph type="title"/>
          </p:nvPr>
        </p:nvSpPr>
        <p:spPr/>
        <p:txBody>
          <a:bodyPr/>
          <a:lstStyle/>
          <a:p>
            <a:r>
              <a:rPr lang="de-DE" dirty="0"/>
              <a:t>Anforderungen an Verbindungsstücke (</a:t>
            </a:r>
            <a:r>
              <a:rPr lang="de-DE" dirty="0" err="1"/>
              <a:t>FeuV</a:t>
            </a:r>
            <a:r>
              <a:rPr lang="de-DE" dirty="0"/>
              <a:t>)</a:t>
            </a:r>
          </a:p>
        </p:txBody>
      </p:sp>
      <p:pic>
        <p:nvPicPr>
          <p:cNvPr id="8" name="Inhaltsplatzhalter 7" descr="Ein Bild, das Text, Schrift, Screenshot, weiß enthält.&#10;&#10;KI-generierte Inhalte können fehlerhaft sein.">
            <a:extLst>
              <a:ext uri="{FF2B5EF4-FFF2-40B4-BE49-F238E27FC236}">
                <a16:creationId xmlns:a16="http://schemas.microsoft.com/office/drawing/2014/main" id="{2908CDA8-CD34-89B2-8DD4-676BC1408A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93900"/>
            <a:ext cx="8978900" cy="1435100"/>
          </a:xfrm>
          <a:prstGeom prst="rect">
            <a:avLst/>
          </a:prstGeom>
        </p:spPr>
      </p:pic>
      <p:sp>
        <p:nvSpPr>
          <p:cNvPr id="4" name="Datumsplatzhalter 3">
            <a:extLst>
              <a:ext uri="{FF2B5EF4-FFF2-40B4-BE49-F238E27FC236}">
                <a16:creationId xmlns:a16="http://schemas.microsoft.com/office/drawing/2014/main" id="{598FC2AA-0C7F-F664-FE65-DE2F0723FEB8}"/>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B395D1A6-73B3-738F-0928-7223FDF897D8}"/>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6E036B3A-7081-5484-DD55-6D50220E0C3D}"/>
              </a:ext>
            </a:extLst>
          </p:cNvPr>
          <p:cNvSpPr>
            <a:spLocks noGrp="1"/>
          </p:cNvSpPr>
          <p:nvPr>
            <p:ph type="sldNum" sz="quarter" idx="12"/>
          </p:nvPr>
        </p:nvSpPr>
        <p:spPr/>
        <p:txBody>
          <a:bodyPr/>
          <a:lstStyle/>
          <a:p>
            <a:fld id="{1F759103-C7F7-4BD0-A3ED-461D710A1134}" type="slidenum">
              <a:rPr lang="de-DE" smtClean="0"/>
              <a:t>37</a:t>
            </a:fld>
            <a:endParaRPr lang="de-DE"/>
          </a:p>
        </p:txBody>
      </p:sp>
      <p:pic>
        <p:nvPicPr>
          <p:cNvPr id="10" name="Grafik 9" descr="Ein Bild, das Text, Schrift, Screenshot, Reihe enthält.&#10;&#10;KI-generierte Inhalte können fehlerhaft sein.">
            <a:extLst>
              <a:ext uri="{FF2B5EF4-FFF2-40B4-BE49-F238E27FC236}">
                <a16:creationId xmlns:a16="http://schemas.microsoft.com/office/drawing/2014/main" id="{BFE6D2C3-917E-C457-B4C5-277259D1E5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409" y="3679458"/>
            <a:ext cx="5969000" cy="1435100"/>
          </a:xfrm>
          <a:prstGeom prst="rect">
            <a:avLst/>
          </a:prstGeom>
        </p:spPr>
      </p:pic>
      <p:pic>
        <p:nvPicPr>
          <p:cNvPr id="12" name="Grafik 11" descr="Ein Bild, das Schloss, Design enthält.&#10;&#10;KI-generierte Inhalte können fehlerhaft sein.">
            <a:extLst>
              <a:ext uri="{FF2B5EF4-FFF2-40B4-BE49-F238E27FC236}">
                <a16:creationId xmlns:a16="http://schemas.microsoft.com/office/drawing/2014/main" id="{D2713C1C-1047-5D46-18D1-C739CFF9B3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1632" y="3429000"/>
            <a:ext cx="2921000" cy="2908300"/>
          </a:xfrm>
          <a:prstGeom prst="rect">
            <a:avLst/>
          </a:prstGeom>
        </p:spPr>
      </p:pic>
    </p:spTree>
    <p:extLst>
      <p:ext uri="{BB962C8B-B14F-4D97-AF65-F5344CB8AC3E}">
        <p14:creationId xmlns:p14="http://schemas.microsoft.com/office/powerpoint/2010/main" val="16614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C46534-26EC-5FD2-B492-EFD13860187F}"/>
              </a:ext>
            </a:extLst>
          </p:cNvPr>
          <p:cNvSpPr>
            <a:spLocks noGrp="1"/>
          </p:cNvSpPr>
          <p:nvPr>
            <p:ph type="title"/>
          </p:nvPr>
        </p:nvSpPr>
        <p:spPr/>
        <p:txBody>
          <a:bodyPr/>
          <a:lstStyle/>
          <a:p>
            <a:r>
              <a:rPr lang="de-DE" dirty="0"/>
              <a:t>Inhalte für die Klassenarbeit: Checkliste</a:t>
            </a:r>
          </a:p>
        </p:txBody>
      </p:sp>
      <p:sp>
        <p:nvSpPr>
          <p:cNvPr id="3" name="Inhaltsplatzhalter 2">
            <a:extLst>
              <a:ext uri="{FF2B5EF4-FFF2-40B4-BE49-F238E27FC236}">
                <a16:creationId xmlns:a16="http://schemas.microsoft.com/office/drawing/2014/main" id="{9EC06757-54D9-3214-57BF-F4E70BDAA05E}"/>
              </a:ext>
            </a:extLst>
          </p:cNvPr>
          <p:cNvSpPr>
            <a:spLocks noGrp="1"/>
          </p:cNvSpPr>
          <p:nvPr>
            <p:ph idx="1"/>
          </p:nvPr>
        </p:nvSpPr>
        <p:spPr/>
        <p:txBody>
          <a:bodyPr>
            <a:normAutofit fontScale="92500" lnSpcReduction="10000"/>
          </a:bodyPr>
          <a:lstStyle/>
          <a:p>
            <a:r>
              <a:rPr lang="de-DE" dirty="0"/>
              <a:t>Typenschild einer Abgasanlage – Klassifizierung vollständig erklären </a:t>
            </a:r>
          </a:p>
          <a:p>
            <a:r>
              <a:rPr lang="de-DE" dirty="0"/>
              <a:t>Ein Abgassystem vollständig klassifizieren</a:t>
            </a:r>
          </a:p>
          <a:p>
            <a:r>
              <a:rPr lang="de-DE" dirty="0"/>
              <a:t>Dichtheitsbestimmung / </a:t>
            </a:r>
            <a:r>
              <a:rPr lang="de-DE" dirty="0" err="1"/>
              <a:t>Leckratenbestimmung</a:t>
            </a:r>
            <a:r>
              <a:rPr lang="de-DE" dirty="0"/>
              <a:t> einer Abgasanlage </a:t>
            </a:r>
          </a:p>
          <a:p>
            <a:r>
              <a:rPr lang="de-DE" dirty="0"/>
              <a:t>Informationsquellen für die Daten der Abgasanlagen</a:t>
            </a:r>
          </a:p>
          <a:p>
            <a:r>
              <a:rPr lang="de-DE" dirty="0"/>
              <a:t>Verwendbarkeitsnachweis – Bauaufsichtliche Zulassung und Leistungserklärung </a:t>
            </a:r>
          </a:p>
          <a:p>
            <a:r>
              <a:rPr lang="de-DE" dirty="0"/>
              <a:t>Gängige Materialien für den abgasführenden Teil – Mit Abkürzungen nach ZIV AB 202</a:t>
            </a:r>
          </a:p>
          <a:p>
            <a:r>
              <a:rPr lang="de-DE" dirty="0"/>
              <a:t>Ringspaltmaß</a:t>
            </a:r>
          </a:p>
          <a:p>
            <a:r>
              <a:rPr lang="de-DE" dirty="0"/>
              <a:t>Anforderungen an Verbindungsstücke</a:t>
            </a:r>
          </a:p>
          <a:p>
            <a:endParaRPr lang="de-DE" dirty="0"/>
          </a:p>
        </p:txBody>
      </p:sp>
      <p:sp>
        <p:nvSpPr>
          <p:cNvPr id="4" name="Datumsplatzhalter 3">
            <a:extLst>
              <a:ext uri="{FF2B5EF4-FFF2-40B4-BE49-F238E27FC236}">
                <a16:creationId xmlns:a16="http://schemas.microsoft.com/office/drawing/2014/main" id="{7D4BDF6C-920F-02A3-D8E0-58EBC312129F}"/>
              </a:ext>
            </a:extLst>
          </p:cNvPr>
          <p:cNvSpPr>
            <a:spLocks noGrp="1"/>
          </p:cNvSpPr>
          <p:nvPr>
            <p:ph type="dt" sz="half" idx="10"/>
          </p:nvPr>
        </p:nvSpPr>
        <p:spPr/>
        <p:txBody>
          <a:bodyPr/>
          <a:lstStyle/>
          <a:p>
            <a:r>
              <a:rPr lang="de-DE"/>
              <a:t>Berufliche Schulen Bebra</a:t>
            </a:r>
            <a:endParaRPr lang="de-DE" dirty="0"/>
          </a:p>
        </p:txBody>
      </p:sp>
      <p:sp>
        <p:nvSpPr>
          <p:cNvPr id="5" name="Fußzeilenplatzhalter 4">
            <a:extLst>
              <a:ext uri="{FF2B5EF4-FFF2-40B4-BE49-F238E27FC236}">
                <a16:creationId xmlns:a16="http://schemas.microsoft.com/office/drawing/2014/main" id="{C2B80256-7072-8718-5D9E-3D5D6A16B9D2}"/>
              </a:ext>
            </a:extLst>
          </p:cNvPr>
          <p:cNvSpPr>
            <a:spLocks noGrp="1"/>
          </p:cNvSpPr>
          <p:nvPr>
            <p:ph type="ftr" sz="quarter" idx="11"/>
          </p:nvPr>
        </p:nvSpPr>
        <p:spPr/>
        <p:txBody>
          <a:bodyPr/>
          <a:lstStyle/>
          <a:p>
            <a:r>
              <a:rPr lang="de-DE"/>
              <a:t>Abgasanlagen, Verbindungsstücke und Abgasklappen</a:t>
            </a:r>
          </a:p>
          <a:p>
            <a:r>
              <a:rPr lang="de-DE"/>
              <a:t>LF  Tag 1 Schneider</a:t>
            </a:r>
            <a:endParaRPr lang="de-DE" dirty="0"/>
          </a:p>
        </p:txBody>
      </p:sp>
      <p:sp>
        <p:nvSpPr>
          <p:cNvPr id="6" name="Foliennummernplatzhalter 5">
            <a:extLst>
              <a:ext uri="{FF2B5EF4-FFF2-40B4-BE49-F238E27FC236}">
                <a16:creationId xmlns:a16="http://schemas.microsoft.com/office/drawing/2014/main" id="{BD35E895-BB27-50C5-292E-BF56259704B8}"/>
              </a:ext>
            </a:extLst>
          </p:cNvPr>
          <p:cNvSpPr>
            <a:spLocks noGrp="1"/>
          </p:cNvSpPr>
          <p:nvPr>
            <p:ph type="sldNum" sz="quarter" idx="12"/>
          </p:nvPr>
        </p:nvSpPr>
        <p:spPr/>
        <p:txBody>
          <a:bodyPr/>
          <a:lstStyle/>
          <a:p>
            <a:fld id="{1F759103-C7F7-4BD0-A3ED-461D710A1134}" type="slidenum">
              <a:rPr lang="de-DE" smtClean="0"/>
              <a:t>38</a:t>
            </a:fld>
            <a:endParaRPr lang="de-DE"/>
          </a:p>
        </p:txBody>
      </p:sp>
    </p:spTree>
    <p:extLst>
      <p:ext uri="{BB962C8B-B14F-4D97-AF65-F5344CB8AC3E}">
        <p14:creationId xmlns:p14="http://schemas.microsoft.com/office/powerpoint/2010/main" val="405179967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04.07 LIV Präsentationen Leer" id="{002AE890-1006-42CB-85B7-8032FE866078}" vid="{B3EA7B02-DA67-431F-9371-88E6F7234184}"/>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Template>
  <TotalTime>0</TotalTime>
  <Words>1610</Words>
  <Application>Microsoft Macintosh PowerPoint</Application>
  <PresentationFormat>Breitbild</PresentationFormat>
  <Paragraphs>327</Paragraphs>
  <Slides>38</Slides>
  <Notes>11</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38</vt:i4>
      </vt:variant>
    </vt:vector>
  </HeadingPairs>
  <TitlesOfParts>
    <vt:vector size="46" baseType="lpstr">
      <vt:lpstr>Aptos</vt:lpstr>
      <vt:lpstr>Arial</vt:lpstr>
      <vt:lpstr>Calibri</vt:lpstr>
      <vt:lpstr>Calibri Light</vt:lpstr>
      <vt:lpstr>Helvetica</vt:lpstr>
      <vt:lpstr>Symbol</vt:lpstr>
      <vt:lpstr>Times New Roman</vt:lpstr>
      <vt:lpstr>Office</vt:lpstr>
      <vt:lpstr>18160-1</vt:lpstr>
      <vt:lpstr>Klassifizierung von Abgasanlagen</vt:lpstr>
      <vt:lpstr>Temperaturklassen</vt:lpstr>
      <vt:lpstr>Druckklassen</vt:lpstr>
      <vt:lpstr>Abdrücken / Dichtheit von Abgasanlagen</vt:lpstr>
      <vt:lpstr>Dichtigkeit an Abgasanlagen</vt:lpstr>
      <vt:lpstr>Dichtigkeit an Abgasanlagen</vt:lpstr>
      <vt:lpstr>Kondensatbeständigkeitsklassen</vt:lpstr>
      <vt:lpstr>Korrosionswiderstandsklasse</vt:lpstr>
      <vt:lpstr>Rußbrandbeständigkeitsklassen</vt:lpstr>
      <vt:lpstr>PowerPoint-Präsentation</vt:lpstr>
      <vt:lpstr>Exkurs: FeuV</vt:lpstr>
      <vt:lpstr>Mindestabstand zu brennbarem Material </vt:lpstr>
      <vt:lpstr>PowerPoint-Präsentation</vt:lpstr>
      <vt:lpstr>Klassifiziere den Schornstein</vt:lpstr>
      <vt:lpstr>Klassifiziere die Abgasanlage</vt:lpstr>
      <vt:lpstr>Informationsquellen für die Daten der Abgasanlagen</vt:lpstr>
      <vt:lpstr>Nationonale Verwendbarkeitsnachweise </vt:lpstr>
      <vt:lpstr>Nachweise und Unterlagen –  </vt:lpstr>
      <vt:lpstr>Nachweise und Unterlagen  </vt:lpstr>
      <vt:lpstr>Nachweise und Unterlagen </vt:lpstr>
      <vt:lpstr>Bauprodukteverordnung</vt:lpstr>
      <vt:lpstr>Bauprodukteverordnung</vt:lpstr>
      <vt:lpstr>Gängige Materialien für den abgasführenden Teil</vt:lpstr>
      <vt:lpstr>Schornsteintechnik im Überblick – Einschalige und mehrschalige Schornsteinsysteme</vt:lpstr>
      <vt:lpstr>Ringspalt-Maße</vt:lpstr>
      <vt:lpstr>Ermitteln Sie die Anforderungen, die die Feuerungsverordnung (FeuV) an Verbindungsstücke stellt, und stellen Sie diese übersichtlich dar.</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Anforderungen an Verbindungsstücke (FeuV)</vt:lpstr>
      <vt:lpstr>Inhalte für die Klassenarbeit: Checkliste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LIV Hessen - Schneider, Marcel</dc:creator>
  <cp:lastModifiedBy>LIV Hessen - Schneider, Marcel</cp:lastModifiedBy>
  <cp:revision>14</cp:revision>
  <cp:lastPrinted>2025-11-05T10:03:54Z</cp:lastPrinted>
  <dcterms:created xsi:type="dcterms:W3CDTF">2025-09-16T15:17:23Z</dcterms:created>
  <dcterms:modified xsi:type="dcterms:W3CDTF">2026-02-11T13:19:12Z</dcterms:modified>
</cp:coreProperties>
</file>